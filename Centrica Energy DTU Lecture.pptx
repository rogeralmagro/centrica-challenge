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4"/>
  </p:sldMasterIdLst>
  <p:notesMasterIdLst>
    <p:notesMasterId r:id="rId32"/>
  </p:notesMasterIdLst>
  <p:sldIdLst>
    <p:sldId id="257" r:id="rId5"/>
    <p:sldId id="278" r:id="rId6"/>
    <p:sldId id="405" r:id="rId7"/>
    <p:sldId id="2118" r:id="rId8"/>
    <p:sldId id="1971" r:id="rId9"/>
    <p:sldId id="1975" r:id="rId10"/>
    <p:sldId id="2022" r:id="rId11"/>
    <p:sldId id="482" r:id="rId12"/>
    <p:sldId id="374" r:id="rId13"/>
    <p:sldId id="1977" r:id="rId14"/>
    <p:sldId id="373" r:id="rId15"/>
    <p:sldId id="476" r:id="rId16"/>
    <p:sldId id="1976" r:id="rId17"/>
    <p:sldId id="2065" r:id="rId18"/>
    <p:sldId id="1878" r:id="rId19"/>
    <p:sldId id="1973" r:id="rId20"/>
    <p:sldId id="2088" r:id="rId21"/>
    <p:sldId id="2087" r:id="rId22"/>
    <p:sldId id="2013" r:id="rId23"/>
    <p:sldId id="2114" r:id="rId24"/>
    <p:sldId id="2119" r:id="rId25"/>
    <p:sldId id="2120" r:id="rId26"/>
    <p:sldId id="2121" r:id="rId27"/>
    <p:sldId id="2124" r:id="rId28"/>
    <p:sldId id="2123" r:id="rId29"/>
    <p:sldId id="2122" r:id="rId30"/>
    <p:sldId id="295" r:id="rId31"/>
  </p:sldIdLst>
  <p:sldSz cx="12192000" cy="6858000"/>
  <p:notesSz cx="6797675" cy="9926638"/>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6E69AD7-AF0F-4CF1-8A37-D0C3E01B6CDA}">
          <p14:sldIdLst>
            <p14:sldId id="257"/>
          </p14:sldIdLst>
        </p14:section>
        <p14:section name="Untitled Section" id="{61226A16-805A-4851-9380-65A00030F200}">
          <p14:sldIdLst>
            <p14:sldId id="278"/>
            <p14:sldId id="405"/>
            <p14:sldId id="2118"/>
            <p14:sldId id="1971"/>
            <p14:sldId id="1975"/>
            <p14:sldId id="2022"/>
            <p14:sldId id="482"/>
            <p14:sldId id="374"/>
            <p14:sldId id="1977"/>
            <p14:sldId id="373"/>
            <p14:sldId id="476"/>
            <p14:sldId id="1976"/>
            <p14:sldId id="2065"/>
            <p14:sldId id="1878"/>
            <p14:sldId id="1973"/>
            <p14:sldId id="2088"/>
            <p14:sldId id="2087"/>
            <p14:sldId id="2013"/>
            <p14:sldId id="2114"/>
            <p14:sldId id="2119"/>
            <p14:sldId id="2120"/>
            <p14:sldId id="2121"/>
            <p14:sldId id="2124"/>
            <p14:sldId id="2123"/>
            <p14:sldId id="2122"/>
            <p14:sldId id="29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64C6FF-A7D8-2CD3-0284-C9BC368E3472}" name="Michael Ørkilde" initials="MØ" userId="S::mme@centrica.dk::182d39dc-35df-419c-880a-a91dc95960b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ens Holm" initials="JHO" lastIdx="1" clrIdx="0">
    <p:extLst>
      <p:ext uri="{19B8F6BF-5375-455C-9EA6-DF929625EA0E}">
        <p15:presenceInfo xmlns:p15="http://schemas.microsoft.com/office/powerpoint/2012/main" userId="Jens Hol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FFFFFF"/>
    <a:srgbClr val="005828"/>
    <a:srgbClr val="009242"/>
    <a:srgbClr val="223165"/>
    <a:srgbClr val="283583"/>
    <a:srgbClr val="000000"/>
    <a:srgbClr val="FEFEFE"/>
    <a:srgbClr val="2E4C87"/>
    <a:srgbClr val="FAFB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yst layout 3 - Markering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2308" autoAdjust="0"/>
  </p:normalViewPr>
  <p:slideViewPr>
    <p:cSldViewPr snapToGrid="0">
      <p:cViewPr varScale="1">
        <p:scale>
          <a:sx n="106" d="100"/>
          <a:sy n="106" d="100"/>
        </p:scale>
        <p:origin x="608" y="1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4548602-E97B-4556-964F-A557601BAD1C}" type="datetimeFigureOut">
              <a:rPr lang="en-GB" smtClean="0"/>
              <a:t>24/11/2025</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78E2300C-18A7-410F-BDA6-5C24AA4F92D9}" type="slidenum">
              <a:rPr lang="en-GB" smtClean="0"/>
              <a:t>‹#›</a:t>
            </a:fld>
            <a:endParaRPr lang="en-GB"/>
          </a:p>
        </p:txBody>
      </p:sp>
    </p:spTree>
    <p:extLst>
      <p:ext uri="{BB962C8B-B14F-4D97-AF65-F5344CB8AC3E}">
        <p14:creationId xmlns:p14="http://schemas.microsoft.com/office/powerpoint/2010/main" val="1350492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6CFAD1-D197-4A88-B173-A6412E995EE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2926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2300C-18A7-410F-BDA6-5C24AA4F92D9}" type="slidenum">
              <a:rPr lang="en-GB" smtClean="0"/>
              <a:t>8</a:t>
            </a:fld>
            <a:endParaRPr lang="en-GB"/>
          </a:p>
        </p:txBody>
      </p:sp>
    </p:spTree>
    <p:extLst>
      <p:ext uri="{BB962C8B-B14F-4D97-AF65-F5344CB8AC3E}">
        <p14:creationId xmlns:p14="http://schemas.microsoft.com/office/powerpoint/2010/main" val="946962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dt" sz="quarter" idx="1"/>
          </p:nvPr>
        </p:nvSpPr>
        <p:spPr>
          <a:noFill/>
        </p:spPr>
        <p:txBody>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50000"/>
              </a:spcBef>
              <a:spcAft>
                <a:spcPct val="0"/>
              </a:spcAft>
              <a:defRPr sz="1600" b="1">
                <a:solidFill>
                  <a:schemeClr val="tx1"/>
                </a:solidFill>
                <a:latin typeface="Arial" panose="020B0604020202020204" pitchFamily="34" charset="0"/>
              </a:defRPr>
            </a:lvl6pPr>
            <a:lvl7pPr marL="2971800" indent="-228600" eaLnBrk="0" fontAlgn="base" hangingPunct="0">
              <a:spcBef>
                <a:spcPct val="50000"/>
              </a:spcBef>
              <a:spcAft>
                <a:spcPct val="0"/>
              </a:spcAft>
              <a:defRPr sz="1600" b="1">
                <a:solidFill>
                  <a:schemeClr val="tx1"/>
                </a:solidFill>
                <a:latin typeface="Arial" panose="020B0604020202020204" pitchFamily="34" charset="0"/>
              </a:defRPr>
            </a:lvl7pPr>
            <a:lvl8pPr marL="3429000" indent="-228600" eaLnBrk="0" fontAlgn="base" hangingPunct="0">
              <a:spcBef>
                <a:spcPct val="50000"/>
              </a:spcBef>
              <a:spcAft>
                <a:spcPct val="0"/>
              </a:spcAft>
              <a:defRPr sz="1600" b="1">
                <a:solidFill>
                  <a:schemeClr val="tx1"/>
                </a:solidFill>
                <a:latin typeface="Arial" panose="020B0604020202020204" pitchFamily="34" charset="0"/>
              </a:defRPr>
            </a:lvl8pPr>
            <a:lvl9pPr marL="3886200" indent="-228600" eaLnBrk="0" fontAlgn="base" hangingPunct="0">
              <a:spcBef>
                <a:spcPct val="50000"/>
              </a:spcBef>
              <a:spcAft>
                <a:spcPct val="0"/>
              </a:spcAft>
              <a:defRPr sz="1600" b="1">
                <a:solidFill>
                  <a:schemeClr val="tx1"/>
                </a:solidFill>
                <a:latin typeface="Arial" panose="020B0604020202020204" pitchFamily="34" charset="0"/>
              </a:defRPr>
            </a:lvl9pPr>
          </a:lstStyle>
          <a:p>
            <a:fld id="{07C9B780-AFB1-4DF4-94A5-D8A815558C9C}" type="datetime2">
              <a:rPr lang="da-DK" altLang="da-DK" sz="1200" b="0" smtClean="0">
                <a:latin typeface="Times" panose="02020603050405020304" pitchFamily="18" charset="0"/>
              </a:rPr>
              <a:pPr/>
              <a:t>24. november 2025</a:t>
            </a:fld>
            <a:endParaRPr lang="sv-SE" altLang="da-DK" sz="1200" b="0">
              <a:latin typeface="Times" panose="02020603050405020304" pitchFamily="18" charset="0"/>
            </a:endParaRPr>
          </a:p>
        </p:txBody>
      </p:sp>
      <p:sp>
        <p:nvSpPr>
          <p:cNvPr id="25603" name="Rectangle 7"/>
          <p:cNvSpPr>
            <a:spLocks noGrp="1" noChangeArrowheads="1"/>
          </p:cNvSpPr>
          <p:nvPr>
            <p:ph type="sldNum" sz="quarter" idx="5"/>
          </p:nvPr>
        </p:nvSpPr>
        <p:spPr>
          <a:noFill/>
        </p:spPr>
        <p:txBody>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50000"/>
              </a:spcBef>
              <a:spcAft>
                <a:spcPct val="0"/>
              </a:spcAft>
              <a:defRPr sz="1600" b="1">
                <a:solidFill>
                  <a:schemeClr val="tx1"/>
                </a:solidFill>
                <a:latin typeface="Arial" panose="020B0604020202020204" pitchFamily="34" charset="0"/>
              </a:defRPr>
            </a:lvl6pPr>
            <a:lvl7pPr marL="2971800" indent="-228600" eaLnBrk="0" fontAlgn="base" hangingPunct="0">
              <a:spcBef>
                <a:spcPct val="50000"/>
              </a:spcBef>
              <a:spcAft>
                <a:spcPct val="0"/>
              </a:spcAft>
              <a:defRPr sz="1600" b="1">
                <a:solidFill>
                  <a:schemeClr val="tx1"/>
                </a:solidFill>
                <a:latin typeface="Arial" panose="020B0604020202020204" pitchFamily="34" charset="0"/>
              </a:defRPr>
            </a:lvl7pPr>
            <a:lvl8pPr marL="3429000" indent="-228600" eaLnBrk="0" fontAlgn="base" hangingPunct="0">
              <a:spcBef>
                <a:spcPct val="50000"/>
              </a:spcBef>
              <a:spcAft>
                <a:spcPct val="0"/>
              </a:spcAft>
              <a:defRPr sz="1600" b="1">
                <a:solidFill>
                  <a:schemeClr val="tx1"/>
                </a:solidFill>
                <a:latin typeface="Arial" panose="020B0604020202020204" pitchFamily="34" charset="0"/>
              </a:defRPr>
            </a:lvl8pPr>
            <a:lvl9pPr marL="3886200" indent="-228600" eaLnBrk="0" fontAlgn="base" hangingPunct="0">
              <a:spcBef>
                <a:spcPct val="50000"/>
              </a:spcBef>
              <a:spcAft>
                <a:spcPct val="0"/>
              </a:spcAft>
              <a:defRPr sz="1600" b="1">
                <a:solidFill>
                  <a:schemeClr val="tx1"/>
                </a:solidFill>
                <a:latin typeface="Arial" panose="020B0604020202020204" pitchFamily="34" charset="0"/>
              </a:defRPr>
            </a:lvl9pPr>
          </a:lstStyle>
          <a:p>
            <a:fld id="{4B19550D-7ACE-46CD-981A-5B2A306A09DB}" type="slidenum">
              <a:rPr lang="sv-SE" altLang="da-DK" sz="1200" b="0">
                <a:latin typeface="Times" panose="02020603050405020304" pitchFamily="18" charset="0"/>
              </a:rPr>
              <a:pPr/>
              <a:t>9</a:t>
            </a:fld>
            <a:endParaRPr lang="sv-SE" altLang="da-DK" sz="1200" b="0">
              <a:latin typeface="Times" panose="02020603050405020304" pitchFamily="18" charset="0"/>
            </a:endParaRPr>
          </a:p>
        </p:txBody>
      </p:sp>
      <p:sp>
        <p:nvSpPr>
          <p:cNvPr id="25604" name="Rectangle 2"/>
          <p:cNvSpPr>
            <a:spLocks noGrp="1" noRot="1" noChangeAspect="1" noChangeArrowheads="1" noTextEdit="1"/>
          </p:cNvSpPr>
          <p:nvPr>
            <p:ph type="sldImg"/>
          </p:nvPr>
        </p:nvSpPr>
        <p:spPr>
          <a:xfrm>
            <a:off x="685800" y="1143000"/>
            <a:ext cx="5486400" cy="3086100"/>
          </a:xfrm>
          <a:ln/>
        </p:spPr>
      </p:sp>
      <p:sp>
        <p:nvSpPr>
          <p:cNvPr id="25605" name="Rectangle 3"/>
          <p:cNvSpPr>
            <a:spLocks noGrp="1" noChangeArrowheads="1"/>
          </p:cNvSpPr>
          <p:nvPr>
            <p:ph type="body" idx="1"/>
          </p:nvPr>
        </p:nvSpPr>
        <p:spPr>
          <a:noFill/>
        </p:spPr>
        <p:txBody>
          <a:bodyPr/>
          <a:lstStyle/>
          <a:p>
            <a:endParaRPr lang="da-DK" altLang="da-DK" sz="2133" kern="1200" dirty="0">
              <a:solidFill>
                <a:schemeClr val="tx1"/>
              </a:solidFill>
              <a:latin typeface="Avenir Light"/>
              <a:ea typeface="+mn-ea"/>
            </a:endParaRPr>
          </a:p>
        </p:txBody>
      </p:sp>
    </p:spTree>
    <p:extLst>
      <p:ext uri="{BB962C8B-B14F-4D97-AF65-F5344CB8AC3E}">
        <p14:creationId xmlns:p14="http://schemas.microsoft.com/office/powerpoint/2010/main" val="3665853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dt" sz="quarter" idx="1"/>
          </p:nvPr>
        </p:nvSpPr>
        <p:spPr>
          <a:noFill/>
        </p:spPr>
        <p:txBody>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50000"/>
              </a:spcBef>
              <a:spcAft>
                <a:spcPct val="0"/>
              </a:spcAft>
              <a:defRPr sz="1600" b="1">
                <a:solidFill>
                  <a:schemeClr val="tx1"/>
                </a:solidFill>
                <a:latin typeface="Arial" panose="020B0604020202020204" pitchFamily="34" charset="0"/>
              </a:defRPr>
            </a:lvl6pPr>
            <a:lvl7pPr marL="2971800" indent="-228600" eaLnBrk="0" fontAlgn="base" hangingPunct="0">
              <a:spcBef>
                <a:spcPct val="50000"/>
              </a:spcBef>
              <a:spcAft>
                <a:spcPct val="0"/>
              </a:spcAft>
              <a:defRPr sz="1600" b="1">
                <a:solidFill>
                  <a:schemeClr val="tx1"/>
                </a:solidFill>
                <a:latin typeface="Arial" panose="020B0604020202020204" pitchFamily="34" charset="0"/>
              </a:defRPr>
            </a:lvl7pPr>
            <a:lvl8pPr marL="3429000" indent="-228600" eaLnBrk="0" fontAlgn="base" hangingPunct="0">
              <a:spcBef>
                <a:spcPct val="50000"/>
              </a:spcBef>
              <a:spcAft>
                <a:spcPct val="0"/>
              </a:spcAft>
              <a:defRPr sz="1600" b="1">
                <a:solidFill>
                  <a:schemeClr val="tx1"/>
                </a:solidFill>
                <a:latin typeface="Arial" panose="020B0604020202020204" pitchFamily="34" charset="0"/>
              </a:defRPr>
            </a:lvl8pPr>
            <a:lvl9pPr marL="3886200" indent="-228600" eaLnBrk="0" fontAlgn="base" hangingPunct="0">
              <a:spcBef>
                <a:spcPct val="50000"/>
              </a:spcBef>
              <a:spcAft>
                <a:spcPct val="0"/>
              </a:spcAft>
              <a:defRPr sz="1600" b="1">
                <a:solidFill>
                  <a:schemeClr val="tx1"/>
                </a:solidFill>
                <a:latin typeface="Arial" panose="020B0604020202020204" pitchFamily="34" charset="0"/>
              </a:defRPr>
            </a:lvl9pPr>
          </a:lstStyle>
          <a:p>
            <a:fld id="{1803476F-221B-4DEA-9507-DE551104A350}" type="datetime2">
              <a:rPr lang="da-DK" altLang="da-DK" sz="1200" b="0" smtClean="0">
                <a:latin typeface="Times" panose="02020603050405020304" pitchFamily="18" charset="0"/>
              </a:rPr>
              <a:pPr/>
              <a:t>24. november 2025</a:t>
            </a:fld>
            <a:endParaRPr lang="sv-SE" altLang="da-DK" sz="1200" b="0">
              <a:latin typeface="Times" panose="02020603050405020304" pitchFamily="18" charset="0"/>
            </a:endParaRPr>
          </a:p>
        </p:txBody>
      </p:sp>
      <p:sp>
        <p:nvSpPr>
          <p:cNvPr id="29699" name="Rectangle 7"/>
          <p:cNvSpPr>
            <a:spLocks noGrp="1" noChangeArrowheads="1"/>
          </p:cNvSpPr>
          <p:nvPr>
            <p:ph type="sldNum" sz="quarter" idx="5"/>
          </p:nvPr>
        </p:nvSpPr>
        <p:spPr>
          <a:noFill/>
        </p:spPr>
        <p:txBody>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50000"/>
              </a:spcBef>
              <a:spcAft>
                <a:spcPct val="0"/>
              </a:spcAft>
              <a:defRPr sz="1600" b="1">
                <a:solidFill>
                  <a:schemeClr val="tx1"/>
                </a:solidFill>
                <a:latin typeface="Arial" panose="020B0604020202020204" pitchFamily="34" charset="0"/>
              </a:defRPr>
            </a:lvl6pPr>
            <a:lvl7pPr marL="2971800" indent="-228600" eaLnBrk="0" fontAlgn="base" hangingPunct="0">
              <a:spcBef>
                <a:spcPct val="50000"/>
              </a:spcBef>
              <a:spcAft>
                <a:spcPct val="0"/>
              </a:spcAft>
              <a:defRPr sz="1600" b="1">
                <a:solidFill>
                  <a:schemeClr val="tx1"/>
                </a:solidFill>
                <a:latin typeface="Arial" panose="020B0604020202020204" pitchFamily="34" charset="0"/>
              </a:defRPr>
            </a:lvl7pPr>
            <a:lvl8pPr marL="3429000" indent="-228600" eaLnBrk="0" fontAlgn="base" hangingPunct="0">
              <a:spcBef>
                <a:spcPct val="50000"/>
              </a:spcBef>
              <a:spcAft>
                <a:spcPct val="0"/>
              </a:spcAft>
              <a:defRPr sz="1600" b="1">
                <a:solidFill>
                  <a:schemeClr val="tx1"/>
                </a:solidFill>
                <a:latin typeface="Arial" panose="020B0604020202020204" pitchFamily="34" charset="0"/>
              </a:defRPr>
            </a:lvl8pPr>
            <a:lvl9pPr marL="3886200" indent="-228600" eaLnBrk="0" fontAlgn="base" hangingPunct="0">
              <a:spcBef>
                <a:spcPct val="50000"/>
              </a:spcBef>
              <a:spcAft>
                <a:spcPct val="0"/>
              </a:spcAft>
              <a:defRPr sz="1600" b="1">
                <a:solidFill>
                  <a:schemeClr val="tx1"/>
                </a:solidFill>
                <a:latin typeface="Arial" panose="020B0604020202020204" pitchFamily="34" charset="0"/>
              </a:defRPr>
            </a:lvl9pPr>
          </a:lstStyle>
          <a:p>
            <a:fld id="{80B39565-777A-43F1-A0C1-EFF7F65C0A6B}" type="slidenum">
              <a:rPr lang="sv-SE" altLang="da-DK" sz="1200" b="0">
                <a:latin typeface="Times" panose="02020603050405020304" pitchFamily="18" charset="0"/>
              </a:rPr>
              <a:pPr/>
              <a:t>11</a:t>
            </a:fld>
            <a:endParaRPr lang="sv-SE" altLang="da-DK" sz="1200" b="0">
              <a:latin typeface="Times" panose="02020603050405020304" pitchFamily="18" charset="0"/>
            </a:endParaRPr>
          </a:p>
        </p:txBody>
      </p:sp>
      <p:sp>
        <p:nvSpPr>
          <p:cNvPr id="29700" name="Rectangle 2"/>
          <p:cNvSpPr>
            <a:spLocks noGrp="1" noRot="1" noChangeAspect="1" noChangeArrowheads="1" noTextEdit="1"/>
          </p:cNvSpPr>
          <p:nvPr>
            <p:ph type="sldImg"/>
          </p:nvPr>
        </p:nvSpPr>
        <p:spPr>
          <a:xfrm>
            <a:off x="685800" y="1143000"/>
            <a:ext cx="5486400" cy="3086100"/>
          </a:xfrm>
          <a:ln/>
        </p:spPr>
      </p:sp>
      <p:sp>
        <p:nvSpPr>
          <p:cNvPr id="29701" name="Rectangle 3"/>
          <p:cNvSpPr>
            <a:spLocks noGrp="1" noChangeArrowheads="1"/>
          </p:cNvSpPr>
          <p:nvPr>
            <p:ph type="body" idx="1"/>
          </p:nvPr>
        </p:nvSpPr>
        <p:spPr>
          <a:noFill/>
        </p:spPr>
        <p:txBody>
          <a:bodyPr/>
          <a:lstStyle/>
          <a:p>
            <a:endParaRPr lang="da-DK" altLang="da-DK"/>
          </a:p>
        </p:txBody>
      </p:sp>
    </p:spTree>
    <p:extLst>
      <p:ext uri="{BB962C8B-B14F-4D97-AF65-F5344CB8AC3E}">
        <p14:creationId xmlns:p14="http://schemas.microsoft.com/office/powerpoint/2010/main" val="3435097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a:p>
            <a:endParaRPr lang="en-US" dirty="0"/>
          </a:p>
        </p:txBody>
      </p:sp>
      <p:sp>
        <p:nvSpPr>
          <p:cNvPr id="4" name="Slide Number Placeholder 3"/>
          <p:cNvSpPr>
            <a:spLocks noGrp="1"/>
          </p:cNvSpPr>
          <p:nvPr>
            <p:ph type="sldNum" sz="quarter" idx="5"/>
          </p:nvPr>
        </p:nvSpPr>
        <p:spPr/>
        <p:txBody>
          <a:bodyPr/>
          <a:lstStyle/>
          <a:p>
            <a:fld id="{78E2300C-18A7-410F-BDA6-5C24AA4F92D9}" type="slidenum">
              <a:rPr lang="en-GB" smtClean="0"/>
              <a:t>12</a:t>
            </a:fld>
            <a:endParaRPr lang="en-GB"/>
          </a:p>
        </p:txBody>
      </p:sp>
    </p:spTree>
    <p:extLst>
      <p:ext uri="{BB962C8B-B14F-4D97-AF65-F5344CB8AC3E}">
        <p14:creationId xmlns:p14="http://schemas.microsoft.com/office/powerpoint/2010/main" val="3902213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2300C-18A7-410F-BDA6-5C24AA4F92D9}" type="slidenum">
              <a:rPr lang="en-GB" smtClean="0"/>
              <a:t>14</a:t>
            </a:fld>
            <a:endParaRPr lang="en-GB"/>
          </a:p>
        </p:txBody>
      </p:sp>
    </p:spTree>
    <p:extLst>
      <p:ext uri="{BB962C8B-B14F-4D97-AF65-F5344CB8AC3E}">
        <p14:creationId xmlns:p14="http://schemas.microsoft.com/office/powerpoint/2010/main" val="37323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2300C-18A7-410F-BDA6-5C24AA4F92D9}" type="slidenum">
              <a:rPr lang="en-GB" smtClean="0"/>
              <a:t>16</a:t>
            </a:fld>
            <a:endParaRPr lang="en-GB"/>
          </a:p>
        </p:txBody>
      </p:sp>
    </p:spTree>
    <p:extLst>
      <p:ext uri="{BB962C8B-B14F-4D97-AF65-F5344CB8AC3E}">
        <p14:creationId xmlns:p14="http://schemas.microsoft.com/office/powerpoint/2010/main" val="3564253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2300C-18A7-410F-BDA6-5C24AA4F92D9}" type="slidenum">
              <a:rPr lang="en-GB" smtClean="0"/>
              <a:t>17</a:t>
            </a:fld>
            <a:endParaRPr lang="en-GB"/>
          </a:p>
        </p:txBody>
      </p:sp>
    </p:spTree>
    <p:extLst>
      <p:ext uri="{BB962C8B-B14F-4D97-AF65-F5344CB8AC3E}">
        <p14:creationId xmlns:p14="http://schemas.microsoft.com/office/powerpoint/2010/main" val="3489250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E2300C-18A7-410F-BDA6-5C24AA4F92D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4897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E2300C-18A7-410F-BDA6-5C24AA4F92D9}" type="slidenum">
              <a:rPr lang="en-GB" smtClean="0"/>
              <a:t>19</a:t>
            </a:fld>
            <a:endParaRPr lang="en-GB"/>
          </a:p>
        </p:txBody>
      </p:sp>
    </p:spTree>
    <p:extLst>
      <p:ext uri="{BB962C8B-B14F-4D97-AF65-F5344CB8AC3E}">
        <p14:creationId xmlns:p14="http://schemas.microsoft.com/office/powerpoint/2010/main" val="1835386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24D40A-F106-45B4-B5F9-335E16B3E65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326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8.emf"/><Relationship Id="rId4"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Frontpage - Wind">
    <p:spTree>
      <p:nvGrpSpPr>
        <p:cNvPr id="1" name=""/>
        <p:cNvGrpSpPr/>
        <p:nvPr/>
      </p:nvGrpSpPr>
      <p:grpSpPr>
        <a:xfrm>
          <a:off x="0" y="0"/>
          <a:ext cx="0" cy="0"/>
          <a:chOff x="0" y="0"/>
          <a:chExt cx="0" cy="0"/>
        </a:xfrm>
      </p:grpSpPr>
      <p:pic>
        <p:nvPicPr>
          <p:cNvPr id="11" name="Billede 10" descr="Et billede, der indeholder skærmbillede, udendørs&#10;&#10;Automatisk genereret beskrivelse">
            <a:extLst>
              <a:ext uri="{FF2B5EF4-FFF2-40B4-BE49-F238E27FC236}">
                <a16:creationId xmlns:a16="http://schemas.microsoft.com/office/drawing/2014/main" id="{5065758E-9E87-F373-D2C9-7A0E31FA6F7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02BEC910-A847-21E7-A3FC-CFE42AE3913E}"/>
              </a:ext>
            </a:extLst>
          </p:cNvPr>
          <p:cNvSpPr>
            <a:spLocks noGrp="1"/>
          </p:cNvSpPr>
          <p:nvPr>
            <p:ph type="ctrTitle"/>
          </p:nvPr>
        </p:nvSpPr>
        <p:spPr>
          <a:xfrm>
            <a:off x="562356" y="2255522"/>
            <a:ext cx="5052060" cy="3130294"/>
          </a:xfrm>
          <a:prstGeom prst="rect">
            <a:avLst/>
          </a:prstGeom>
        </p:spPr>
        <p:txBody>
          <a:bodyPr anchor="b">
            <a:noAutofit/>
          </a:bodyPr>
          <a:lstStyle>
            <a:lvl1pPr algn="l">
              <a:defRPr sz="5400" b="1">
                <a:solidFill>
                  <a:schemeClr val="accent6"/>
                </a:solidFill>
                <a:latin typeface="Arial" panose="020B0604020202020204" pitchFamily="34" charset="0"/>
                <a:cs typeface="Arial" panose="020B0604020202020204" pitchFamily="34" charset="0"/>
              </a:defRPr>
            </a:lvl1pPr>
          </a:lstStyle>
          <a:p>
            <a:r>
              <a:rPr lang="da-DK"/>
              <a:t>Klik for at redigere titeltypografien i masteren</a:t>
            </a:r>
          </a:p>
        </p:txBody>
      </p:sp>
      <p:sp>
        <p:nvSpPr>
          <p:cNvPr id="3" name="Undertitel 2">
            <a:extLst>
              <a:ext uri="{FF2B5EF4-FFF2-40B4-BE49-F238E27FC236}">
                <a16:creationId xmlns:a16="http://schemas.microsoft.com/office/drawing/2014/main" id="{3E96E920-78C4-F2A6-9F75-8C8A1FA198E7}"/>
              </a:ext>
            </a:extLst>
          </p:cNvPr>
          <p:cNvSpPr>
            <a:spLocks noGrp="1"/>
          </p:cNvSpPr>
          <p:nvPr>
            <p:ph type="subTitle" idx="1"/>
          </p:nvPr>
        </p:nvSpPr>
        <p:spPr>
          <a:xfrm>
            <a:off x="562356" y="5559806"/>
            <a:ext cx="5052060" cy="891286"/>
          </a:xfrm>
          <a:prstGeom prst="rect">
            <a:avLst/>
          </a:prstGeom>
        </p:spPr>
        <p:txBody>
          <a:bodyPr/>
          <a:lstStyle>
            <a:lvl1pPr marL="0" indent="0" algn="l">
              <a:buNone/>
              <a:defRPr sz="2400">
                <a:solidFill>
                  <a:schemeClr val="bg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pic>
        <p:nvPicPr>
          <p:cNvPr id="13" name="Billede 12" descr="Et billede, der indeholder Font/skrifttype, Grafik, logo, tekst&#10;&#10;Automatisk genereret beskrivelse">
            <a:extLst>
              <a:ext uri="{FF2B5EF4-FFF2-40B4-BE49-F238E27FC236}">
                <a16:creationId xmlns:a16="http://schemas.microsoft.com/office/drawing/2014/main" id="{D57409BA-09A0-8C15-AA7E-250BC94F6FA4}"/>
              </a:ext>
            </a:extLst>
          </p:cNvPr>
          <p:cNvPicPr>
            <a:picLocks noChangeAspect="1"/>
          </p:cNvPicPr>
          <p:nvPr userDrawn="1"/>
        </p:nvPicPr>
        <p:blipFill>
          <a:blip r:embed="rId3"/>
          <a:stretch>
            <a:fillRect/>
          </a:stretch>
        </p:blipFill>
        <p:spPr>
          <a:xfrm>
            <a:off x="658473" y="556147"/>
            <a:ext cx="1714500" cy="629221"/>
          </a:xfrm>
          <a:prstGeom prst="rect">
            <a:avLst/>
          </a:prstGeom>
        </p:spPr>
      </p:pic>
      <p:pic>
        <p:nvPicPr>
          <p:cNvPr id="17" name="Billede 16" descr="Et billede, der indeholder tekst, Font/skrifttype, Grafik, skærmbillede&#10;&#10;Automatisk genereret beskrivelse">
            <a:extLst>
              <a:ext uri="{FF2B5EF4-FFF2-40B4-BE49-F238E27FC236}">
                <a16:creationId xmlns:a16="http://schemas.microsoft.com/office/drawing/2014/main" id="{1133A910-C73F-99AF-6767-32943B2E32D3}"/>
              </a:ext>
            </a:extLst>
          </p:cNvPr>
          <p:cNvPicPr>
            <a:picLocks noChangeAspect="1"/>
          </p:cNvPicPr>
          <p:nvPr userDrawn="1"/>
        </p:nvPicPr>
        <p:blipFill>
          <a:blip r:embed="rId4"/>
          <a:stretch>
            <a:fillRect/>
          </a:stretch>
        </p:blipFill>
        <p:spPr>
          <a:xfrm>
            <a:off x="10060790" y="5495798"/>
            <a:ext cx="1204308" cy="891286"/>
          </a:xfrm>
          <a:prstGeom prst="rect">
            <a:avLst/>
          </a:prstGeom>
        </p:spPr>
      </p:pic>
    </p:spTree>
    <p:extLst>
      <p:ext uri="{BB962C8B-B14F-4D97-AF65-F5344CB8AC3E}">
        <p14:creationId xmlns:p14="http://schemas.microsoft.com/office/powerpoint/2010/main" val="2620242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page - Pattern">
    <p:spTree>
      <p:nvGrpSpPr>
        <p:cNvPr id="1" name=""/>
        <p:cNvGrpSpPr/>
        <p:nvPr/>
      </p:nvGrpSpPr>
      <p:grpSpPr>
        <a:xfrm>
          <a:off x="0" y="0"/>
          <a:ext cx="0" cy="0"/>
          <a:chOff x="0" y="0"/>
          <a:chExt cx="0" cy="0"/>
        </a:xfrm>
      </p:grpSpPr>
      <p:pic>
        <p:nvPicPr>
          <p:cNvPr id="6" name="Billede 5" descr="Et billede, der indeholder skærmbillede, grøn, mønster, stof&#10;&#10;Automatisk genereret beskrivelse">
            <a:extLst>
              <a:ext uri="{FF2B5EF4-FFF2-40B4-BE49-F238E27FC236}">
                <a16:creationId xmlns:a16="http://schemas.microsoft.com/office/drawing/2014/main" id="{820E15C5-1238-550C-8E93-BE0E2FE5F3FD}"/>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6096000" y="0"/>
            <a:ext cx="6096000" cy="6858000"/>
          </a:xfrm>
          <a:prstGeom prst="rect">
            <a:avLst/>
          </a:prstGeom>
        </p:spPr>
      </p:pic>
      <p:pic>
        <p:nvPicPr>
          <p:cNvPr id="8" name="Billede 7" descr="Et billede, der indeholder Font/skrifttype, Grafik, skærmbillede, tekst&#10;&#10;Automatisk genereret beskrivelse">
            <a:extLst>
              <a:ext uri="{FF2B5EF4-FFF2-40B4-BE49-F238E27FC236}">
                <a16:creationId xmlns:a16="http://schemas.microsoft.com/office/drawing/2014/main" id="{6AA5855E-27B1-A9FC-0C5D-12D29ABD0D4A}"/>
              </a:ext>
            </a:extLst>
          </p:cNvPr>
          <p:cNvPicPr>
            <a:picLocks noChangeAspect="1"/>
          </p:cNvPicPr>
          <p:nvPr userDrawn="1"/>
        </p:nvPicPr>
        <p:blipFill>
          <a:blip r:embed="rId3"/>
          <a:stretch>
            <a:fillRect/>
          </a:stretch>
        </p:blipFill>
        <p:spPr>
          <a:xfrm>
            <a:off x="658474" y="560472"/>
            <a:ext cx="1714500" cy="624895"/>
          </a:xfrm>
          <a:prstGeom prst="rect">
            <a:avLst/>
          </a:prstGeom>
        </p:spPr>
      </p:pic>
      <p:sp>
        <p:nvSpPr>
          <p:cNvPr id="9" name="Titel 1">
            <a:extLst>
              <a:ext uri="{FF2B5EF4-FFF2-40B4-BE49-F238E27FC236}">
                <a16:creationId xmlns:a16="http://schemas.microsoft.com/office/drawing/2014/main" id="{B5BA6E49-3355-E810-0704-83D284A0F153}"/>
              </a:ext>
            </a:extLst>
          </p:cNvPr>
          <p:cNvSpPr>
            <a:spLocks noGrp="1"/>
          </p:cNvSpPr>
          <p:nvPr>
            <p:ph type="ctrTitle"/>
          </p:nvPr>
        </p:nvSpPr>
        <p:spPr>
          <a:xfrm>
            <a:off x="562356" y="2255522"/>
            <a:ext cx="5052060" cy="3130294"/>
          </a:xfrm>
          <a:prstGeom prst="rect">
            <a:avLst/>
          </a:prstGeom>
        </p:spPr>
        <p:txBody>
          <a:bodyPr anchor="b">
            <a:noAutofit/>
          </a:bodyPr>
          <a:lstStyle>
            <a:lvl1pPr algn="l">
              <a:defRPr sz="5400" b="1">
                <a:solidFill>
                  <a:schemeClr val="tx2"/>
                </a:solidFill>
                <a:latin typeface="Arial" panose="020B0604020202020204" pitchFamily="34" charset="0"/>
                <a:cs typeface="Arial" panose="020B0604020202020204" pitchFamily="34" charset="0"/>
              </a:defRPr>
            </a:lvl1pPr>
          </a:lstStyle>
          <a:p>
            <a:r>
              <a:rPr lang="da-DK"/>
              <a:t>Klik for at redigere titeltypografien i masteren</a:t>
            </a:r>
          </a:p>
        </p:txBody>
      </p:sp>
      <p:sp>
        <p:nvSpPr>
          <p:cNvPr id="10" name="Undertitel 2">
            <a:extLst>
              <a:ext uri="{FF2B5EF4-FFF2-40B4-BE49-F238E27FC236}">
                <a16:creationId xmlns:a16="http://schemas.microsoft.com/office/drawing/2014/main" id="{9E5844FC-F35F-512B-CA59-6F83788545A2}"/>
              </a:ext>
            </a:extLst>
          </p:cNvPr>
          <p:cNvSpPr>
            <a:spLocks noGrp="1"/>
          </p:cNvSpPr>
          <p:nvPr>
            <p:ph type="subTitle" idx="1"/>
          </p:nvPr>
        </p:nvSpPr>
        <p:spPr>
          <a:xfrm>
            <a:off x="562356" y="5559806"/>
            <a:ext cx="5052060" cy="891286"/>
          </a:xfrm>
          <a:prstGeom prst="rect">
            <a:avLst/>
          </a:prstGeom>
        </p:spPr>
        <p:txBody>
          <a:bodyPr/>
          <a:lstStyle>
            <a:lvl1pPr marL="0" indent="0" algn="l">
              <a:buNone/>
              <a:defRPr sz="2400">
                <a:solidFill>
                  <a:schemeClr val="bg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Tree>
    <p:extLst>
      <p:ext uri="{BB962C8B-B14F-4D97-AF65-F5344CB8AC3E}">
        <p14:creationId xmlns:p14="http://schemas.microsoft.com/office/powerpoint/2010/main" val="2798855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t - Full - Watermark">
    <p:spTree>
      <p:nvGrpSpPr>
        <p:cNvPr id="1" name=""/>
        <p:cNvGrpSpPr/>
        <p:nvPr/>
      </p:nvGrpSpPr>
      <p:grpSpPr>
        <a:xfrm>
          <a:off x="0" y="0"/>
          <a:ext cx="0" cy="0"/>
          <a:chOff x="0" y="0"/>
          <a:chExt cx="0" cy="0"/>
        </a:xfrm>
      </p:grpSpPr>
      <p:pic>
        <p:nvPicPr>
          <p:cNvPr id="4" name="Billede 3" descr="Et billede, der indeholder skærmbillede, Grafik, sort, design&#10;&#10;Automatisk genereret beskrivelse">
            <a:extLst>
              <a:ext uri="{FF2B5EF4-FFF2-40B4-BE49-F238E27FC236}">
                <a16:creationId xmlns:a16="http://schemas.microsoft.com/office/drawing/2014/main" id="{6BC08D4A-B68A-D2B2-FBC9-5A53679354EB}"/>
              </a:ext>
            </a:extLst>
          </p:cNvPr>
          <p:cNvPicPr>
            <a:picLocks noChangeAspect="1"/>
          </p:cNvPicPr>
          <p:nvPr userDrawn="1"/>
        </p:nvPicPr>
        <p:blipFill>
          <a:blip r:embed="rId2">
            <a:alphaModFix amt="31000"/>
          </a:blip>
          <a:stretch>
            <a:fillRect/>
          </a:stretch>
        </p:blipFill>
        <p:spPr>
          <a:xfrm>
            <a:off x="9144" y="-9144"/>
            <a:ext cx="12192000" cy="6858000"/>
          </a:xfrm>
          <a:prstGeom prst="rect">
            <a:avLst/>
          </a:prstGeom>
        </p:spPr>
      </p:pic>
      <p:sp>
        <p:nvSpPr>
          <p:cNvPr id="2" name="Titel 1">
            <a:extLst>
              <a:ext uri="{FF2B5EF4-FFF2-40B4-BE49-F238E27FC236}">
                <a16:creationId xmlns:a16="http://schemas.microsoft.com/office/drawing/2014/main" id="{61E7CDC7-4FD0-F600-1A63-E7F3DC78543E}"/>
              </a:ext>
            </a:extLst>
          </p:cNvPr>
          <p:cNvSpPr>
            <a:spLocks noGrp="1"/>
          </p:cNvSpPr>
          <p:nvPr>
            <p:ph type="ctrTitle"/>
          </p:nvPr>
        </p:nvSpPr>
        <p:spPr>
          <a:xfrm>
            <a:off x="623373" y="634683"/>
            <a:ext cx="6467856" cy="1188021"/>
          </a:xfrm>
          <a:prstGeom prst="rect">
            <a:avLst/>
          </a:prstGeom>
        </p:spPr>
        <p:txBody>
          <a:bodyPr anchor="t">
            <a:normAutofit/>
          </a:bodyPr>
          <a:lstStyle>
            <a:lvl1pPr algn="l">
              <a:defRPr sz="3800">
                <a:solidFill>
                  <a:schemeClr val="tx2"/>
                </a:solidFill>
              </a:defRPr>
            </a:lvl1pPr>
          </a:lstStyle>
          <a:p>
            <a:r>
              <a:rPr lang="da-DK" dirty="0"/>
              <a:t>Klik for at redigere titeltypografien i masteren</a:t>
            </a:r>
          </a:p>
        </p:txBody>
      </p:sp>
      <p:sp>
        <p:nvSpPr>
          <p:cNvPr id="5" name="Pladsholder til indhold 4">
            <a:extLst>
              <a:ext uri="{FF2B5EF4-FFF2-40B4-BE49-F238E27FC236}">
                <a16:creationId xmlns:a16="http://schemas.microsoft.com/office/drawing/2014/main" id="{46E000A1-40C5-3D9C-4E99-F70D331FA14A}"/>
              </a:ext>
            </a:extLst>
          </p:cNvPr>
          <p:cNvSpPr>
            <a:spLocks noGrp="1"/>
          </p:cNvSpPr>
          <p:nvPr>
            <p:ph sz="quarter" idx="10"/>
          </p:nvPr>
        </p:nvSpPr>
        <p:spPr>
          <a:xfrm>
            <a:off x="623373" y="2094527"/>
            <a:ext cx="10945254" cy="3726170"/>
          </a:xfrm>
          <a:prstGeom prst="rect">
            <a:avLst/>
          </a:prstGeom>
        </p:spPr>
        <p:txBody>
          <a:bodyPr/>
          <a:lstStyle>
            <a:lvl1pPr marL="228600" indent="-228600">
              <a:buClr>
                <a:schemeClr val="bg2"/>
              </a:buClr>
              <a:buFont typeface="Wingdings" pitchFamily="2" charset="2"/>
              <a:buChar char="§"/>
              <a:defRPr/>
            </a:lvl1pPr>
            <a:lvl2pPr marL="685800" indent="-228600">
              <a:buClr>
                <a:schemeClr val="bg2"/>
              </a:buClr>
              <a:buFont typeface="Wingdings" pitchFamily="2" charset="2"/>
              <a:buChar char="§"/>
              <a:defRPr/>
            </a:lvl2pPr>
            <a:lvl3pPr marL="1143000" indent="-228600">
              <a:buClr>
                <a:schemeClr val="bg2"/>
              </a:buClr>
              <a:buFont typeface="Wingdings" pitchFamily="2" charset="2"/>
              <a:buChar char="§"/>
              <a:defRPr/>
            </a:lvl3pPr>
            <a:lvl4pPr marL="1600200" indent="-228600">
              <a:buClr>
                <a:schemeClr val="bg2"/>
              </a:buClr>
              <a:buFont typeface="Wingdings" pitchFamily="2" charset="2"/>
              <a:buChar char="§"/>
              <a:defRPr/>
            </a:lvl4pPr>
            <a:lvl5pPr marL="2057400" indent="-228600">
              <a:buClr>
                <a:schemeClr val="bg2"/>
              </a:buClr>
              <a:buFont typeface="Wingdings" pitchFamily="2" charset="2"/>
              <a:buChar char="§"/>
              <a:defRPr/>
            </a:lvl5pPr>
          </a:lstStyle>
          <a:p>
            <a:pPr lvl="0"/>
            <a:r>
              <a:rPr lang="da-DK" dirty="0"/>
              <a:t>Klik for at redigere teksttypografierne i masteren</a:t>
            </a:r>
          </a:p>
          <a:p>
            <a:pPr lvl="1"/>
            <a:r>
              <a:rPr lang="da-DK" dirty="0"/>
              <a:t>Andet niveau</a:t>
            </a:r>
          </a:p>
          <a:p>
            <a:pPr lvl="2"/>
            <a:r>
              <a:rPr lang="da-DK" dirty="0"/>
              <a:t>Tredje niveau</a:t>
            </a:r>
          </a:p>
          <a:p>
            <a:pPr lvl="3"/>
            <a:r>
              <a:rPr lang="da-DK" dirty="0"/>
              <a:t>Fjerde niveau</a:t>
            </a:r>
          </a:p>
          <a:p>
            <a:pPr lvl="4"/>
            <a:r>
              <a:rPr lang="da-DK" dirty="0"/>
              <a:t>Femte niveau</a:t>
            </a:r>
            <a:endParaRPr lang="en-GB" dirty="0"/>
          </a:p>
        </p:txBody>
      </p:sp>
      <p:sp>
        <p:nvSpPr>
          <p:cNvPr id="18" name="Pladsholder til slidenummer 10">
            <a:extLst>
              <a:ext uri="{FF2B5EF4-FFF2-40B4-BE49-F238E27FC236}">
                <a16:creationId xmlns:a16="http://schemas.microsoft.com/office/drawing/2014/main" id="{C7601A47-30EC-C243-8D63-2175B98180B3}"/>
              </a:ext>
            </a:extLst>
          </p:cNvPr>
          <p:cNvSpPr>
            <a:spLocks noGrp="1"/>
          </p:cNvSpPr>
          <p:nvPr>
            <p:ph type="sldNum" sz="quarter" idx="4"/>
          </p:nvPr>
        </p:nvSpPr>
        <p:spPr>
          <a:xfrm>
            <a:off x="11761076" y="6428939"/>
            <a:ext cx="430923" cy="423360"/>
          </a:xfrm>
          <a:prstGeom prst="rect">
            <a:avLst/>
          </a:prstGeom>
        </p:spPr>
        <p:txBody>
          <a:bodyPr vert="horz" lIns="91440" tIns="45720" rIns="91440" bIns="45720" rtlCol="0" anchor="ctr"/>
          <a:lstStyle>
            <a:lvl1pPr algn="ctr">
              <a:defRPr sz="800" b="1">
                <a:solidFill>
                  <a:schemeClr val="bg2"/>
                </a:solidFill>
                <a:latin typeface="Arial" panose="020B0604020202020204" pitchFamily="34" charset="0"/>
                <a:cs typeface="Arial" panose="020B0604020202020204" pitchFamily="34" charset="0"/>
              </a:defRPr>
            </a:lvl1pPr>
          </a:lstStyle>
          <a:p>
            <a:fld id="{9EF175DF-6467-D842-8A97-0C9273850933}" type="slidenum">
              <a:rPr lang="da-DK" smtClean="0"/>
              <a:pPr/>
              <a:t>‹#›</a:t>
            </a:fld>
            <a:endParaRPr lang="da-DK" dirty="0"/>
          </a:p>
        </p:txBody>
      </p:sp>
    </p:spTree>
    <p:extLst>
      <p:ext uri="{BB962C8B-B14F-4D97-AF65-F5344CB8AC3E}">
        <p14:creationId xmlns:p14="http://schemas.microsoft.com/office/powerpoint/2010/main" val="31691808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 Full widt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5EAE0-F549-49D2-95EA-33CE84CF6923}"/>
              </a:ext>
            </a:extLst>
          </p:cNvPr>
          <p:cNvSpPr>
            <a:spLocks noGrp="1"/>
          </p:cNvSpPr>
          <p:nvPr>
            <p:ph type="title" hasCustomPrompt="1"/>
          </p:nvPr>
        </p:nvSpPr>
        <p:spPr>
          <a:xfrm>
            <a:off x="662382" y="713811"/>
            <a:ext cx="10916345" cy="1325563"/>
          </a:xfrm>
        </p:spPr>
        <p:txBody>
          <a:bodyPr/>
          <a:lstStyle>
            <a:lvl1pPr>
              <a:defRPr b="1">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da-DK"/>
          </a:p>
        </p:txBody>
      </p:sp>
      <p:sp>
        <p:nvSpPr>
          <p:cNvPr id="8" name="Tekstfelt 7">
            <a:extLst>
              <a:ext uri="{FF2B5EF4-FFF2-40B4-BE49-F238E27FC236}">
                <a16:creationId xmlns:a16="http://schemas.microsoft.com/office/drawing/2014/main" id="{B552A65A-6940-2B53-A88B-D31625DF74A8}"/>
              </a:ext>
            </a:extLst>
          </p:cNvPr>
          <p:cNvSpPr txBox="1"/>
          <p:nvPr userDrawn="1"/>
        </p:nvSpPr>
        <p:spPr>
          <a:xfrm>
            <a:off x="5561714" y="249709"/>
            <a:ext cx="6097772" cy="230832"/>
          </a:xfrm>
          <a:prstGeom prst="rect">
            <a:avLst/>
          </a:prstGeom>
          <a:noFill/>
        </p:spPr>
        <p:txBody>
          <a:bodyPr wrap="square">
            <a:spAutoFit/>
          </a:bodyPr>
          <a:lstStyle/>
          <a:p>
            <a:pPr algn="r"/>
            <a:r>
              <a:rPr lang="da-DK" sz="900">
                <a:solidFill>
                  <a:schemeClr val="accent5">
                    <a:lumMod val="50000"/>
                    <a:lumOff val="50000"/>
                  </a:schemeClr>
                </a:solidFill>
                <a:effectLst/>
                <a:latin typeface="Arial" panose="020B0604020202020204" pitchFamily="34" charset="0"/>
                <a:cs typeface="Arial" panose="020B0604020202020204" pitchFamily="34" charset="0"/>
              </a:rPr>
              <a:t>Centrica Energy Trading     </a:t>
            </a:r>
            <a:fld id="{619A3867-465E-4C46-A93C-90E509787A10}" type="slidenum">
              <a:rPr lang="da-DK" sz="900" b="1" smtClean="0">
                <a:solidFill>
                  <a:schemeClr val="accent2"/>
                </a:solidFill>
                <a:effectLst/>
                <a:latin typeface="Arial" panose="020B0604020202020204" pitchFamily="34" charset="0"/>
                <a:cs typeface="Arial" panose="020B0604020202020204" pitchFamily="34" charset="0"/>
              </a:rPr>
              <a:t>‹#›</a:t>
            </a:fld>
            <a:endParaRPr lang="da-DK" sz="900" b="1">
              <a:solidFill>
                <a:schemeClr val="accent2"/>
              </a:solidFill>
              <a:effectLst/>
              <a:latin typeface="Arial" panose="020B0604020202020204" pitchFamily="34" charset="0"/>
              <a:cs typeface="Arial" panose="020B0604020202020204" pitchFamily="34" charset="0"/>
            </a:endParaRPr>
          </a:p>
        </p:txBody>
      </p:sp>
      <p:sp>
        <p:nvSpPr>
          <p:cNvPr id="26" name="Text Placeholder 3">
            <a:extLst>
              <a:ext uri="{FF2B5EF4-FFF2-40B4-BE49-F238E27FC236}">
                <a16:creationId xmlns:a16="http://schemas.microsoft.com/office/drawing/2014/main" id="{70F5C963-96F9-E19C-F751-9F9AD6435AD3}"/>
              </a:ext>
            </a:extLst>
          </p:cNvPr>
          <p:cNvSpPr>
            <a:spLocks noGrp="1"/>
          </p:cNvSpPr>
          <p:nvPr>
            <p:ph type="body" sz="half" idx="2"/>
          </p:nvPr>
        </p:nvSpPr>
        <p:spPr>
          <a:xfrm>
            <a:off x="662382" y="2272644"/>
            <a:ext cx="10916345" cy="3811588"/>
          </a:xfrm>
        </p:spPr>
        <p:txBody>
          <a:bodyPr/>
          <a:lstStyle>
            <a:lvl1pPr marL="0" indent="0">
              <a:buNone/>
              <a:defRPr sz="1600">
                <a:solidFill>
                  <a:schemeClr val="accent5"/>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21313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Content Layou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203980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9" name="Picture 8" descr="new centrica_pms2758.eps"/>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9984317" y="393916"/>
            <a:ext cx="1703915" cy="329984"/>
          </a:xfrm>
          <a:prstGeom prst="rect">
            <a:avLst/>
          </a:prstGeom>
        </p:spPr>
      </p:pic>
      <p:sp>
        <p:nvSpPr>
          <p:cNvPr id="10" name="Rectangle 9"/>
          <p:cNvSpPr/>
          <p:nvPr userDrawn="1"/>
        </p:nvSpPr>
        <p:spPr>
          <a:xfrm>
            <a:off x="459317" y="6112129"/>
            <a:ext cx="11228915" cy="257799"/>
          </a:xfrm>
          <a:prstGeom prst="rect">
            <a:avLst/>
          </a:prstGeom>
          <a:solidFill>
            <a:schemeClr val="accent4">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1867" dirty="0" err="1">
              <a:solidFill>
                <a:schemeClr val="bg1"/>
              </a:solidFill>
              <a:latin typeface="Avenir Light"/>
              <a:cs typeface="Avenir Light"/>
            </a:endParaRPr>
          </a:p>
        </p:txBody>
      </p:sp>
      <p:sp>
        <p:nvSpPr>
          <p:cNvPr id="4" name="Title 3"/>
          <p:cNvSpPr>
            <a:spLocks noGrp="1"/>
          </p:cNvSpPr>
          <p:nvPr>
            <p:ph type="title" hasCustomPrompt="1"/>
          </p:nvPr>
        </p:nvSpPr>
        <p:spPr>
          <a:xfrm>
            <a:off x="461433" y="1113367"/>
            <a:ext cx="8693856" cy="480000"/>
          </a:xfrm>
        </p:spPr>
        <p:txBody>
          <a:bodyPr/>
          <a:lstStyle>
            <a:lvl1pPr>
              <a:lnSpc>
                <a:spcPts val="3413"/>
              </a:lnSpc>
              <a:defRPr sz="4000" baseline="0">
                <a:solidFill>
                  <a:schemeClr val="accent1"/>
                </a:solidFill>
                <a:latin typeface="Avenir Light"/>
                <a:cs typeface="Avenir Light"/>
              </a:defRPr>
            </a:lvl1pPr>
          </a:lstStyle>
          <a:p>
            <a:r>
              <a:rPr lang="en-GB" dirty="0"/>
              <a:t>Lorem ipsum delor sit </a:t>
            </a:r>
            <a:r>
              <a:rPr lang="en-GB" dirty="0" err="1"/>
              <a:t>amt</a:t>
            </a:r>
            <a:endParaRPr lang="en-US" dirty="0"/>
          </a:p>
        </p:txBody>
      </p:sp>
      <p:sp>
        <p:nvSpPr>
          <p:cNvPr id="14" name="Text Placeholder 13"/>
          <p:cNvSpPr>
            <a:spLocks noGrp="1"/>
          </p:cNvSpPr>
          <p:nvPr>
            <p:ph type="body" sz="quarter" idx="11" hasCustomPrompt="1"/>
          </p:nvPr>
        </p:nvSpPr>
        <p:spPr>
          <a:xfrm>
            <a:off x="470619" y="1792460"/>
            <a:ext cx="8684671" cy="4043896"/>
          </a:xfrm>
        </p:spPr>
        <p:txBody>
          <a:bodyPr/>
          <a:lstStyle>
            <a:lvl1pPr marL="239994" indent="-239994">
              <a:spcBef>
                <a:spcPts val="0"/>
              </a:spcBef>
              <a:spcAft>
                <a:spcPts val="800"/>
              </a:spcAft>
              <a:buSzPct val="130000"/>
              <a:buFont typeface="Arial"/>
              <a:buChar char="•"/>
              <a:defRPr sz="2133"/>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a:lvl2pPr>
            <a:lvl3pPr marL="1676358" indent="-457189">
              <a:buFont typeface="Arial"/>
              <a:buChar char="•"/>
              <a:defRPr/>
            </a:lvl3pPr>
            <a:lvl4pPr marL="2285943" indent="-457189">
              <a:buFont typeface="Arial"/>
              <a:buChar char="•"/>
              <a:defRPr/>
            </a:lvl4pPr>
            <a:lvl5pPr marL="2895528" indent="-457189">
              <a:buFont typeface="Arial"/>
              <a:buChar char="•"/>
              <a:defRPr/>
            </a:lvl5pPr>
          </a:lstStyle>
          <a:p>
            <a:pPr lvl="0"/>
            <a:r>
              <a:rPr lang="en-GB" dirty="0"/>
              <a:t>Lorem ipsum delor sit amt</a:t>
            </a:r>
          </a:p>
          <a:p>
            <a:pPr lvl="1"/>
            <a:r>
              <a:rPr lang="en-GB" dirty="0"/>
              <a:t>Lorem ipsum delor sit amt</a:t>
            </a:r>
          </a:p>
        </p:txBody>
      </p:sp>
      <p:sp>
        <p:nvSpPr>
          <p:cNvPr id="2" name="TextBox 1"/>
          <p:cNvSpPr txBox="1"/>
          <p:nvPr userDrawn="1"/>
        </p:nvSpPr>
        <p:spPr>
          <a:xfrm>
            <a:off x="685583" y="6118109"/>
            <a:ext cx="635652" cy="245839"/>
          </a:xfrm>
          <a:prstGeom prst="rect">
            <a:avLst/>
          </a:prstGeom>
          <a:noFill/>
        </p:spPr>
        <p:txBody>
          <a:bodyPr wrap="square" lIns="0" tIns="0" rIns="0" bIns="0" rtlCol="0" anchor="ctr">
            <a:noAutofit/>
          </a:bodyPr>
          <a:lstStyle/>
          <a:p>
            <a:fld id="{CF7F3A20-8E04-A24B-89F3-0067BF991D43}" type="slidenum">
              <a:rPr lang="en-US" sz="1333" smtClean="0">
                <a:solidFill>
                  <a:schemeClr val="bg1"/>
                </a:solidFill>
                <a:latin typeface="Avenir Heavy"/>
                <a:cs typeface="Avenir Heavy"/>
              </a:rPr>
              <a:t>‹#›</a:t>
            </a:fld>
            <a:endParaRPr lang="en-US" sz="1333" dirty="0">
              <a:solidFill>
                <a:schemeClr val="bg1"/>
              </a:solidFill>
              <a:latin typeface="Avenir Heavy"/>
              <a:cs typeface="Avenir Heavy"/>
            </a:endParaRPr>
          </a:p>
        </p:txBody>
      </p:sp>
    </p:spTree>
    <p:extLst>
      <p:ext uri="{BB962C8B-B14F-4D97-AF65-F5344CB8AC3E}">
        <p14:creationId xmlns:p14="http://schemas.microsoft.com/office/powerpoint/2010/main" val="21791269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2359028"/>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7" r:id="rId3"/>
    <p:sldLayoutId id="2147483758" r:id="rId4"/>
    <p:sldLayoutId id="2147483759"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18" Type="http://schemas.openxmlformats.org/officeDocument/2006/relationships/image" Target="../media/image4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17" Type="http://schemas.openxmlformats.org/officeDocument/2006/relationships/image" Target="../media/image42.png"/><Relationship Id="rId2" Type="http://schemas.openxmlformats.org/officeDocument/2006/relationships/notesSlide" Target="../notesSlides/notesSlide11.xml"/><Relationship Id="rId16" Type="http://schemas.openxmlformats.org/officeDocument/2006/relationships/image" Target="../media/image41.svg"/><Relationship Id="rId20" Type="http://schemas.openxmlformats.org/officeDocument/2006/relationships/image" Target="../media/image45.svg"/><Relationship Id="rId1" Type="http://schemas.openxmlformats.org/officeDocument/2006/relationships/slideLayout" Target="../slideLayouts/slideLayout4.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svg"/><Relationship Id="rId19" Type="http://schemas.openxmlformats.org/officeDocument/2006/relationships/image" Target="../media/image44.pn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9.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86FC0A8-60DD-47D9-87EB-CE424B382D03}"/>
              </a:ext>
            </a:extLst>
          </p:cNvPr>
          <p:cNvSpPr txBox="1"/>
          <p:nvPr/>
        </p:nvSpPr>
        <p:spPr>
          <a:xfrm>
            <a:off x="333710" y="5513034"/>
            <a:ext cx="4435528" cy="121571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2000" dirty="0">
                <a:solidFill>
                  <a:srgbClr val="FFFFFF"/>
                </a:solidFill>
                <a:latin typeface="Inter"/>
                <a:ea typeface="Inter" panose="02000503000000020004" pitchFamily="2" charset="0"/>
              </a:rPr>
              <a:t>NOV</a:t>
            </a:r>
            <a:r>
              <a:rPr kumimoji="0" lang="da-DK" sz="20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2000" dirty="0">
              <a:solidFill>
                <a:srgbClr val="FFFFFF"/>
              </a:solidFill>
              <a:latin typeface="Inter"/>
              <a:ea typeface="Inter"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*Note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that</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the slides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are</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old and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many</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of the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market</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mechanic</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specifications</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are</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no longer the same, but gives a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understanding</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of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how</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power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markets</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 </a:t>
            </a:r>
            <a:r>
              <a:rPr kumimoji="0" lang="da-DK" sz="1100" b="0" i="0" u="none" strike="noStrike" kern="1200" cap="none" spc="0" normalizeH="0" baseline="0" noProof="0" dirty="0" err="1">
                <a:ln>
                  <a:noFill/>
                </a:ln>
                <a:solidFill>
                  <a:srgbClr val="FFFFFF"/>
                </a:solidFill>
                <a:effectLst/>
                <a:uLnTx/>
                <a:uFillTx/>
                <a:latin typeface="Inter"/>
                <a:ea typeface="Inter" panose="02000503000000020004" pitchFamily="2" charset="0"/>
                <a:cs typeface="+mn-cs"/>
              </a:rPr>
              <a:t>operate</a:t>
            </a:r>
            <a:r>
              <a:rPr kumimoji="0" lang="da-DK" sz="1100" b="0" i="0" u="none" strike="noStrike" kern="1200" cap="none" spc="0" normalizeH="0" baseline="0" noProof="0" dirty="0">
                <a:ln>
                  <a:noFill/>
                </a:ln>
                <a:solidFill>
                  <a:srgbClr val="FFFFFF"/>
                </a:solidFill>
                <a:effectLst/>
                <a:uLnTx/>
                <a:uFillTx/>
                <a:latin typeface="Inter"/>
                <a:ea typeface="Inter" panose="02000503000000020004" pitchFamily="2" charset="0"/>
                <a:cs typeface="+mn-cs"/>
              </a:rPr>
              <a:t>.</a:t>
            </a:r>
            <a:endParaRPr kumimoji="0" lang="da-DK" sz="11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mn-cs"/>
            </a:endParaRPr>
          </a:p>
        </p:txBody>
      </p:sp>
      <p:sp>
        <p:nvSpPr>
          <p:cNvPr id="12" name="TextBox 8">
            <a:extLst>
              <a:ext uri="{FF2B5EF4-FFF2-40B4-BE49-F238E27FC236}">
                <a16:creationId xmlns:a16="http://schemas.microsoft.com/office/drawing/2014/main" id="{59D5BFBF-BB67-F23A-ACEE-EACDB97FD94A}"/>
              </a:ext>
            </a:extLst>
          </p:cNvPr>
          <p:cNvSpPr txBox="1"/>
          <p:nvPr/>
        </p:nvSpPr>
        <p:spPr>
          <a:xfrm>
            <a:off x="213225" y="2315174"/>
            <a:ext cx="5052060" cy="1588127"/>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da-DK" sz="5400" b="1" dirty="0">
                <a:solidFill>
                  <a:srgbClr val="FFFFFF"/>
                </a:solidFill>
                <a:latin typeface="Arial" panose="020B0604020202020204" pitchFamily="34" charset="0"/>
                <a:ea typeface="Inter Medium" panose="02000503000000020004" pitchFamily="2" charset="0"/>
                <a:cs typeface="Arial" panose="020B0604020202020204" pitchFamily="34" charset="0"/>
              </a:rPr>
              <a:t>Renewable </a:t>
            </a:r>
            <a:r>
              <a:rPr kumimoji="0" lang="da-DK" sz="5400" b="1" i="0" u="none" strike="noStrike" kern="1200" cap="none" spc="0" normalizeH="0" baseline="0" noProof="0" dirty="0">
                <a:ln>
                  <a:noFill/>
                </a:ln>
                <a:solidFill>
                  <a:srgbClr val="FFFFFF"/>
                </a:solidFill>
                <a:effectLst/>
                <a:uLnTx/>
                <a:uFillTx/>
                <a:latin typeface="Arial" panose="020B0604020202020204" pitchFamily="34" charset="0"/>
                <a:ea typeface="Inter Medium" panose="02000503000000020004" pitchFamily="2" charset="0"/>
                <a:cs typeface="Arial" panose="020B0604020202020204" pitchFamily="34" charset="0"/>
              </a:rPr>
              <a:t>Asset Trading</a:t>
            </a:r>
          </a:p>
        </p:txBody>
      </p:sp>
    </p:spTree>
    <p:extLst>
      <p:ext uri="{BB962C8B-B14F-4D97-AF65-F5344CB8AC3E}">
        <p14:creationId xmlns:p14="http://schemas.microsoft.com/office/powerpoint/2010/main" val="341402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uppe 14"/>
          <p:cNvGrpSpPr/>
          <p:nvPr/>
        </p:nvGrpSpPr>
        <p:grpSpPr>
          <a:xfrm>
            <a:off x="538716" y="1428752"/>
            <a:ext cx="11134205" cy="480053"/>
            <a:chOff x="217555" y="1071564"/>
            <a:chExt cx="8690359" cy="360040"/>
          </a:xfrm>
        </p:grpSpPr>
        <p:sp>
          <p:nvSpPr>
            <p:cNvPr id="26" name="Rektangel 25"/>
            <p:cNvSpPr/>
            <p:nvPr/>
          </p:nvSpPr>
          <p:spPr>
            <a:xfrm>
              <a:off x="217555" y="1071564"/>
              <a:ext cx="8690359" cy="36004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2100" b="0" i="0" u="none" strike="noStrike" kern="1200" cap="none" spc="0" normalizeH="0" baseline="0" noProof="0" dirty="0" err="1">
                <a:ln>
                  <a:noFill/>
                </a:ln>
                <a:solidFill>
                  <a:prstClr val="black"/>
                </a:solidFill>
                <a:effectLst/>
                <a:uLnTx/>
                <a:uFillTx/>
                <a:latin typeface="Calibri" panose="020F0502020204030204"/>
                <a:ea typeface="+mn-ea"/>
                <a:cs typeface="+mn-cs"/>
              </a:endParaRPr>
            </a:p>
          </p:txBody>
        </p:sp>
        <p:sp>
          <p:nvSpPr>
            <p:cNvPr id="9" name="Tekstboks 8"/>
            <p:cNvSpPr txBox="1"/>
            <p:nvPr/>
          </p:nvSpPr>
          <p:spPr>
            <a:xfrm>
              <a:off x="303436" y="1128473"/>
              <a:ext cx="2736304"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2100" dirty="0">
                  <a:solidFill>
                    <a:prstClr val="white"/>
                  </a:solidFill>
                  <a:latin typeface="Calibri" panose="020F0502020204030204"/>
                </a:rPr>
                <a:t>	</a:t>
              </a:r>
              <a:r>
                <a:rPr kumimoji="0" lang="da-DK" sz="2100" b="0" i="0" u="none" strike="noStrike" kern="1200" cap="none" spc="0" normalizeH="0" baseline="0" noProof="0" dirty="0">
                  <a:ln>
                    <a:noFill/>
                  </a:ln>
                  <a:solidFill>
                    <a:prstClr val="white"/>
                  </a:solidFill>
                  <a:effectLst/>
                  <a:uLnTx/>
                  <a:uFillTx/>
                  <a:latin typeface="Calibri" panose="020F0502020204030204"/>
                  <a:ea typeface="+mn-ea"/>
                  <a:cs typeface="+mn-cs"/>
                </a:rPr>
                <a:t>POWER PRODUCERS</a:t>
              </a:r>
            </a:p>
          </p:txBody>
        </p:sp>
        <p:sp>
          <p:nvSpPr>
            <p:cNvPr id="10" name="Tekstboks 9"/>
            <p:cNvSpPr txBox="1"/>
            <p:nvPr/>
          </p:nvSpPr>
          <p:spPr>
            <a:xfrm>
              <a:off x="5870917" y="1127363"/>
              <a:ext cx="273630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100" b="0" i="0" u="none" strike="noStrike" kern="1200" cap="none" spc="0" normalizeH="0" baseline="0" noProof="0" dirty="0">
                  <a:ln>
                    <a:noFill/>
                  </a:ln>
                  <a:solidFill>
                    <a:prstClr val="white"/>
                  </a:solidFill>
                  <a:effectLst/>
                  <a:uLnTx/>
                  <a:uFillTx/>
                  <a:latin typeface="Calibri" panose="020F0502020204030204"/>
                  <a:ea typeface="+mn-ea"/>
                  <a:cs typeface="+mn-cs"/>
                </a:rPr>
                <a:t>AUTHORITIES</a:t>
              </a:r>
            </a:p>
          </p:txBody>
        </p:sp>
      </p:grpSp>
      <p:grpSp>
        <p:nvGrpSpPr>
          <p:cNvPr id="14" name="Gruppe 13"/>
          <p:cNvGrpSpPr/>
          <p:nvPr/>
        </p:nvGrpSpPr>
        <p:grpSpPr>
          <a:xfrm>
            <a:off x="538715" y="3676746"/>
            <a:ext cx="11114887" cy="480053"/>
            <a:chOff x="202120" y="2757559"/>
            <a:chExt cx="8690359" cy="360040"/>
          </a:xfrm>
        </p:grpSpPr>
        <p:grpSp>
          <p:nvGrpSpPr>
            <p:cNvPr id="13" name="Gruppe 12"/>
            <p:cNvGrpSpPr/>
            <p:nvPr/>
          </p:nvGrpSpPr>
          <p:grpSpPr>
            <a:xfrm>
              <a:off x="202120" y="2757559"/>
              <a:ext cx="8690359" cy="360040"/>
              <a:chOff x="251520" y="2571750"/>
              <a:chExt cx="8690359" cy="432048"/>
            </a:xfrm>
          </p:grpSpPr>
          <p:sp>
            <p:nvSpPr>
              <p:cNvPr id="8" name="Rektangel 7"/>
              <p:cNvSpPr/>
              <p:nvPr/>
            </p:nvSpPr>
            <p:spPr>
              <a:xfrm>
                <a:off x="251520" y="2571750"/>
                <a:ext cx="8690359" cy="432048"/>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2100" b="0" i="0" u="none" strike="noStrike" kern="1200" cap="none" spc="0" normalizeH="0" baseline="0" noProof="0" dirty="0" err="1">
                  <a:ln>
                    <a:noFill/>
                  </a:ln>
                  <a:solidFill>
                    <a:prstClr val="black"/>
                  </a:solidFill>
                  <a:effectLst/>
                  <a:uLnTx/>
                  <a:uFillTx/>
                  <a:latin typeface="Calibri" panose="020F0502020204030204"/>
                  <a:ea typeface="+mn-ea"/>
                  <a:cs typeface="+mn-cs"/>
                </a:endParaRPr>
              </a:p>
            </p:txBody>
          </p:sp>
          <p:sp>
            <p:nvSpPr>
              <p:cNvPr id="7" name="Tekstboks 6"/>
              <p:cNvSpPr txBox="1"/>
              <p:nvPr/>
            </p:nvSpPr>
            <p:spPr>
              <a:xfrm>
                <a:off x="586641" y="2628867"/>
                <a:ext cx="2736304" cy="29084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100" b="0" i="0" u="none" strike="noStrike" kern="1200" cap="none" spc="0" normalizeH="0" baseline="0" noProof="0" dirty="0">
                    <a:ln>
                      <a:noFill/>
                    </a:ln>
                    <a:solidFill>
                      <a:prstClr val="white"/>
                    </a:solidFill>
                    <a:effectLst/>
                    <a:uLnTx/>
                    <a:uFillTx/>
                    <a:latin typeface="Calibri" panose="020F0502020204030204"/>
                    <a:ea typeface="+mn-ea"/>
                    <a:cs typeface="+mn-cs"/>
                  </a:rPr>
                  <a:t>INDUSTRY ASSOCIATIONS</a:t>
                </a:r>
              </a:p>
            </p:txBody>
          </p:sp>
        </p:grpSp>
        <p:sp>
          <p:nvSpPr>
            <p:cNvPr id="11" name="Tekstboks 10"/>
            <p:cNvSpPr txBox="1"/>
            <p:nvPr/>
          </p:nvSpPr>
          <p:spPr>
            <a:xfrm>
              <a:off x="5820806" y="2818353"/>
              <a:ext cx="273630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100" b="0" i="0" u="none" strike="noStrike" kern="1200" cap="none" spc="0" normalizeH="0" baseline="0" noProof="0" dirty="0">
                  <a:ln>
                    <a:noFill/>
                  </a:ln>
                  <a:solidFill>
                    <a:prstClr val="white"/>
                  </a:solidFill>
                  <a:effectLst/>
                  <a:uLnTx/>
                  <a:uFillTx/>
                  <a:latin typeface="Calibri" panose="020F0502020204030204"/>
                  <a:ea typeface="+mn-ea"/>
                  <a:cs typeface="+mn-cs"/>
                </a:rPr>
                <a:t>BALANCE RESPONSIBLE PARTIES</a:t>
              </a:r>
            </a:p>
          </p:txBody>
        </p:sp>
      </p:gr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4774" y="2366593"/>
            <a:ext cx="1953253" cy="6061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7186" y="5089454"/>
            <a:ext cx="1784348" cy="5651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6296" y="5615595"/>
            <a:ext cx="1169548" cy="552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63"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18817" y="2972776"/>
            <a:ext cx="2585165" cy="563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ektangel 15"/>
          <p:cNvSpPr/>
          <p:nvPr/>
        </p:nvSpPr>
        <p:spPr>
          <a:xfrm>
            <a:off x="4943872" y="1028734"/>
            <a:ext cx="2304256" cy="4102749"/>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err="1">
              <a:ln>
                <a:noFill/>
              </a:ln>
              <a:solidFill>
                <a:prstClr val="black"/>
              </a:solidFill>
              <a:effectLst/>
              <a:uLnTx/>
              <a:uFillTx/>
              <a:latin typeface="Calibri" panose="020F0502020204030204"/>
              <a:ea typeface="+mn-ea"/>
              <a:cs typeface="+mn-cs"/>
            </a:endParaRPr>
          </a:p>
        </p:txBody>
      </p:sp>
      <p:pic>
        <p:nvPicPr>
          <p:cNvPr id="3" name="Billede 2">
            <a:extLst>
              <a:ext uri="{FF2B5EF4-FFF2-40B4-BE49-F238E27FC236}">
                <a16:creationId xmlns:a16="http://schemas.microsoft.com/office/drawing/2014/main" id="{52F63CD3-B13B-4C85-AED9-6F20A5BDCADF}"/>
              </a:ext>
            </a:extLst>
          </p:cNvPr>
          <p:cNvPicPr>
            <a:picLocks noChangeAspect="1"/>
          </p:cNvPicPr>
          <p:nvPr/>
        </p:nvPicPr>
        <p:blipFill>
          <a:blip r:embed="rId7"/>
          <a:stretch>
            <a:fillRect/>
          </a:stretch>
        </p:blipFill>
        <p:spPr>
          <a:xfrm>
            <a:off x="7426906" y="4433660"/>
            <a:ext cx="1605754" cy="323849"/>
          </a:xfrm>
          <a:prstGeom prst="rect">
            <a:avLst/>
          </a:prstGeom>
        </p:spPr>
      </p:pic>
      <p:pic>
        <p:nvPicPr>
          <p:cNvPr id="18" name="Billede 17">
            <a:extLst>
              <a:ext uri="{FF2B5EF4-FFF2-40B4-BE49-F238E27FC236}">
                <a16:creationId xmlns:a16="http://schemas.microsoft.com/office/drawing/2014/main" id="{E6BC0E9D-8516-4BCD-962B-A4AEAAF16CB9}"/>
              </a:ext>
            </a:extLst>
          </p:cNvPr>
          <p:cNvPicPr>
            <a:picLocks noChangeAspect="1"/>
          </p:cNvPicPr>
          <p:nvPr/>
        </p:nvPicPr>
        <p:blipFill>
          <a:blip r:embed="rId8"/>
          <a:stretch>
            <a:fillRect/>
          </a:stretch>
        </p:blipFill>
        <p:spPr>
          <a:xfrm>
            <a:off x="7528281" y="2286193"/>
            <a:ext cx="1571429" cy="333333"/>
          </a:xfrm>
          <a:prstGeom prst="rect">
            <a:avLst/>
          </a:prstGeom>
        </p:spPr>
      </p:pic>
      <p:pic>
        <p:nvPicPr>
          <p:cNvPr id="32" name="Picture 31">
            <a:extLst>
              <a:ext uri="{FF2B5EF4-FFF2-40B4-BE49-F238E27FC236}">
                <a16:creationId xmlns:a16="http://schemas.microsoft.com/office/drawing/2014/main" id="{09EECC19-B41C-4DD9-BAFF-E943C068F4F2}"/>
              </a:ext>
            </a:extLst>
          </p:cNvPr>
          <p:cNvPicPr>
            <a:picLocks noChangeAspect="1"/>
          </p:cNvPicPr>
          <p:nvPr/>
        </p:nvPicPr>
        <p:blipFill>
          <a:blip r:embed="rId9"/>
          <a:stretch>
            <a:fillRect/>
          </a:stretch>
        </p:blipFill>
        <p:spPr>
          <a:xfrm>
            <a:off x="7248128" y="3000296"/>
            <a:ext cx="1390844" cy="400106"/>
          </a:xfrm>
          <a:prstGeom prst="rect">
            <a:avLst/>
          </a:prstGeom>
        </p:spPr>
      </p:pic>
      <p:pic>
        <p:nvPicPr>
          <p:cNvPr id="5" name="Picture 4">
            <a:extLst>
              <a:ext uri="{FF2B5EF4-FFF2-40B4-BE49-F238E27FC236}">
                <a16:creationId xmlns:a16="http://schemas.microsoft.com/office/drawing/2014/main" id="{5C1A5C80-B70A-4E2A-9CAC-2908F675D5D1}"/>
              </a:ext>
            </a:extLst>
          </p:cNvPr>
          <p:cNvPicPr>
            <a:picLocks noChangeAspect="1"/>
          </p:cNvPicPr>
          <p:nvPr/>
        </p:nvPicPr>
        <p:blipFill>
          <a:blip r:embed="rId10"/>
          <a:stretch>
            <a:fillRect/>
          </a:stretch>
        </p:blipFill>
        <p:spPr>
          <a:xfrm>
            <a:off x="899173" y="4517979"/>
            <a:ext cx="1427335" cy="613504"/>
          </a:xfrm>
          <a:prstGeom prst="rect">
            <a:avLst/>
          </a:prstGeom>
        </p:spPr>
      </p:pic>
      <p:sp>
        <p:nvSpPr>
          <p:cNvPr id="2" name="Titel 1"/>
          <p:cNvSpPr>
            <a:spLocks noGrp="1"/>
          </p:cNvSpPr>
          <p:nvPr>
            <p:ph type="title"/>
          </p:nvPr>
        </p:nvSpPr>
        <p:spPr/>
        <p:txBody>
          <a:bodyPr>
            <a:normAutofit/>
          </a:bodyPr>
          <a:lstStyle/>
          <a:p>
            <a:pPr algn="ctr"/>
            <a:r>
              <a:rPr lang="da-DK" sz="4000" dirty="0">
                <a:solidFill>
                  <a:schemeClr val="accent1"/>
                </a:solidFill>
                <a:latin typeface="Calibri" panose="020F0502020204030204" pitchFamily="34" charset="0"/>
                <a:cs typeface="Calibri" panose="020F0502020204030204" pitchFamily="34" charset="0"/>
              </a:rPr>
              <a:t>Some names you might know</a:t>
            </a:r>
          </a:p>
        </p:txBody>
      </p:sp>
      <p:sp>
        <p:nvSpPr>
          <p:cNvPr id="6" name="TextBox 5">
            <a:extLst>
              <a:ext uri="{FF2B5EF4-FFF2-40B4-BE49-F238E27FC236}">
                <a16:creationId xmlns:a16="http://schemas.microsoft.com/office/drawing/2014/main" id="{2F584F16-57D7-7E20-4F58-B9C4A13FE81A}"/>
              </a:ext>
            </a:extLst>
          </p:cNvPr>
          <p:cNvSpPr txBox="1"/>
          <p:nvPr/>
        </p:nvSpPr>
        <p:spPr>
          <a:xfrm>
            <a:off x="632720" y="2094322"/>
            <a:ext cx="813621" cy="369332"/>
          </a:xfrm>
          <a:prstGeom prst="rect">
            <a:avLst/>
          </a:prstGeom>
          <a:noFill/>
        </p:spPr>
        <p:txBody>
          <a:bodyPr wrap="none" rtlCol="0">
            <a:spAutoFit/>
          </a:bodyPr>
          <a:lstStyle/>
          <a:p>
            <a:r>
              <a:rPr lang="da-DK" dirty="0"/>
              <a:t>Ørsted</a:t>
            </a:r>
          </a:p>
        </p:txBody>
      </p:sp>
      <p:sp>
        <p:nvSpPr>
          <p:cNvPr id="12" name="TextBox 11">
            <a:extLst>
              <a:ext uri="{FF2B5EF4-FFF2-40B4-BE49-F238E27FC236}">
                <a16:creationId xmlns:a16="http://schemas.microsoft.com/office/drawing/2014/main" id="{369E6F98-6E38-FC64-AACD-4AB8D651BDEB}"/>
              </a:ext>
            </a:extLst>
          </p:cNvPr>
          <p:cNvSpPr txBox="1"/>
          <p:nvPr/>
        </p:nvSpPr>
        <p:spPr>
          <a:xfrm>
            <a:off x="1612840" y="2237475"/>
            <a:ext cx="1779205" cy="369332"/>
          </a:xfrm>
          <a:prstGeom prst="rect">
            <a:avLst/>
          </a:prstGeom>
          <a:noFill/>
        </p:spPr>
        <p:txBody>
          <a:bodyPr wrap="none" rtlCol="0">
            <a:spAutoFit/>
          </a:bodyPr>
          <a:lstStyle/>
          <a:p>
            <a:r>
              <a:rPr lang="da-DK" dirty="0"/>
              <a:t>European Energy</a:t>
            </a:r>
          </a:p>
        </p:txBody>
      </p:sp>
      <p:sp>
        <p:nvSpPr>
          <p:cNvPr id="20" name="TextBox 19">
            <a:extLst>
              <a:ext uri="{FF2B5EF4-FFF2-40B4-BE49-F238E27FC236}">
                <a16:creationId xmlns:a16="http://schemas.microsoft.com/office/drawing/2014/main" id="{B22629EB-5435-C156-ED0D-E03B3116C84A}"/>
              </a:ext>
            </a:extLst>
          </p:cNvPr>
          <p:cNvSpPr txBox="1"/>
          <p:nvPr/>
        </p:nvSpPr>
        <p:spPr>
          <a:xfrm>
            <a:off x="3711388" y="2094322"/>
            <a:ext cx="1078244" cy="369332"/>
          </a:xfrm>
          <a:prstGeom prst="rect">
            <a:avLst/>
          </a:prstGeom>
          <a:noFill/>
        </p:spPr>
        <p:txBody>
          <a:bodyPr wrap="none" rtlCol="0">
            <a:spAutoFit/>
          </a:bodyPr>
          <a:lstStyle/>
          <a:p>
            <a:r>
              <a:rPr lang="da-DK" dirty="0"/>
              <a:t>Vattenfall</a:t>
            </a:r>
          </a:p>
        </p:txBody>
      </p:sp>
      <p:sp>
        <p:nvSpPr>
          <p:cNvPr id="22" name="TextBox 21">
            <a:extLst>
              <a:ext uri="{FF2B5EF4-FFF2-40B4-BE49-F238E27FC236}">
                <a16:creationId xmlns:a16="http://schemas.microsoft.com/office/drawing/2014/main" id="{A54E7510-6EC8-F3B4-B529-97F631651D9D}"/>
              </a:ext>
            </a:extLst>
          </p:cNvPr>
          <p:cNvSpPr txBox="1"/>
          <p:nvPr/>
        </p:nvSpPr>
        <p:spPr>
          <a:xfrm>
            <a:off x="2223119" y="2996588"/>
            <a:ext cx="718402" cy="369332"/>
          </a:xfrm>
          <a:prstGeom prst="rect">
            <a:avLst/>
          </a:prstGeom>
          <a:noFill/>
        </p:spPr>
        <p:txBody>
          <a:bodyPr wrap="none" rtlCol="0">
            <a:spAutoFit/>
          </a:bodyPr>
          <a:lstStyle/>
          <a:p>
            <a:r>
              <a:rPr lang="da-DK" dirty="0"/>
              <a:t>Hofor</a:t>
            </a:r>
          </a:p>
        </p:txBody>
      </p:sp>
      <p:sp>
        <p:nvSpPr>
          <p:cNvPr id="23" name="TextBox 22">
            <a:extLst>
              <a:ext uri="{FF2B5EF4-FFF2-40B4-BE49-F238E27FC236}">
                <a16:creationId xmlns:a16="http://schemas.microsoft.com/office/drawing/2014/main" id="{A5AE744F-C5C9-641D-71E3-9010186086FD}"/>
              </a:ext>
            </a:extLst>
          </p:cNvPr>
          <p:cNvSpPr txBox="1"/>
          <p:nvPr/>
        </p:nvSpPr>
        <p:spPr>
          <a:xfrm>
            <a:off x="3527661" y="2826666"/>
            <a:ext cx="1077731" cy="369332"/>
          </a:xfrm>
          <a:prstGeom prst="rect">
            <a:avLst/>
          </a:prstGeom>
          <a:noFill/>
        </p:spPr>
        <p:txBody>
          <a:bodyPr wrap="none" rtlCol="0">
            <a:spAutoFit/>
          </a:bodyPr>
          <a:lstStyle/>
          <a:p>
            <a:r>
              <a:rPr lang="da-DK" dirty="0"/>
              <a:t>Eurowind</a:t>
            </a:r>
          </a:p>
        </p:txBody>
      </p:sp>
      <p:sp>
        <p:nvSpPr>
          <p:cNvPr id="24" name="TextBox 23">
            <a:extLst>
              <a:ext uri="{FF2B5EF4-FFF2-40B4-BE49-F238E27FC236}">
                <a16:creationId xmlns:a16="http://schemas.microsoft.com/office/drawing/2014/main" id="{66EE42E5-1C43-1644-DDCD-87EB6BBAEBB8}"/>
              </a:ext>
            </a:extLst>
          </p:cNvPr>
          <p:cNvSpPr txBox="1"/>
          <p:nvPr/>
        </p:nvSpPr>
        <p:spPr>
          <a:xfrm>
            <a:off x="7781880" y="5127867"/>
            <a:ext cx="813621" cy="369332"/>
          </a:xfrm>
          <a:prstGeom prst="rect">
            <a:avLst/>
          </a:prstGeom>
          <a:noFill/>
        </p:spPr>
        <p:txBody>
          <a:bodyPr wrap="none" rtlCol="0">
            <a:spAutoFit/>
          </a:bodyPr>
          <a:lstStyle/>
          <a:p>
            <a:r>
              <a:rPr lang="da-DK" dirty="0"/>
              <a:t>Ørsted</a:t>
            </a:r>
          </a:p>
        </p:txBody>
      </p:sp>
      <p:sp>
        <p:nvSpPr>
          <p:cNvPr id="25" name="TextBox 24">
            <a:extLst>
              <a:ext uri="{FF2B5EF4-FFF2-40B4-BE49-F238E27FC236}">
                <a16:creationId xmlns:a16="http://schemas.microsoft.com/office/drawing/2014/main" id="{8443B27C-7D3C-0FC3-5F07-A649943A8FCF}"/>
              </a:ext>
            </a:extLst>
          </p:cNvPr>
          <p:cNvSpPr txBox="1"/>
          <p:nvPr/>
        </p:nvSpPr>
        <p:spPr>
          <a:xfrm>
            <a:off x="8021466" y="5863941"/>
            <a:ext cx="1078244" cy="369332"/>
          </a:xfrm>
          <a:prstGeom prst="rect">
            <a:avLst/>
          </a:prstGeom>
          <a:noFill/>
        </p:spPr>
        <p:txBody>
          <a:bodyPr wrap="none" rtlCol="0">
            <a:spAutoFit/>
          </a:bodyPr>
          <a:lstStyle/>
          <a:p>
            <a:r>
              <a:rPr lang="da-DK" dirty="0"/>
              <a:t>Vattenfall</a:t>
            </a:r>
          </a:p>
        </p:txBody>
      </p:sp>
      <p:sp>
        <p:nvSpPr>
          <p:cNvPr id="27" name="TextBox 26">
            <a:extLst>
              <a:ext uri="{FF2B5EF4-FFF2-40B4-BE49-F238E27FC236}">
                <a16:creationId xmlns:a16="http://schemas.microsoft.com/office/drawing/2014/main" id="{D381D7C2-471B-EDE9-531D-6D915D7F5605}"/>
              </a:ext>
            </a:extLst>
          </p:cNvPr>
          <p:cNvSpPr txBox="1"/>
          <p:nvPr/>
        </p:nvSpPr>
        <p:spPr>
          <a:xfrm>
            <a:off x="9087863" y="5304291"/>
            <a:ext cx="718402" cy="369332"/>
          </a:xfrm>
          <a:prstGeom prst="rect">
            <a:avLst/>
          </a:prstGeom>
          <a:noFill/>
        </p:spPr>
        <p:txBody>
          <a:bodyPr wrap="none" rtlCol="0">
            <a:spAutoFit/>
          </a:bodyPr>
          <a:lstStyle/>
          <a:p>
            <a:r>
              <a:rPr lang="da-DK" dirty="0"/>
              <a:t>Hofor</a:t>
            </a:r>
          </a:p>
        </p:txBody>
      </p:sp>
      <p:sp>
        <p:nvSpPr>
          <p:cNvPr id="28" name="TextBox 27">
            <a:extLst>
              <a:ext uri="{FF2B5EF4-FFF2-40B4-BE49-F238E27FC236}">
                <a16:creationId xmlns:a16="http://schemas.microsoft.com/office/drawing/2014/main" id="{A9C4B585-ED08-5177-A131-AF3296E2E30C}"/>
              </a:ext>
            </a:extLst>
          </p:cNvPr>
          <p:cNvSpPr txBox="1"/>
          <p:nvPr/>
        </p:nvSpPr>
        <p:spPr>
          <a:xfrm>
            <a:off x="9268686" y="4517979"/>
            <a:ext cx="1680332" cy="369332"/>
          </a:xfrm>
          <a:prstGeom prst="rect">
            <a:avLst/>
          </a:prstGeom>
          <a:noFill/>
        </p:spPr>
        <p:txBody>
          <a:bodyPr wrap="none" rtlCol="0">
            <a:spAutoFit/>
          </a:bodyPr>
          <a:lstStyle/>
          <a:p>
            <a:r>
              <a:rPr lang="da-DK" dirty="0"/>
              <a:t>Energi Danmark</a:t>
            </a:r>
          </a:p>
        </p:txBody>
      </p:sp>
      <p:sp>
        <p:nvSpPr>
          <p:cNvPr id="29" name="TextBox 28">
            <a:extLst>
              <a:ext uri="{FF2B5EF4-FFF2-40B4-BE49-F238E27FC236}">
                <a16:creationId xmlns:a16="http://schemas.microsoft.com/office/drawing/2014/main" id="{3473B3AC-A6FE-98A7-EA1E-9D284799AEB7}"/>
              </a:ext>
            </a:extLst>
          </p:cNvPr>
          <p:cNvSpPr txBox="1"/>
          <p:nvPr/>
        </p:nvSpPr>
        <p:spPr>
          <a:xfrm>
            <a:off x="9943456" y="5132471"/>
            <a:ext cx="2160143" cy="369332"/>
          </a:xfrm>
          <a:prstGeom prst="rect">
            <a:avLst/>
          </a:prstGeom>
          <a:noFill/>
        </p:spPr>
        <p:txBody>
          <a:bodyPr wrap="none" rtlCol="0">
            <a:spAutoFit/>
          </a:bodyPr>
          <a:lstStyle/>
          <a:p>
            <a:r>
              <a:rPr lang="da-DK" dirty="0"/>
              <a:t>Danske Commodities</a:t>
            </a:r>
          </a:p>
        </p:txBody>
      </p:sp>
      <p:sp>
        <p:nvSpPr>
          <p:cNvPr id="30" name="TextBox 29">
            <a:extLst>
              <a:ext uri="{FF2B5EF4-FFF2-40B4-BE49-F238E27FC236}">
                <a16:creationId xmlns:a16="http://schemas.microsoft.com/office/drawing/2014/main" id="{3BB8159D-EB33-8AE0-882A-41C27C2C10A6}"/>
              </a:ext>
            </a:extLst>
          </p:cNvPr>
          <p:cNvSpPr txBox="1"/>
          <p:nvPr/>
        </p:nvSpPr>
        <p:spPr>
          <a:xfrm>
            <a:off x="9876731" y="5964795"/>
            <a:ext cx="718402" cy="369332"/>
          </a:xfrm>
          <a:prstGeom prst="rect">
            <a:avLst/>
          </a:prstGeom>
          <a:noFill/>
        </p:spPr>
        <p:txBody>
          <a:bodyPr wrap="none" rtlCol="0">
            <a:spAutoFit/>
          </a:bodyPr>
          <a:lstStyle/>
          <a:p>
            <a:r>
              <a:rPr lang="da-DK" dirty="0"/>
              <a:t>Volue</a:t>
            </a:r>
          </a:p>
        </p:txBody>
      </p:sp>
    </p:spTree>
    <p:extLst>
      <p:ext uri="{BB962C8B-B14F-4D97-AF65-F5344CB8AC3E}">
        <p14:creationId xmlns:p14="http://schemas.microsoft.com/office/powerpoint/2010/main" val="155064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3">
            <a:extLst>
              <a:ext uri="{FF2B5EF4-FFF2-40B4-BE49-F238E27FC236}">
                <a16:creationId xmlns:a16="http://schemas.microsoft.com/office/drawing/2014/main" id="{F2D5E652-864C-44C1-9C44-4DAF32F90919}"/>
              </a:ext>
            </a:extLst>
          </p:cNvPr>
          <p:cNvSpPr txBox="1"/>
          <p:nvPr/>
        </p:nvSpPr>
        <p:spPr>
          <a:xfrm>
            <a:off x="222903" y="440794"/>
            <a:ext cx="6929264" cy="830997"/>
          </a:xfrm>
          <a:prstGeom prst="rect">
            <a:avLst/>
          </a:prstGeom>
          <a:noFill/>
        </p:spPr>
        <p:txBody>
          <a:bodyPr wrap="square" rtlCol="0">
            <a:spAutoFit/>
          </a:bodyPr>
          <a:lstStyle>
            <a:defPPr>
              <a:defRPr lang="da-DK"/>
            </a:defPPr>
            <a:lvl1pPr>
              <a:defRPr sz="3700" b="1">
                <a:solidFill>
                  <a:schemeClr val="tx2"/>
                </a:solidFill>
                <a:latin typeface="Arial" panose="020B0604020202020204" pitchFamily="34" charset="0"/>
                <a:ea typeface="+mj-ea"/>
                <a:cs typeface="Arial" panose="020B0604020202020204" pitchFamily="34" charset="0"/>
              </a:defRPr>
            </a:lvl1pPr>
          </a:lstStyle>
          <a:p>
            <a:r>
              <a:rPr lang="da-DK" dirty="0" err="1"/>
              <a:t>PPAs</a:t>
            </a:r>
            <a:endParaRPr lang="da-DK" dirty="0"/>
          </a:p>
        </p:txBody>
      </p:sp>
      <p:sp>
        <p:nvSpPr>
          <p:cNvPr id="13" name="TextBox 12">
            <a:extLst>
              <a:ext uri="{FF2B5EF4-FFF2-40B4-BE49-F238E27FC236}">
                <a16:creationId xmlns:a16="http://schemas.microsoft.com/office/drawing/2014/main" id="{40DFD5C4-F61D-4C31-99FA-693929CBCB24}"/>
              </a:ext>
            </a:extLst>
          </p:cNvPr>
          <p:cNvSpPr txBox="1"/>
          <p:nvPr/>
        </p:nvSpPr>
        <p:spPr>
          <a:xfrm>
            <a:off x="222903" y="1117423"/>
            <a:ext cx="7000017" cy="400110"/>
          </a:xfrm>
          <a:prstGeom prst="rect">
            <a:avLst/>
          </a:prstGeom>
          <a:noFill/>
        </p:spPr>
        <p:txBody>
          <a:bodyPr wrap="square">
            <a:spAutoFit/>
          </a:bodyPr>
          <a:lstStyle/>
          <a:p>
            <a:pPr algn="just"/>
            <a:r>
              <a:rPr lang="en-US" sz="2000" b="1">
                <a:latin typeface="Arial" panose="020B0604020202020204" pitchFamily="34" charset="0"/>
                <a:ea typeface="Inter" panose="02000503000000020004" pitchFamily="2" charset="0"/>
                <a:cs typeface="Arial" panose="020B0604020202020204" pitchFamily="34" charset="0"/>
              </a:rPr>
              <a:t>What is a PPA?</a:t>
            </a:r>
            <a:endParaRPr lang="en-US" sz="2000">
              <a:latin typeface="Arial" panose="020B0604020202020204" pitchFamily="34" charset="0"/>
              <a:ea typeface="Inter" panose="02000503000000020004" pitchFamily="2" charset="0"/>
              <a:cs typeface="Arial" panose="020B0604020202020204" pitchFamily="34" charset="0"/>
            </a:endParaRPr>
          </a:p>
        </p:txBody>
      </p:sp>
      <p:sp>
        <p:nvSpPr>
          <p:cNvPr id="2" name="TextBox 1">
            <a:extLst>
              <a:ext uri="{FF2B5EF4-FFF2-40B4-BE49-F238E27FC236}">
                <a16:creationId xmlns:a16="http://schemas.microsoft.com/office/drawing/2014/main" id="{7DCA2271-66D9-4471-94F0-C7786F7DE8FB}"/>
              </a:ext>
            </a:extLst>
          </p:cNvPr>
          <p:cNvSpPr txBox="1"/>
          <p:nvPr/>
        </p:nvSpPr>
        <p:spPr>
          <a:xfrm>
            <a:off x="332763" y="1674674"/>
            <a:ext cx="5533428" cy="830997"/>
          </a:xfrm>
          <a:prstGeom prst="rect">
            <a:avLst/>
          </a:prstGeom>
          <a:noFill/>
          <a:ln w="28575">
            <a:solidFill>
              <a:srgbClr val="063A2F"/>
            </a:solidFill>
            <a:prstDash val="dash"/>
          </a:ln>
        </p:spPr>
        <p:txBody>
          <a:bodyPr wrap="square" rtlCol="0">
            <a:spAutoFit/>
          </a:bodyPr>
          <a:lstStyle/>
          <a:p>
            <a:pPr algn="ctr"/>
            <a:r>
              <a:rPr lang="en-US" sz="1600" dirty="0"/>
              <a:t>A PPA is a contract between two parties, one which generates electricity (the seller) and one which is looking to purchase electricity (the buyer). </a:t>
            </a:r>
            <a:r>
              <a:rPr lang="en-US" sz="1600" i="1" dirty="0"/>
              <a:t>(Wikipedia, 2023)</a:t>
            </a:r>
            <a:endParaRPr lang="da-DK" sz="1600" i="1" dirty="0"/>
          </a:p>
        </p:txBody>
      </p:sp>
      <p:sp>
        <p:nvSpPr>
          <p:cNvPr id="10" name="Rektangel 56">
            <a:extLst>
              <a:ext uri="{FF2B5EF4-FFF2-40B4-BE49-F238E27FC236}">
                <a16:creationId xmlns:a16="http://schemas.microsoft.com/office/drawing/2014/main" id="{495CDF5C-A0BF-4695-B4E7-5DED998903D6}"/>
              </a:ext>
            </a:extLst>
          </p:cNvPr>
          <p:cNvSpPr/>
          <p:nvPr/>
        </p:nvSpPr>
        <p:spPr>
          <a:xfrm>
            <a:off x="5983149" y="821006"/>
            <a:ext cx="5985948" cy="5471166"/>
          </a:xfrm>
          <a:prstGeom prst="rect">
            <a:avLst/>
          </a:prstGeom>
          <a:solidFill>
            <a:srgbClr val="063A2F"/>
          </a:solidFill>
          <a:ln>
            <a:solidFill>
              <a:srgbClr val="063A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12" name="Billede 57">
            <a:extLst>
              <a:ext uri="{FF2B5EF4-FFF2-40B4-BE49-F238E27FC236}">
                <a16:creationId xmlns:a16="http://schemas.microsoft.com/office/drawing/2014/main" id="{07D754F2-6849-41DF-8003-DA2D97F756AC}"/>
              </a:ext>
            </a:extLst>
          </p:cNvPr>
          <p:cNvPicPr>
            <a:picLocks noChangeAspect="1"/>
          </p:cNvPicPr>
          <p:nvPr/>
        </p:nvPicPr>
        <p:blipFill rotWithShape="1">
          <a:blip r:embed="rId2">
            <a:extLst>
              <a:ext uri="{28A0092B-C50C-407E-A947-70E740481C1C}">
                <a14:useLocalDpi xmlns:a14="http://schemas.microsoft.com/office/drawing/2010/main" val="0"/>
              </a:ext>
            </a:extLst>
          </a:blip>
          <a:srcRect l="1681" r="16219"/>
          <a:stretch/>
        </p:blipFill>
        <p:spPr>
          <a:xfrm>
            <a:off x="6093617" y="704050"/>
            <a:ext cx="5992438" cy="5471166"/>
          </a:xfrm>
          <a:prstGeom prst="rect">
            <a:avLst/>
          </a:prstGeom>
        </p:spPr>
      </p:pic>
      <p:sp>
        <p:nvSpPr>
          <p:cNvPr id="8" name="TextBox 7">
            <a:extLst>
              <a:ext uri="{FF2B5EF4-FFF2-40B4-BE49-F238E27FC236}">
                <a16:creationId xmlns:a16="http://schemas.microsoft.com/office/drawing/2014/main" id="{B40ABDA6-854B-4A25-BFF3-2264E0A95960}"/>
              </a:ext>
            </a:extLst>
          </p:cNvPr>
          <p:cNvSpPr txBox="1"/>
          <p:nvPr/>
        </p:nvSpPr>
        <p:spPr>
          <a:xfrm>
            <a:off x="332760" y="2822752"/>
            <a:ext cx="5533429" cy="1815882"/>
          </a:xfrm>
          <a:prstGeom prst="rect">
            <a:avLst/>
          </a:prstGeom>
          <a:noFill/>
          <a:ln w="28575">
            <a:solidFill>
              <a:srgbClr val="063A2F"/>
            </a:solidFill>
            <a:prstDash val="dash"/>
          </a:ln>
        </p:spPr>
        <p:txBody>
          <a:bodyPr wrap="square" rtlCol="0">
            <a:spAutoFit/>
          </a:bodyPr>
          <a:lstStyle/>
          <a:p>
            <a:pPr algn="just"/>
            <a:r>
              <a:rPr lang="en-US" sz="1600" dirty="0"/>
              <a:t>Why a producer enters a PPA?</a:t>
            </a:r>
          </a:p>
          <a:p>
            <a:pPr marL="285750" indent="-285750" algn="just">
              <a:buFontTx/>
              <a:buChar char="-"/>
            </a:pPr>
            <a:r>
              <a:rPr lang="en-US" sz="1600" b="1" dirty="0"/>
              <a:t>Price fixing. </a:t>
            </a:r>
            <a:r>
              <a:rPr lang="en-US" sz="1600" dirty="0"/>
              <a:t>Eliminate price volatility, deterministic cash flow, bankable project (i.e., access to lenders)</a:t>
            </a:r>
          </a:p>
          <a:p>
            <a:pPr marL="285750" indent="-285750" algn="just">
              <a:buFontTx/>
              <a:buChar char="-"/>
            </a:pPr>
            <a:r>
              <a:rPr lang="en-US" sz="1600" b="1" dirty="0"/>
              <a:t>Reduce risks. </a:t>
            </a:r>
            <a:r>
              <a:rPr lang="en-US" sz="1600" dirty="0"/>
              <a:t>Depending on the structure, the producer offload risks (e.g., profile, price, volume etc.) for a fee</a:t>
            </a:r>
          </a:p>
          <a:p>
            <a:pPr marL="285750" indent="-285750" algn="just">
              <a:buFontTx/>
              <a:buChar char="-"/>
            </a:pPr>
            <a:r>
              <a:rPr lang="en-US" sz="1600" b="1" dirty="0"/>
              <a:t>Market access. </a:t>
            </a:r>
            <a:r>
              <a:rPr lang="en-US" sz="1600" dirty="0"/>
              <a:t>The need to have a trader to be BRP (balance responsible party) and trade on the wholesale markets</a:t>
            </a:r>
            <a:endParaRPr lang="en-US" sz="1600" b="1" dirty="0"/>
          </a:p>
        </p:txBody>
      </p:sp>
      <p:sp>
        <p:nvSpPr>
          <p:cNvPr id="14" name="TextBox 13">
            <a:extLst>
              <a:ext uri="{FF2B5EF4-FFF2-40B4-BE49-F238E27FC236}">
                <a16:creationId xmlns:a16="http://schemas.microsoft.com/office/drawing/2014/main" id="{7974FD17-498E-4876-A456-C75EF3992B84}"/>
              </a:ext>
            </a:extLst>
          </p:cNvPr>
          <p:cNvSpPr txBox="1"/>
          <p:nvPr/>
        </p:nvSpPr>
        <p:spPr>
          <a:xfrm>
            <a:off x="332761" y="4955716"/>
            <a:ext cx="5533429" cy="1569660"/>
          </a:xfrm>
          <a:prstGeom prst="rect">
            <a:avLst/>
          </a:prstGeom>
          <a:noFill/>
          <a:ln w="28575">
            <a:solidFill>
              <a:srgbClr val="063A2F"/>
            </a:solidFill>
            <a:prstDash val="dash"/>
          </a:ln>
        </p:spPr>
        <p:txBody>
          <a:bodyPr wrap="square" rtlCol="0">
            <a:spAutoFit/>
          </a:bodyPr>
          <a:lstStyle/>
          <a:p>
            <a:pPr algn="just"/>
            <a:r>
              <a:rPr lang="en-US" sz="1600" dirty="0"/>
              <a:t>Why a trader enters a PPA?</a:t>
            </a:r>
          </a:p>
          <a:p>
            <a:pPr marL="285750" indent="-285750" algn="just">
              <a:buFontTx/>
              <a:buChar char="-"/>
            </a:pPr>
            <a:r>
              <a:rPr lang="en-US" sz="1600" b="1" dirty="0"/>
              <a:t>Managing the asset owners' risk for a premium. </a:t>
            </a:r>
            <a:r>
              <a:rPr lang="en-US" sz="1600" dirty="0"/>
              <a:t>With better knowledge and access to the markets traders can manage risk for a premium</a:t>
            </a:r>
          </a:p>
          <a:p>
            <a:pPr marL="285750" indent="-285750" algn="just">
              <a:buFontTx/>
              <a:buChar char="-"/>
            </a:pPr>
            <a:r>
              <a:rPr lang="en-US" sz="1600" b="1" dirty="0"/>
              <a:t>Portfolio diversification. </a:t>
            </a:r>
            <a:r>
              <a:rPr lang="en-US" sz="1600" dirty="0"/>
              <a:t>By technology, location, profile and structure etc.</a:t>
            </a:r>
            <a:endParaRPr lang="en-US" sz="1600" b="1" dirty="0"/>
          </a:p>
        </p:txBody>
      </p:sp>
      <p:sp>
        <p:nvSpPr>
          <p:cNvPr id="4" name="Slide Number Placeholder 3">
            <a:extLst>
              <a:ext uri="{FF2B5EF4-FFF2-40B4-BE49-F238E27FC236}">
                <a16:creationId xmlns:a16="http://schemas.microsoft.com/office/drawing/2014/main" id="{690CA697-E92C-C844-D1A6-978A1C189D45}"/>
              </a:ext>
            </a:extLst>
          </p:cNvPr>
          <p:cNvSpPr>
            <a:spLocks noGrp="1"/>
          </p:cNvSpPr>
          <p:nvPr>
            <p:ph type="sldNum" sz="quarter" idx="4294967295"/>
          </p:nvPr>
        </p:nvSpPr>
        <p:spPr>
          <a:xfrm>
            <a:off x="9448800" y="6356350"/>
            <a:ext cx="2743200" cy="365125"/>
          </a:xfrm>
          <a:prstGeom prst="rect">
            <a:avLst/>
          </a:prstGeom>
        </p:spPr>
        <p:txBody>
          <a:bodyPr/>
          <a:lstStyle/>
          <a:p>
            <a:fld id="{5741C6F1-C35C-473D-89B3-475F6F663683}" type="slidenum">
              <a:rPr lang="da-DK" smtClean="0"/>
              <a:t>3</a:t>
            </a:fld>
            <a:endParaRPr lang="da-DK" dirty="0"/>
          </a:p>
        </p:txBody>
      </p:sp>
    </p:spTree>
    <p:extLst>
      <p:ext uri="{BB962C8B-B14F-4D97-AF65-F5344CB8AC3E}">
        <p14:creationId xmlns:p14="http://schemas.microsoft.com/office/powerpoint/2010/main" val="237435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C9D6DA1A-65BD-2BB7-914B-856010AB1D8F}"/>
              </a:ext>
            </a:extLst>
          </p:cNvPr>
          <p:cNvSpPr txBox="1">
            <a:spLocks/>
          </p:cNvSpPr>
          <p:nvPr/>
        </p:nvSpPr>
        <p:spPr>
          <a:xfrm>
            <a:off x="0" y="60928"/>
            <a:ext cx="12192000" cy="4198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a-DK" sz="3200" dirty="0">
                <a:solidFill>
                  <a:schemeClr val="accent1"/>
                </a:solidFill>
                <a:latin typeface="Calibri" panose="020F0502020204030204" pitchFamily="34" charset="0"/>
                <a:cs typeface="Calibri" panose="020F0502020204030204" pitchFamily="34" charset="0"/>
              </a:rPr>
              <a:t>PPA Structures</a:t>
            </a:r>
          </a:p>
        </p:txBody>
      </p:sp>
      <p:sp>
        <p:nvSpPr>
          <p:cNvPr id="11" name="TextBox 10">
            <a:extLst>
              <a:ext uri="{FF2B5EF4-FFF2-40B4-BE49-F238E27FC236}">
                <a16:creationId xmlns:a16="http://schemas.microsoft.com/office/drawing/2014/main" id="{7EF0E709-6B9D-45E7-A339-BF74CDAFDFB1}"/>
              </a:ext>
            </a:extLst>
          </p:cNvPr>
          <p:cNvSpPr txBox="1"/>
          <p:nvPr/>
        </p:nvSpPr>
        <p:spPr>
          <a:xfrm>
            <a:off x="1" y="735955"/>
            <a:ext cx="6095999" cy="5386090"/>
          </a:xfrm>
          <a:prstGeom prst="rect">
            <a:avLst/>
          </a:prstGeom>
          <a:noFill/>
        </p:spPr>
        <p:txBody>
          <a:bodyPr wrap="square" rtlCol="0">
            <a:spAutoFit/>
          </a:bodyPr>
          <a:lstStyle/>
          <a:p>
            <a:pPr algn="just"/>
            <a:r>
              <a:rPr lang="da-DK" sz="2200" b="1" dirty="0"/>
              <a:t>Merchant </a:t>
            </a:r>
            <a:r>
              <a:rPr lang="da-DK" sz="2200" dirty="0"/>
              <a:t>– Trader takes on the role as BRP. Trader settles the asset owner with spot power prices and takes a fee for the risks involved.</a:t>
            </a:r>
          </a:p>
          <a:p>
            <a:pPr marL="285750" indent="-285750" algn="just">
              <a:buFont typeface="Wingdings" panose="05000000000000000000" pitchFamily="2" charset="2"/>
              <a:buChar char="§"/>
            </a:pPr>
            <a:endParaRPr lang="da-DK" sz="2200" dirty="0">
              <a:solidFill>
                <a:schemeClr val="accent1">
                  <a:lumMod val="60000"/>
                  <a:lumOff val="40000"/>
                </a:schemeClr>
              </a:solidFill>
            </a:endParaRPr>
          </a:p>
          <a:p>
            <a:pPr marL="285750" indent="-285750" algn="just">
              <a:buClr>
                <a:schemeClr val="accent1"/>
              </a:buClr>
              <a:buFont typeface="Wingdings" panose="05000000000000000000" pitchFamily="2" charset="2"/>
              <a:buChar char="§"/>
            </a:pPr>
            <a:r>
              <a:rPr lang="da-DK" sz="2200" dirty="0"/>
              <a:t>The</a:t>
            </a:r>
            <a:r>
              <a:rPr lang="da-DK" sz="2200" dirty="0">
                <a:solidFill>
                  <a:schemeClr val="accent1">
                    <a:lumMod val="60000"/>
                    <a:lumOff val="40000"/>
                  </a:schemeClr>
                </a:solidFill>
              </a:rPr>
              <a:t> </a:t>
            </a:r>
            <a:r>
              <a:rPr lang="da-DK" sz="2200" dirty="0"/>
              <a:t>trader effectively guarantees spot minus fee as income for the assets power output.</a:t>
            </a:r>
          </a:p>
          <a:p>
            <a:pPr algn="just">
              <a:buClr>
                <a:schemeClr val="accent1"/>
              </a:buClr>
            </a:pPr>
            <a:endParaRPr lang="da-DK" sz="2200" dirty="0"/>
          </a:p>
          <a:p>
            <a:pPr marL="285750" indent="-285750" algn="just">
              <a:buClr>
                <a:schemeClr val="accent1"/>
              </a:buClr>
              <a:buFont typeface="Wingdings" panose="05000000000000000000" pitchFamily="2" charset="2"/>
              <a:buChar char="§"/>
            </a:pPr>
            <a:r>
              <a:rPr lang="da-DK" sz="2200" dirty="0"/>
              <a:t>Trader manges its risk through forecasting asset production and trading the short-term power markets.</a:t>
            </a:r>
          </a:p>
          <a:p>
            <a:pPr marL="285750" indent="-285750" algn="just">
              <a:buClr>
                <a:schemeClr val="accent1"/>
              </a:buClr>
              <a:buFont typeface="Wingdings" panose="05000000000000000000" pitchFamily="2" charset="2"/>
              <a:buChar char="§"/>
            </a:pPr>
            <a:endParaRPr lang="da-DK" sz="2200" dirty="0"/>
          </a:p>
          <a:p>
            <a:pPr marL="285750" indent="-285750" algn="just">
              <a:buClr>
                <a:schemeClr val="accent1"/>
              </a:buClr>
              <a:buFont typeface="Wingdings" panose="05000000000000000000" pitchFamily="2" charset="2"/>
              <a:buChar char="§"/>
            </a:pPr>
            <a:r>
              <a:rPr lang="da-DK" sz="2200" dirty="0"/>
              <a:t>As BRP the trader is responsible for volumes produced towards the TSO and is exposed towards the imbalance regulation price.</a:t>
            </a:r>
          </a:p>
          <a:p>
            <a:endParaRPr lang="da-DK" dirty="0"/>
          </a:p>
          <a:p>
            <a:r>
              <a:rPr lang="da-DK" dirty="0"/>
              <a:t> </a:t>
            </a:r>
          </a:p>
        </p:txBody>
      </p:sp>
      <p:sp>
        <p:nvSpPr>
          <p:cNvPr id="13" name="TextBox 12">
            <a:extLst>
              <a:ext uri="{FF2B5EF4-FFF2-40B4-BE49-F238E27FC236}">
                <a16:creationId xmlns:a16="http://schemas.microsoft.com/office/drawing/2014/main" id="{E045844E-2F01-361F-76D4-6233CD687A81}"/>
              </a:ext>
            </a:extLst>
          </p:cNvPr>
          <p:cNvSpPr txBox="1"/>
          <p:nvPr/>
        </p:nvSpPr>
        <p:spPr>
          <a:xfrm>
            <a:off x="6096000" y="735955"/>
            <a:ext cx="6095999" cy="5386090"/>
          </a:xfrm>
          <a:prstGeom prst="rect">
            <a:avLst/>
          </a:prstGeom>
          <a:noFill/>
        </p:spPr>
        <p:txBody>
          <a:bodyPr wrap="square">
            <a:spAutoFit/>
          </a:bodyPr>
          <a:lstStyle/>
          <a:p>
            <a:pPr algn="just"/>
            <a:r>
              <a:rPr lang="da-DK" sz="2200" b="1" dirty="0"/>
              <a:t>PaP Price Hedge </a:t>
            </a:r>
            <a:r>
              <a:rPr lang="da-DK" sz="2200" dirty="0"/>
              <a:t>– Trader provides a fixed price on volumes produced. This leaves the trader exposed to ”merchant” risk.</a:t>
            </a:r>
          </a:p>
          <a:p>
            <a:pPr algn="just"/>
            <a:endParaRPr lang="da-DK" sz="2200" dirty="0">
              <a:solidFill>
                <a:schemeClr val="accent1">
                  <a:lumMod val="60000"/>
                  <a:lumOff val="40000"/>
                </a:schemeClr>
              </a:solidFill>
            </a:endParaRPr>
          </a:p>
          <a:p>
            <a:pPr marL="285750" indent="-285750" algn="just">
              <a:buClr>
                <a:schemeClr val="accent1"/>
              </a:buClr>
              <a:buFont typeface="Wingdings" panose="05000000000000000000" pitchFamily="2" charset="2"/>
              <a:buChar char="§"/>
            </a:pPr>
            <a:r>
              <a:rPr lang="da-DK" sz="2200" dirty="0"/>
              <a:t>On merchant side the spot minus fee is guaranteed, so the price hedge has the risk of the difference between spot and the given fix price. </a:t>
            </a:r>
          </a:p>
          <a:p>
            <a:pPr marL="285750" indent="-285750" algn="just">
              <a:buClr>
                <a:schemeClr val="accent1"/>
              </a:buClr>
              <a:buFont typeface="Wingdings" panose="05000000000000000000" pitchFamily="2" charset="2"/>
              <a:buChar char="§"/>
            </a:pPr>
            <a:endParaRPr lang="da-DK" sz="2200" dirty="0"/>
          </a:p>
          <a:p>
            <a:pPr marL="285750" indent="-285750" algn="just">
              <a:buClr>
                <a:schemeClr val="accent1"/>
              </a:buClr>
              <a:buFont typeface="Wingdings" panose="05000000000000000000" pitchFamily="2" charset="2"/>
              <a:buChar char="§"/>
            </a:pPr>
            <a:r>
              <a:rPr lang="da-DK" sz="2200" dirty="0"/>
              <a:t>Trader manages risk trough derivatives (futures, forwards, OTC. Products) and corporate offtakers (cPPA).</a:t>
            </a:r>
          </a:p>
          <a:p>
            <a:pPr marL="285750" indent="-285750" algn="just">
              <a:buClr>
                <a:schemeClr val="accent1"/>
              </a:buClr>
              <a:buFont typeface="Wingdings" panose="05000000000000000000" pitchFamily="2" charset="2"/>
              <a:buChar char="§"/>
            </a:pPr>
            <a:endParaRPr lang="da-DK" sz="2200" dirty="0"/>
          </a:p>
          <a:p>
            <a:pPr marL="285750" indent="-285750" algn="just">
              <a:buClr>
                <a:schemeClr val="accent1"/>
              </a:buClr>
              <a:buFont typeface="Wingdings" panose="05000000000000000000" pitchFamily="2" charset="2"/>
              <a:buChar char="§"/>
            </a:pPr>
            <a:r>
              <a:rPr lang="da-DK" sz="2200" dirty="0"/>
              <a:t>Trader is exposed to Credit Risk, Price Risk, Liquidity risk, Profile Risk, and Volume Risk.</a:t>
            </a:r>
          </a:p>
          <a:p>
            <a:pPr marL="285750" indent="-285750">
              <a:buClr>
                <a:schemeClr val="accent1"/>
              </a:buClr>
              <a:buFont typeface="Wingdings" panose="05000000000000000000" pitchFamily="2" charset="2"/>
              <a:buChar char="§"/>
            </a:pPr>
            <a:endParaRPr lang="da-DK" dirty="0"/>
          </a:p>
          <a:p>
            <a:pPr marL="285750" indent="-285750">
              <a:buClr>
                <a:schemeClr val="accent1"/>
              </a:buClr>
              <a:buFont typeface="Wingdings" panose="05000000000000000000" pitchFamily="2" charset="2"/>
              <a:buChar char="§"/>
            </a:pPr>
            <a:endParaRPr lang="da-DK" dirty="0"/>
          </a:p>
        </p:txBody>
      </p:sp>
    </p:spTree>
    <p:extLst>
      <p:ext uri="{BB962C8B-B14F-4D97-AF65-F5344CB8AC3E}">
        <p14:creationId xmlns:p14="http://schemas.microsoft.com/office/powerpoint/2010/main" val="418000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D30383-6D86-4605-93E5-585293C14DC2}"/>
              </a:ext>
            </a:extLst>
          </p:cNvPr>
          <p:cNvSpPr>
            <a:spLocks noGrp="1"/>
          </p:cNvSpPr>
          <p:nvPr>
            <p:ph type="title"/>
          </p:nvPr>
        </p:nvSpPr>
        <p:spPr/>
        <p:txBody>
          <a:bodyPr/>
          <a:lstStyle/>
          <a:p>
            <a:pPr algn="ctr"/>
            <a:r>
              <a:rPr lang="da-DK" dirty="0"/>
              <a:t>The Power System</a:t>
            </a:r>
          </a:p>
        </p:txBody>
      </p:sp>
      <p:sp>
        <p:nvSpPr>
          <p:cNvPr id="2" name="Text Placeholder 1">
            <a:extLst>
              <a:ext uri="{FF2B5EF4-FFF2-40B4-BE49-F238E27FC236}">
                <a16:creationId xmlns:a16="http://schemas.microsoft.com/office/drawing/2014/main" id="{B782BF00-6718-244A-159A-0B3037D9B8DF}"/>
              </a:ext>
            </a:extLst>
          </p:cNvPr>
          <p:cNvSpPr>
            <a:spLocks noGrp="1"/>
          </p:cNvSpPr>
          <p:nvPr>
            <p:ph type="body" sz="half" idx="2"/>
          </p:nvPr>
        </p:nvSpPr>
        <p:spPr/>
        <p:txBody>
          <a:bodyPr/>
          <a:lstStyle/>
          <a:p>
            <a:endParaRPr lang="da-DK"/>
          </a:p>
        </p:txBody>
      </p:sp>
      <p:sp>
        <p:nvSpPr>
          <p:cNvPr id="28" name="Arrow: Right 27">
            <a:extLst>
              <a:ext uri="{FF2B5EF4-FFF2-40B4-BE49-F238E27FC236}">
                <a16:creationId xmlns:a16="http://schemas.microsoft.com/office/drawing/2014/main" id="{F87F3390-3904-4E91-B3D4-B3B2D8455D6F}"/>
              </a:ext>
            </a:extLst>
          </p:cNvPr>
          <p:cNvSpPr/>
          <p:nvPr/>
        </p:nvSpPr>
        <p:spPr>
          <a:xfrm>
            <a:off x="790467" y="3197912"/>
            <a:ext cx="11107917" cy="7289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1" name="Rectangle 30">
            <a:extLst>
              <a:ext uri="{FF2B5EF4-FFF2-40B4-BE49-F238E27FC236}">
                <a16:creationId xmlns:a16="http://schemas.microsoft.com/office/drawing/2014/main" id="{A7ADD9AF-942B-456B-81BA-F40EE77DDB3B}"/>
              </a:ext>
            </a:extLst>
          </p:cNvPr>
          <p:cNvSpPr/>
          <p:nvPr/>
        </p:nvSpPr>
        <p:spPr>
          <a:xfrm>
            <a:off x="1507140" y="3060735"/>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Day-ahead spot market</a:t>
            </a:r>
          </a:p>
        </p:txBody>
      </p:sp>
      <p:sp>
        <p:nvSpPr>
          <p:cNvPr id="32" name="Rectangle 31">
            <a:extLst>
              <a:ext uri="{FF2B5EF4-FFF2-40B4-BE49-F238E27FC236}">
                <a16:creationId xmlns:a16="http://schemas.microsoft.com/office/drawing/2014/main" id="{D9A6ADE8-D8F9-470A-A8CD-558B5F53B97B}"/>
              </a:ext>
            </a:extLst>
          </p:cNvPr>
          <p:cNvSpPr/>
          <p:nvPr/>
        </p:nvSpPr>
        <p:spPr>
          <a:xfrm>
            <a:off x="3489785" y="3060735"/>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Intraday market</a:t>
            </a:r>
          </a:p>
        </p:txBody>
      </p:sp>
      <p:sp>
        <p:nvSpPr>
          <p:cNvPr id="33" name="Rectangle 32">
            <a:extLst>
              <a:ext uri="{FF2B5EF4-FFF2-40B4-BE49-F238E27FC236}">
                <a16:creationId xmlns:a16="http://schemas.microsoft.com/office/drawing/2014/main" id="{14BF9987-FFB9-43D3-B8DE-23068DF34D5C}"/>
              </a:ext>
            </a:extLst>
          </p:cNvPr>
          <p:cNvSpPr/>
          <p:nvPr/>
        </p:nvSpPr>
        <p:spPr>
          <a:xfrm>
            <a:off x="5472430" y="3060734"/>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Balancing market</a:t>
            </a:r>
          </a:p>
        </p:txBody>
      </p:sp>
      <p:sp>
        <p:nvSpPr>
          <p:cNvPr id="34" name="Rectangle 33">
            <a:extLst>
              <a:ext uri="{FF2B5EF4-FFF2-40B4-BE49-F238E27FC236}">
                <a16:creationId xmlns:a16="http://schemas.microsoft.com/office/drawing/2014/main" id="{4578F244-7213-4431-A03F-167F346530A2}"/>
              </a:ext>
            </a:extLst>
          </p:cNvPr>
          <p:cNvSpPr/>
          <p:nvPr/>
        </p:nvSpPr>
        <p:spPr>
          <a:xfrm>
            <a:off x="7400420" y="3060734"/>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Physical exchange</a:t>
            </a:r>
          </a:p>
        </p:txBody>
      </p:sp>
      <p:cxnSp>
        <p:nvCxnSpPr>
          <p:cNvPr id="35" name="Straight Arrow Connector 34">
            <a:extLst>
              <a:ext uri="{FF2B5EF4-FFF2-40B4-BE49-F238E27FC236}">
                <a16:creationId xmlns:a16="http://schemas.microsoft.com/office/drawing/2014/main" id="{9EE08E09-48BC-48AC-9AC6-463A4CBC058C}"/>
              </a:ext>
            </a:extLst>
          </p:cNvPr>
          <p:cNvCxnSpPr>
            <a:cxnSpLocks/>
          </p:cNvCxnSpPr>
          <p:nvPr/>
        </p:nvCxnSpPr>
        <p:spPr>
          <a:xfrm>
            <a:off x="790467" y="4679254"/>
            <a:ext cx="10565886"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08AB2230-15EC-4417-8E28-EAF4BE157DA8}"/>
              </a:ext>
            </a:extLst>
          </p:cNvPr>
          <p:cNvSpPr/>
          <p:nvPr/>
        </p:nvSpPr>
        <p:spPr>
          <a:xfrm>
            <a:off x="9674202" y="3068291"/>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Settlement</a:t>
            </a:r>
          </a:p>
        </p:txBody>
      </p:sp>
      <p:cxnSp>
        <p:nvCxnSpPr>
          <p:cNvPr id="37" name="Straight Connector 36">
            <a:extLst>
              <a:ext uri="{FF2B5EF4-FFF2-40B4-BE49-F238E27FC236}">
                <a16:creationId xmlns:a16="http://schemas.microsoft.com/office/drawing/2014/main" id="{906A892A-9F16-4545-A5C7-AD13327477E1}"/>
              </a:ext>
            </a:extLst>
          </p:cNvPr>
          <p:cNvCxnSpPr>
            <a:cxnSpLocks/>
            <a:stCxn id="31" idx="2"/>
          </p:cNvCxnSpPr>
          <p:nvPr/>
        </p:nvCxnSpPr>
        <p:spPr>
          <a:xfrm flipH="1">
            <a:off x="2180000" y="4130410"/>
            <a:ext cx="1" cy="567869"/>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615FC2A-F1BA-4BEB-A95A-EF45CAC55470}"/>
              </a:ext>
            </a:extLst>
          </p:cNvPr>
          <p:cNvCxnSpPr>
            <a:cxnSpLocks/>
            <a:stCxn id="32" idx="2"/>
          </p:cNvCxnSpPr>
          <p:nvPr/>
        </p:nvCxnSpPr>
        <p:spPr>
          <a:xfrm flipH="1">
            <a:off x="4161030" y="4130410"/>
            <a:ext cx="1616"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B9683E2-EE3E-49C0-9934-88BA7D38F577}"/>
              </a:ext>
            </a:extLst>
          </p:cNvPr>
          <p:cNvCxnSpPr>
            <a:cxnSpLocks/>
            <a:stCxn id="33" idx="2"/>
          </p:cNvCxnSpPr>
          <p:nvPr/>
        </p:nvCxnSpPr>
        <p:spPr>
          <a:xfrm flipH="1">
            <a:off x="6142059" y="4130409"/>
            <a:ext cx="3232"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055D99A-B800-4D7A-8A6E-69E2008A0745}"/>
              </a:ext>
            </a:extLst>
          </p:cNvPr>
          <p:cNvCxnSpPr>
            <a:cxnSpLocks/>
          </p:cNvCxnSpPr>
          <p:nvPr/>
        </p:nvCxnSpPr>
        <p:spPr>
          <a:xfrm flipH="1">
            <a:off x="8079260" y="4130409"/>
            <a:ext cx="3078"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7DE9DAF-D5A6-4E17-B936-54EAD751E422}"/>
              </a:ext>
            </a:extLst>
          </p:cNvPr>
          <p:cNvCxnSpPr>
            <a:cxnSpLocks/>
            <a:stCxn id="36" idx="2"/>
          </p:cNvCxnSpPr>
          <p:nvPr/>
        </p:nvCxnSpPr>
        <p:spPr>
          <a:xfrm>
            <a:off x="10347063" y="4137966"/>
            <a:ext cx="0" cy="567868"/>
          </a:xfrm>
          <a:prstGeom prst="line">
            <a:avLst/>
          </a:prstGeom>
          <a:ln w="41275"/>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231FD516-B44B-4F7E-908E-FCF15B274627}"/>
              </a:ext>
            </a:extLst>
          </p:cNvPr>
          <p:cNvSpPr/>
          <p:nvPr/>
        </p:nvSpPr>
        <p:spPr>
          <a:xfrm>
            <a:off x="1507139"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12:00 Day-1</a:t>
            </a:r>
          </a:p>
        </p:txBody>
      </p:sp>
      <p:sp>
        <p:nvSpPr>
          <p:cNvPr id="46" name="Rectangle 45">
            <a:extLst>
              <a:ext uri="{FF2B5EF4-FFF2-40B4-BE49-F238E27FC236}">
                <a16:creationId xmlns:a16="http://schemas.microsoft.com/office/drawing/2014/main" id="{0EA86FDA-C25A-4F45-8166-E1A4C4C76C44}"/>
              </a:ext>
            </a:extLst>
          </p:cNvPr>
          <p:cNvSpPr/>
          <p:nvPr/>
        </p:nvSpPr>
        <p:spPr>
          <a:xfrm>
            <a:off x="3488169"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-1 Hour</a:t>
            </a:r>
          </a:p>
        </p:txBody>
      </p:sp>
      <p:sp>
        <p:nvSpPr>
          <p:cNvPr id="48" name="Rectangle 47">
            <a:extLst>
              <a:ext uri="{FF2B5EF4-FFF2-40B4-BE49-F238E27FC236}">
                <a16:creationId xmlns:a16="http://schemas.microsoft.com/office/drawing/2014/main" id="{14FCF2D4-397A-455F-A0EA-2FB713FB6653}"/>
              </a:ext>
            </a:extLst>
          </p:cNvPr>
          <p:cNvSpPr/>
          <p:nvPr/>
        </p:nvSpPr>
        <p:spPr>
          <a:xfrm>
            <a:off x="5444371"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-45 min</a:t>
            </a:r>
          </a:p>
        </p:txBody>
      </p:sp>
      <p:sp>
        <p:nvSpPr>
          <p:cNvPr id="51" name="Rectangle 50">
            <a:extLst>
              <a:ext uri="{FF2B5EF4-FFF2-40B4-BE49-F238E27FC236}">
                <a16:creationId xmlns:a16="http://schemas.microsoft.com/office/drawing/2014/main" id="{850AB5C0-9097-431C-AB29-406ED33B87D3}"/>
              </a:ext>
            </a:extLst>
          </p:cNvPr>
          <p:cNvSpPr/>
          <p:nvPr/>
        </p:nvSpPr>
        <p:spPr>
          <a:xfrm>
            <a:off x="7132106" y="4859278"/>
            <a:ext cx="1897387"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Hour of operation</a:t>
            </a:r>
          </a:p>
        </p:txBody>
      </p:sp>
      <p:sp>
        <p:nvSpPr>
          <p:cNvPr id="52" name="Rectangle 51">
            <a:extLst>
              <a:ext uri="{FF2B5EF4-FFF2-40B4-BE49-F238E27FC236}">
                <a16:creationId xmlns:a16="http://schemas.microsoft.com/office/drawing/2014/main" id="{33029F0F-F574-459C-BAD5-3ACAD25857FB}"/>
              </a:ext>
            </a:extLst>
          </p:cNvPr>
          <p:cNvSpPr/>
          <p:nvPr/>
        </p:nvSpPr>
        <p:spPr>
          <a:xfrm>
            <a:off x="9674201"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Day + (6) </a:t>
            </a:r>
          </a:p>
        </p:txBody>
      </p:sp>
      <p:cxnSp>
        <p:nvCxnSpPr>
          <p:cNvPr id="53" name="Straight Arrow Connector 52">
            <a:extLst>
              <a:ext uri="{FF2B5EF4-FFF2-40B4-BE49-F238E27FC236}">
                <a16:creationId xmlns:a16="http://schemas.microsoft.com/office/drawing/2014/main" id="{41520EF8-37E4-4F17-80D8-3BF190D47CB0}"/>
              </a:ext>
            </a:extLst>
          </p:cNvPr>
          <p:cNvCxnSpPr>
            <a:cxnSpLocks/>
          </p:cNvCxnSpPr>
          <p:nvPr/>
        </p:nvCxnSpPr>
        <p:spPr>
          <a:xfrm>
            <a:off x="1507139" y="2538397"/>
            <a:ext cx="2653891" cy="0"/>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2123D9ED-4CA4-4BF2-9602-68FDA4820AD3}"/>
              </a:ext>
            </a:extLst>
          </p:cNvPr>
          <p:cNvSpPr/>
          <p:nvPr/>
        </p:nvSpPr>
        <p:spPr>
          <a:xfrm>
            <a:off x="1767414" y="2106966"/>
            <a:ext cx="2162628"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Planning</a:t>
            </a:r>
          </a:p>
        </p:txBody>
      </p:sp>
      <p:cxnSp>
        <p:nvCxnSpPr>
          <p:cNvPr id="58" name="Straight Arrow Connector 57">
            <a:extLst>
              <a:ext uri="{FF2B5EF4-FFF2-40B4-BE49-F238E27FC236}">
                <a16:creationId xmlns:a16="http://schemas.microsoft.com/office/drawing/2014/main" id="{AF080748-1938-4CB0-B7EA-335F33A03984}"/>
              </a:ext>
            </a:extLst>
          </p:cNvPr>
          <p:cNvCxnSpPr>
            <a:cxnSpLocks/>
          </p:cNvCxnSpPr>
          <p:nvPr/>
        </p:nvCxnSpPr>
        <p:spPr>
          <a:xfrm>
            <a:off x="4161030" y="2538397"/>
            <a:ext cx="4491392" cy="0"/>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D02891E6-2AFF-4B0D-9EAA-F5D35904057C}"/>
              </a:ext>
            </a:extLst>
          </p:cNvPr>
          <p:cNvSpPr/>
          <p:nvPr/>
        </p:nvSpPr>
        <p:spPr>
          <a:xfrm>
            <a:off x="4161030" y="2094265"/>
            <a:ext cx="4491392"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Operation</a:t>
            </a:r>
          </a:p>
        </p:txBody>
      </p:sp>
      <p:sp>
        <p:nvSpPr>
          <p:cNvPr id="60" name="Rectangle: Rounded Corners 59">
            <a:extLst>
              <a:ext uri="{FF2B5EF4-FFF2-40B4-BE49-F238E27FC236}">
                <a16:creationId xmlns:a16="http://schemas.microsoft.com/office/drawing/2014/main" id="{F0B11081-FDD2-4A63-9444-585A38BCADF3}"/>
              </a:ext>
            </a:extLst>
          </p:cNvPr>
          <p:cNvSpPr/>
          <p:nvPr/>
        </p:nvSpPr>
        <p:spPr>
          <a:xfrm>
            <a:off x="1425812" y="2642506"/>
            <a:ext cx="3545672" cy="1621262"/>
          </a:xfrm>
          <a:prstGeom prst="round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Financial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3" name="Rectangle: Rounded Corners 62">
            <a:extLst>
              <a:ext uri="{FF2B5EF4-FFF2-40B4-BE49-F238E27FC236}">
                <a16:creationId xmlns:a16="http://schemas.microsoft.com/office/drawing/2014/main" id="{85AD59CC-726E-4795-A47A-EE59B27606E6}"/>
              </a:ext>
            </a:extLst>
          </p:cNvPr>
          <p:cNvSpPr/>
          <p:nvPr/>
        </p:nvSpPr>
        <p:spPr>
          <a:xfrm>
            <a:off x="5364986" y="2642506"/>
            <a:ext cx="3545672" cy="1621262"/>
          </a:xfrm>
          <a:prstGeom prst="round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Physical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4" name="Pentagon 40">
            <a:extLst>
              <a:ext uri="{FF2B5EF4-FFF2-40B4-BE49-F238E27FC236}">
                <a16:creationId xmlns:a16="http://schemas.microsoft.com/office/drawing/2014/main" id="{C5208F54-4540-438C-B27A-B8618F70D11C}"/>
              </a:ext>
            </a:extLst>
          </p:cNvPr>
          <p:cNvSpPr/>
          <p:nvPr/>
        </p:nvSpPr>
        <p:spPr>
          <a:xfrm rot="16200000">
            <a:off x="1676000"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Common marginal price market</a:t>
            </a:r>
          </a:p>
        </p:txBody>
      </p:sp>
      <p:sp>
        <p:nvSpPr>
          <p:cNvPr id="66" name="Pentagon 40">
            <a:extLst>
              <a:ext uri="{FF2B5EF4-FFF2-40B4-BE49-F238E27FC236}">
                <a16:creationId xmlns:a16="http://schemas.microsoft.com/office/drawing/2014/main" id="{5BAC738B-FC27-4EF3-BF4A-71D3B0F58A7B}"/>
              </a:ext>
            </a:extLst>
          </p:cNvPr>
          <p:cNvSpPr/>
          <p:nvPr/>
        </p:nvSpPr>
        <p:spPr>
          <a:xfrm rot="16200000">
            <a:off x="4635132" y="4096084"/>
            <a:ext cx="1008000" cy="3301920"/>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Management of short-term imblances</a:t>
            </a:r>
          </a:p>
        </p:txBody>
      </p:sp>
      <p:sp>
        <p:nvSpPr>
          <p:cNvPr id="67" name="Pentagon 40">
            <a:extLst>
              <a:ext uri="{FF2B5EF4-FFF2-40B4-BE49-F238E27FC236}">
                <a16:creationId xmlns:a16="http://schemas.microsoft.com/office/drawing/2014/main" id="{02E61F65-9464-4156-B4CD-BB1274B70A26}"/>
              </a:ext>
            </a:extLst>
          </p:cNvPr>
          <p:cNvSpPr/>
          <p:nvPr/>
        </p:nvSpPr>
        <p:spPr>
          <a:xfrm rot="16200000">
            <a:off x="7576799"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Security of supply</a:t>
            </a:r>
          </a:p>
        </p:txBody>
      </p:sp>
      <p:sp>
        <p:nvSpPr>
          <p:cNvPr id="68" name="Pentagon 40">
            <a:extLst>
              <a:ext uri="{FF2B5EF4-FFF2-40B4-BE49-F238E27FC236}">
                <a16:creationId xmlns:a16="http://schemas.microsoft.com/office/drawing/2014/main" id="{599E4355-B476-4C42-82A5-5C03A68C38A7}"/>
              </a:ext>
            </a:extLst>
          </p:cNvPr>
          <p:cNvSpPr/>
          <p:nvPr/>
        </p:nvSpPr>
        <p:spPr>
          <a:xfrm rot="16200000">
            <a:off x="9843060"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Settlement</a:t>
            </a:r>
          </a:p>
        </p:txBody>
      </p:sp>
      <p:sp>
        <p:nvSpPr>
          <p:cNvPr id="69" name="Rectangle 68">
            <a:extLst>
              <a:ext uri="{FF2B5EF4-FFF2-40B4-BE49-F238E27FC236}">
                <a16:creationId xmlns:a16="http://schemas.microsoft.com/office/drawing/2014/main" id="{698CE4D4-FC40-4582-AF89-C91E5F909DE1}"/>
              </a:ext>
            </a:extLst>
          </p:cNvPr>
          <p:cNvSpPr/>
          <p:nvPr/>
        </p:nvSpPr>
        <p:spPr>
          <a:xfrm>
            <a:off x="0" y="4145003"/>
            <a:ext cx="1032310" cy="1069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Gate Closure</a:t>
            </a:r>
          </a:p>
        </p:txBody>
      </p:sp>
    </p:spTree>
    <p:extLst>
      <p:ext uri="{BB962C8B-B14F-4D97-AF65-F5344CB8AC3E}">
        <p14:creationId xmlns:p14="http://schemas.microsoft.com/office/powerpoint/2010/main" val="4170873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D30383-6D86-4605-93E5-585293C14DC2}"/>
              </a:ext>
            </a:extLst>
          </p:cNvPr>
          <p:cNvSpPr>
            <a:spLocks noGrp="1"/>
          </p:cNvSpPr>
          <p:nvPr>
            <p:ph type="title"/>
          </p:nvPr>
        </p:nvSpPr>
        <p:spPr/>
        <p:txBody>
          <a:bodyPr/>
          <a:lstStyle/>
          <a:p>
            <a:pPr algn="ctr"/>
            <a:r>
              <a:rPr lang="da-DK" dirty="0"/>
              <a:t>The Power System</a:t>
            </a:r>
          </a:p>
        </p:txBody>
      </p:sp>
      <p:sp>
        <p:nvSpPr>
          <p:cNvPr id="6" name="Text Placeholder 5">
            <a:extLst>
              <a:ext uri="{FF2B5EF4-FFF2-40B4-BE49-F238E27FC236}">
                <a16:creationId xmlns:a16="http://schemas.microsoft.com/office/drawing/2014/main" id="{412DD6A2-BE8E-5CF5-720B-1ACF1CCD966C}"/>
              </a:ext>
            </a:extLst>
          </p:cNvPr>
          <p:cNvSpPr>
            <a:spLocks noGrp="1"/>
          </p:cNvSpPr>
          <p:nvPr>
            <p:ph type="body" sz="half" idx="2"/>
          </p:nvPr>
        </p:nvSpPr>
        <p:spPr/>
        <p:txBody>
          <a:bodyPr/>
          <a:lstStyle/>
          <a:p>
            <a:endParaRPr lang="da-DK"/>
          </a:p>
        </p:txBody>
      </p:sp>
      <p:sp>
        <p:nvSpPr>
          <p:cNvPr id="28" name="Arrow: Right 27">
            <a:extLst>
              <a:ext uri="{FF2B5EF4-FFF2-40B4-BE49-F238E27FC236}">
                <a16:creationId xmlns:a16="http://schemas.microsoft.com/office/drawing/2014/main" id="{F87F3390-3904-4E91-B3D4-B3B2D8455D6F}"/>
              </a:ext>
            </a:extLst>
          </p:cNvPr>
          <p:cNvSpPr/>
          <p:nvPr/>
        </p:nvSpPr>
        <p:spPr>
          <a:xfrm>
            <a:off x="790467" y="3197912"/>
            <a:ext cx="11107917" cy="7289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1" name="Rectangle 30">
            <a:extLst>
              <a:ext uri="{FF2B5EF4-FFF2-40B4-BE49-F238E27FC236}">
                <a16:creationId xmlns:a16="http://schemas.microsoft.com/office/drawing/2014/main" id="{A7ADD9AF-942B-456B-81BA-F40EE77DDB3B}"/>
              </a:ext>
            </a:extLst>
          </p:cNvPr>
          <p:cNvSpPr/>
          <p:nvPr/>
        </p:nvSpPr>
        <p:spPr>
          <a:xfrm>
            <a:off x="1507140" y="3060735"/>
            <a:ext cx="1345721" cy="1069675"/>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Day-ahead spot market</a:t>
            </a:r>
          </a:p>
        </p:txBody>
      </p:sp>
      <p:sp>
        <p:nvSpPr>
          <p:cNvPr id="32" name="Rectangle 31">
            <a:extLst>
              <a:ext uri="{FF2B5EF4-FFF2-40B4-BE49-F238E27FC236}">
                <a16:creationId xmlns:a16="http://schemas.microsoft.com/office/drawing/2014/main" id="{D9A6ADE8-D8F9-470A-A8CD-558B5F53B97B}"/>
              </a:ext>
            </a:extLst>
          </p:cNvPr>
          <p:cNvSpPr/>
          <p:nvPr/>
        </p:nvSpPr>
        <p:spPr>
          <a:xfrm>
            <a:off x="3489785" y="3060735"/>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Intraday market</a:t>
            </a:r>
          </a:p>
        </p:txBody>
      </p:sp>
      <p:sp>
        <p:nvSpPr>
          <p:cNvPr id="33" name="Rectangle 32">
            <a:extLst>
              <a:ext uri="{FF2B5EF4-FFF2-40B4-BE49-F238E27FC236}">
                <a16:creationId xmlns:a16="http://schemas.microsoft.com/office/drawing/2014/main" id="{14BF9987-FFB9-43D3-B8DE-23068DF34D5C}"/>
              </a:ext>
            </a:extLst>
          </p:cNvPr>
          <p:cNvSpPr/>
          <p:nvPr/>
        </p:nvSpPr>
        <p:spPr>
          <a:xfrm>
            <a:off x="5472430" y="3060734"/>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Balancing market</a:t>
            </a:r>
          </a:p>
        </p:txBody>
      </p:sp>
      <p:sp>
        <p:nvSpPr>
          <p:cNvPr id="34" name="Rectangle 33">
            <a:extLst>
              <a:ext uri="{FF2B5EF4-FFF2-40B4-BE49-F238E27FC236}">
                <a16:creationId xmlns:a16="http://schemas.microsoft.com/office/drawing/2014/main" id="{4578F244-7213-4431-A03F-167F346530A2}"/>
              </a:ext>
            </a:extLst>
          </p:cNvPr>
          <p:cNvSpPr/>
          <p:nvPr/>
        </p:nvSpPr>
        <p:spPr>
          <a:xfrm>
            <a:off x="7400420" y="3060734"/>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Physical exchange</a:t>
            </a:r>
          </a:p>
        </p:txBody>
      </p:sp>
      <p:cxnSp>
        <p:nvCxnSpPr>
          <p:cNvPr id="35" name="Straight Arrow Connector 34">
            <a:extLst>
              <a:ext uri="{FF2B5EF4-FFF2-40B4-BE49-F238E27FC236}">
                <a16:creationId xmlns:a16="http://schemas.microsoft.com/office/drawing/2014/main" id="{9EE08E09-48BC-48AC-9AC6-463A4CBC058C}"/>
              </a:ext>
            </a:extLst>
          </p:cNvPr>
          <p:cNvCxnSpPr>
            <a:cxnSpLocks/>
          </p:cNvCxnSpPr>
          <p:nvPr/>
        </p:nvCxnSpPr>
        <p:spPr>
          <a:xfrm>
            <a:off x="790467" y="4679254"/>
            <a:ext cx="10565886"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08AB2230-15EC-4417-8E28-EAF4BE157DA8}"/>
              </a:ext>
            </a:extLst>
          </p:cNvPr>
          <p:cNvSpPr/>
          <p:nvPr/>
        </p:nvSpPr>
        <p:spPr>
          <a:xfrm>
            <a:off x="9674202" y="3068291"/>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Settlement</a:t>
            </a:r>
          </a:p>
        </p:txBody>
      </p:sp>
      <p:cxnSp>
        <p:nvCxnSpPr>
          <p:cNvPr id="37" name="Straight Connector 36">
            <a:extLst>
              <a:ext uri="{FF2B5EF4-FFF2-40B4-BE49-F238E27FC236}">
                <a16:creationId xmlns:a16="http://schemas.microsoft.com/office/drawing/2014/main" id="{906A892A-9F16-4545-A5C7-AD13327477E1}"/>
              </a:ext>
            </a:extLst>
          </p:cNvPr>
          <p:cNvCxnSpPr>
            <a:cxnSpLocks/>
            <a:stCxn id="31" idx="2"/>
          </p:cNvCxnSpPr>
          <p:nvPr/>
        </p:nvCxnSpPr>
        <p:spPr>
          <a:xfrm flipH="1">
            <a:off x="2180000" y="4130410"/>
            <a:ext cx="1" cy="567869"/>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615FC2A-F1BA-4BEB-A95A-EF45CAC55470}"/>
              </a:ext>
            </a:extLst>
          </p:cNvPr>
          <p:cNvCxnSpPr>
            <a:cxnSpLocks/>
            <a:stCxn id="32" idx="2"/>
          </p:cNvCxnSpPr>
          <p:nvPr/>
        </p:nvCxnSpPr>
        <p:spPr>
          <a:xfrm flipH="1">
            <a:off x="4161030" y="4130410"/>
            <a:ext cx="1616"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B9683E2-EE3E-49C0-9934-88BA7D38F577}"/>
              </a:ext>
            </a:extLst>
          </p:cNvPr>
          <p:cNvCxnSpPr>
            <a:cxnSpLocks/>
            <a:stCxn id="33" idx="2"/>
          </p:cNvCxnSpPr>
          <p:nvPr/>
        </p:nvCxnSpPr>
        <p:spPr>
          <a:xfrm flipH="1">
            <a:off x="6142059" y="4130409"/>
            <a:ext cx="3232"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055D99A-B800-4D7A-8A6E-69E2008A0745}"/>
              </a:ext>
            </a:extLst>
          </p:cNvPr>
          <p:cNvCxnSpPr>
            <a:cxnSpLocks/>
          </p:cNvCxnSpPr>
          <p:nvPr/>
        </p:nvCxnSpPr>
        <p:spPr>
          <a:xfrm flipH="1">
            <a:off x="8079260" y="4130409"/>
            <a:ext cx="3078"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7DE9DAF-D5A6-4E17-B936-54EAD751E422}"/>
              </a:ext>
            </a:extLst>
          </p:cNvPr>
          <p:cNvCxnSpPr>
            <a:cxnSpLocks/>
            <a:stCxn id="36" idx="2"/>
          </p:cNvCxnSpPr>
          <p:nvPr/>
        </p:nvCxnSpPr>
        <p:spPr>
          <a:xfrm>
            <a:off x="10347063" y="4137966"/>
            <a:ext cx="0" cy="567868"/>
          </a:xfrm>
          <a:prstGeom prst="line">
            <a:avLst/>
          </a:prstGeom>
          <a:ln w="41275"/>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231FD516-B44B-4F7E-908E-FCF15B274627}"/>
              </a:ext>
            </a:extLst>
          </p:cNvPr>
          <p:cNvSpPr/>
          <p:nvPr/>
        </p:nvSpPr>
        <p:spPr>
          <a:xfrm>
            <a:off x="1507139"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12:00 Day-1</a:t>
            </a:r>
          </a:p>
        </p:txBody>
      </p:sp>
      <p:sp>
        <p:nvSpPr>
          <p:cNvPr id="46" name="Rectangle 45">
            <a:extLst>
              <a:ext uri="{FF2B5EF4-FFF2-40B4-BE49-F238E27FC236}">
                <a16:creationId xmlns:a16="http://schemas.microsoft.com/office/drawing/2014/main" id="{0EA86FDA-C25A-4F45-8166-E1A4C4C76C44}"/>
              </a:ext>
            </a:extLst>
          </p:cNvPr>
          <p:cNvSpPr/>
          <p:nvPr/>
        </p:nvSpPr>
        <p:spPr>
          <a:xfrm>
            <a:off x="3488169"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-1 Hour</a:t>
            </a:r>
          </a:p>
        </p:txBody>
      </p:sp>
      <p:sp>
        <p:nvSpPr>
          <p:cNvPr id="48" name="Rectangle 47">
            <a:extLst>
              <a:ext uri="{FF2B5EF4-FFF2-40B4-BE49-F238E27FC236}">
                <a16:creationId xmlns:a16="http://schemas.microsoft.com/office/drawing/2014/main" id="{14FCF2D4-397A-455F-A0EA-2FB713FB6653}"/>
              </a:ext>
            </a:extLst>
          </p:cNvPr>
          <p:cNvSpPr/>
          <p:nvPr/>
        </p:nvSpPr>
        <p:spPr>
          <a:xfrm>
            <a:off x="5444371"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-45 min</a:t>
            </a:r>
          </a:p>
        </p:txBody>
      </p:sp>
      <p:sp>
        <p:nvSpPr>
          <p:cNvPr id="51" name="Rectangle 50">
            <a:extLst>
              <a:ext uri="{FF2B5EF4-FFF2-40B4-BE49-F238E27FC236}">
                <a16:creationId xmlns:a16="http://schemas.microsoft.com/office/drawing/2014/main" id="{850AB5C0-9097-431C-AB29-406ED33B87D3}"/>
              </a:ext>
            </a:extLst>
          </p:cNvPr>
          <p:cNvSpPr/>
          <p:nvPr/>
        </p:nvSpPr>
        <p:spPr>
          <a:xfrm>
            <a:off x="7132106" y="4859278"/>
            <a:ext cx="1897387"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Hour of operation</a:t>
            </a:r>
          </a:p>
        </p:txBody>
      </p:sp>
      <p:sp>
        <p:nvSpPr>
          <p:cNvPr id="52" name="Rectangle 51">
            <a:extLst>
              <a:ext uri="{FF2B5EF4-FFF2-40B4-BE49-F238E27FC236}">
                <a16:creationId xmlns:a16="http://schemas.microsoft.com/office/drawing/2014/main" id="{33029F0F-F574-459C-BAD5-3ACAD25857FB}"/>
              </a:ext>
            </a:extLst>
          </p:cNvPr>
          <p:cNvSpPr/>
          <p:nvPr/>
        </p:nvSpPr>
        <p:spPr>
          <a:xfrm>
            <a:off x="9674201"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Day + (6) </a:t>
            </a:r>
          </a:p>
        </p:txBody>
      </p:sp>
      <p:cxnSp>
        <p:nvCxnSpPr>
          <p:cNvPr id="53" name="Straight Arrow Connector 52">
            <a:extLst>
              <a:ext uri="{FF2B5EF4-FFF2-40B4-BE49-F238E27FC236}">
                <a16:creationId xmlns:a16="http://schemas.microsoft.com/office/drawing/2014/main" id="{41520EF8-37E4-4F17-80D8-3BF190D47CB0}"/>
              </a:ext>
            </a:extLst>
          </p:cNvPr>
          <p:cNvCxnSpPr>
            <a:cxnSpLocks/>
          </p:cNvCxnSpPr>
          <p:nvPr/>
        </p:nvCxnSpPr>
        <p:spPr>
          <a:xfrm>
            <a:off x="1507139" y="2538397"/>
            <a:ext cx="2653891" cy="0"/>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2123D9ED-4CA4-4BF2-9602-68FDA4820AD3}"/>
              </a:ext>
            </a:extLst>
          </p:cNvPr>
          <p:cNvSpPr/>
          <p:nvPr/>
        </p:nvSpPr>
        <p:spPr>
          <a:xfrm>
            <a:off x="1767414" y="2106966"/>
            <a:ext cx="2162628"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Planning</a:t>
            </a:r>
          </a:p>
        </p:txBody>
      </p:sp>
      <p:cxnSp>
        <p:nvCxnSpPr>
          <p:cNvPr id="58" name="Straight Arrow Connector 57">
            <a:extLst>
              <a:ext uri="{FF2B5EF4-FFF2-40B4-BE49-F238E27FC236}">
                <a16:creationId xmlns:a16="http://schemas.microsoft.com/office/drawing/2014/main" id="{AF080748-1938-4CB0-B7EA-335F33A03984}"/>
              </a:ext>
            </a:extLst>
          </p:cNvPr>
          <p:cNvCxnSpPr>
            <a:cxnSpLocks/>
          </p:cNvCxnSpPr>
          <p:nvPr/>
        </p:nvCxnSpPr>
        <p:spPr>
          <a:xfrm>
            <a:off x="4161030" y="2538397"/>
            <a:ext cx="4491392" cy="0"/>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D02891E6-2AFF-4B0D-9EAA-F5D35904057C}"/>
              </a:ext>
            </a:extLst>
          </p:cNvPr>
          <p:cNvSpPr/>
          <p:nvPr/>
        </p:nvSpPr>
        <p:spPr>
          <a:xfrm>
            <a:off x="4161030" y="2094265"/>
            <a:ext cx="4491392"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Operation</a:t>
            </a:r>
          </a:p>
        </p:txBody>
      </p:sp>
      <p:sp>
        <p:nvSpPr>
          <p:cNvPr id="63" name="Rectangle: Rounded Corners 62">
            <a:extLst>
              <a:ext uri="{FF2B5EF4-FFF2-40B4-BE49-F238E27FC236}">
                <a16:creationId xmlns:a16="http://schemas.microsoft.com/office/drawing/2014/main" id="{85AD59CC-726E-4795-A47A-EE59B27606E6}"/>
              </a:ext>
            </a:extLst>
          </p:cNvPr>
          <p:cNvSpPr/>
          <p:nvPr/>
        </p:nvSpPr>
        <p:spPr>
          <a:xfrm>
            <a:off x="5364986" y="2642506"/>
            <a:ext cx="3545672" cy="1621262"/>
          </a:xfrm>
          <a:prstGeom prst="round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Physical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4" name="Pentagon 40">
            <a:extLst>
              <a:ext uri="{FF2B5EF4-FFF2-40B4-BE49-F238E27FC236}">
                <a16:creationId xmlns:a16="http://schemas.microsoft.com/office/drawing/2014/main" id="{C5208F54-4540-438C-B27A-B8618F70D11C}"/>
              </a:ext>
            </a:extLst>
          </p:cNvPr>
          <p:cNvSpPr/>
          <p:nvPr/>
        </p:nvSpPr>
        <p:spPr>
          <a:xfrm rot="16200000">
            <a:off x="1676000"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Common marginal price market</a:t>
            </a:r>
          </a:p>
        </p:txBody>
      </p:sp>
      <p:sp>
        <p:nvSpPr>
          <p:cNvPr id="66" name="Pentagon 40">
            <a:extLst>
              <a:ext uri="{FF2B5EF4-FFF2-40B4-BE49-F238E27FC236}">
                <a16:creationId xmlns:a16="http://schemas.microsoft.com/office/drawing/2014/main" id="{5BAC738B-FC27-4EF3-BF4A-71D3B0F58A7B}"/>
              </a:ext>
            </a:extLst>
          </p:cNvPr>
          <p:cNvSpPr/>
          <p:nvPr/>
        </p:nvSpPr>
        <p:spPr>
          <a:xfrm rot="16200000">
            <a:off x="4635132" y="4096084"/>
            <a:ext cx="1008000" cy="3301920"/>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Management of short-term imblances</a:t>
            </a:r>
          </a:p>
        </p:txBody>
      </p:sp>
      <p:sp>
        <p:nvSpPr>
          <p:cNvPr id="67" name="Pentagon 40">
            <a:extLst>
              <a:ext uri="{FF2B5EF4-FFF2-40B4-BE49-F238E27FC236}">
                <a16:creationId xmlns:a16="http://schemas.microsoft.com/office/drawing/2014/main" id="{02E61F65-9464-4156-B4CD-BB1274B70A26}"/>
              </a:ext>
            </a:extLst>
          </p:cNvPr>
          <p:cNvSpPr/>
          <p:nvPr/>
        </p:nvSpPr>
        <p:spPr>
          <a:xfrm rot="16200000">
            <a:off x="7576799"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Security of supply</a:t>
            </a:r>
          </a:p>
        </p:txBody>
      </p:sp>
      <p:sp>
        <p:nvSpPr>
          <p:cNvPr id="68" name="Pentagon 40">
            <a:extLst>
              <a:ext uri="{FF2B5EF4-FFF2-40B4-BE49-F238E27FC236}">
                <a16:creationId xmlns:a16="http://schemas.microsoft.com/office/drawing/2014/main" id="{599E4355-B476-4C42-82A5-5C03A68C38A7}"/>
              </a:ext>
            </a:extLst>
          </p:cNvPr>
          <p:cNvSpPr/>
          <p:nvPr/>
        </p:nvSpPr>
        <p:spPr>
          <a:xfrm rot="16200000">
            <a:off x="9843060"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Settlement</a:t>
            </a:r>
          </a:p>
        </p:txBody>
      </p:sp>
      <p:sp>
        <p:nvSpPr>
          <p:cNvPr id="69" name="Rectangle 68">
            <a:extLst>
              <a:ext uri="{FF2B5EF4-FFF2-40B4-BE49-F238E27FC236}">
                <a16:creationId xmlns:a16="http://schemas.microsoft.com/office/drawing/2014/main" id="{698CE4D4-FC40-4582-AF89-C91E5F909DE1}"/>
              </a:ext>
            </a:extLst>
          </p:cNvPr>
          <p:cNvSpPr/>
          <p:nvPr/>
        </p:nvSpPr>
        <p:spPr>
          <a:xfrm>
            <a:off x="0" y="4145003"/>
            <a:ext cx="1032310" cy="1069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Gate Closure</a:t>
            </a:r>
          </a:p>
        </p:txBody>
      </p:sp>
      <p:sp>
        <p:nvSpPr>
          <p:cNvPr id="60" name="Rectangle: Rounded Corners 59">
            <a:extLst>
              <a:ext uri="{FF2B5EF4-FFF2-40B4-BE49-F238E27FC236}">
                <a16:creationId xmlns:a16="http://schemas.microsoft.com/office/drawing/2014/main" id="{F0B11081-FDD2-4A63-9444-585A38BCADF3}"/>
              </a:ext>
            </a:extLst>
          </p:cNvPr>
          <p:cNvSpPr/>
          <p:nvPr/>
        </p:nvSpPr>
        <p:spPr>
          <a:xfrm>
            <a:off x="1425812" y="2642506"/>
            <a:ext cx="3545672" cy="1621262"/>
          </a:xfrm>
          <a:prstGeom prst="round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Financial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cxnSp>
        <p:nvCxnSpPr>
          <p:cNvPr id="4" name="Straight Arrow Connector 3">
            <a:extLst>
              <a:ext uri="{FF2B5EF4-FFF2-40B4-BE49-F238E27FC236}">
                <a16:creationId xmlns:a16="http://schemas.microsoft.com/office/drawing/2014/main" id="{BE5D7CA7-BBE5-4240-81F8-CB9342267455}"/>
              </a:ext>
            </a:extLst>
          </p:cNvPr>
          <p:cNvCxnSpPr>
            <a:cxnSpLocks/>
          </p:cNvCxnSpPr>
          <p:nvPr/>
        </p:nvCxnSpPr>
        <p:spPr>
          <a:xfrm flipH="1" flipV="1">
            <a:off x="941832" y="2106966"/>
            <a:ext cx="565307" cy="961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8AB0905-FB87-48F1-9038-65BDD16E65D6}"/>
              </a:ext>
            </a:extLst>
          </p:cNvPr>
          <p:cNvSpPr/>
          <p:nvPr/>
        </p:nvSpPr>
        <p:spPr>
          <a:xfrm>
            <a:off x="293616" y="1295883"/>
            <a:ext cx="4205232" cy="693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400" dirty="0">
                <a:solidFill>
                  <a:schemeClr val="accent1"/>
                </a:solidFill>
              </a:rPr>
              <a:t>The auction where volumes for production and consumption are submitted for the following 24 hours</a:t>
            </a:r>
            <a:endParaRPr lang="en-US" sz="1400" dirty="0">
              <a:solidFill>
                <a:schemeClr val="accent1"/>
              </a:solidFill>
            </a:endParaRPr>
          </a:p>
        </p:txBody>
      </p:sp>
    </p:spTree>
    <p:extLst>
      <p:ext uri="{BB962C8B-B14F-4D97-AF65-F5344CB8AC3E}">
        <p14:creationId xmlns:p14="http://schemas.microsoft.com/office/powerpoint/2010/main" val="424073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CAFBD5-2269-F4B0-B972-ECEC594291E7}"/>
              </a:ext>
            </a:extLst>
          </p:cNvPr>
          <p:cNvSpPr>
            <a:spLocks noGrp="1"/>
          </p:cNvSpPr>
          <p:nvPr>
            <p:ph type="title"/>
          </p:nvPr>
        </p:nvSpPr>
        <p:spPr/>
        <p:txBody>
          <a:bodyPr/>
          <a:lstStyle/>
          <a:p>
            <a:pPr algn="ctr"/>
            <a:r>
              <a:rPr lang="da-DK" dirty="0"/>
              <a:t>Spotmarket / Day-ahead</a:t>
            </a:r>
          </a:p>
        </p:txBody>
      </p:sp>
      <p:sp>
        <p:nvSpPr>
          <p:cNvPr id="6" name="Text Placeholder 5">
            <a:extLst>
              <a:ext uri="{FF2B5EF4-FFF2-40B4-BE49-F238E27FC236}">
                <a16:creationId xmlns:a16="http://schemas.microsoft.com/office/drawing/2014/main" id="{14E0D016-A68C-0C6D-6125-35A40634CEB1}"/>
              </a:ext>
            </a:extLst>
          </p:cNvPr>
          <p:cNvSpPr>
            <a:spLocks noGrp="1"/>
          </p:cNvSpPr>
          <p:nvPr>
            <p:ph type="body" sz="half" idx="2"/>
          </p:nvPr>
        </p:nvSpPr>
        <p:spPr>
          <a:xfrm>
            <a:off x="662383" y="2272644"/>
            <a:ext cx="5375080" cy="3811588"/>
          </a:xfrm>
        </p:spPr>
        <p:txBody>
          <a:bodyPr/>
          <a:lstStyle/>
          <a:p>
            <a:pPr marL="285750" indent="-285750">
              <a:buFont typeface="Arial" panose="020B0604020202020204" pitchFamily="34" charset="0"/>
              <a:buChar char="•"/>
            </a:pPr>
            <a:r>
              <a:rPr lang="da-DK" dirty="0"/>
              <a:t>The spot curve looks a bit like a standard consumption curve </a:t>
            </a:r>
          </a:p>
          <a:p>
            <a:pPr marL="742950" lvl="1" indent="-285750">
              <a:buFont typeface="Arial" panose="020B0604020202020204" pitchFamily="34" charset="0"/>
              <a:buChar char="•"/>
            </a:pPr>
            <a:r>
              <a:rPr lang="da-DK" dirty="0"/>
              <a:t>Correlation between consumption and price?  </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New term! Auction Schemes!</a:t>
            </a:r>
          </a:p>
          <a:p>
            <a:pPr marL="285750" indent="-285750">
              <a:buFont typeface="Arial" panose="020B0604020202020204" pitchFamily="34" charset="0"/>
              <a:buChar char="•"/>
            </a:pPr>
            <a:r>
              <a:rPr lang="da-DK" dirty="0"/>
              <a:t>Pay-as-clear</a:t>
            </a:r>
          </a:p>
          <a:p>
            <a:pPr marL="742950" lvl="1" indent="-285750">
              <a:buFont typeface="Arial" panose="020B0604020202020204" pitchFamily="34" charset="0"/>
              <a:buChar char="•"/>
            </a:pPr>
            <a:r>
              <a:rPr lang="da-DK" sz="1600" dirty="0"/>
              <a:t>Uniform price </a:t>
            </a:r>
          </a:p>
          <a:p>
            <a:pPr marL="742950" lvl="1" indent="-285750">
              <a:buFont typeface="Arial" panose="020B0604020202020204" pitchFamily="34" charset="0"/>
              <a:buChar char="•"/>
            </a:pPr>
            <a:r>
              <a:rPr lang="da-DK" sz="1600" dirty="0"/>
              <a:t>The highest accepted bid price is the price awarded to the producers and what the price to be paid by consumers</a:t>
            </a:r>
          </a:p>
          <a:p>
            <a:pPr marL="742950" lvl="1" indent="-285750">
              <a:buFont typeface="Arial" panose="020B0604020202020204" pitchFamily="34" charset="0"/>
              <a:buChar char="•"/>
            </a:pPr>
            <a:r>
              <a:rPr lang="da-DK" sz="1600" dirty="0"/>
              <a:t>Incentive to bid marginal price or opportunity cost</a:t>
            </a:r>
          </a:p>
          <a:p>
            <a:pPr marL="742950" lvl="1" indent="-285750">
              <a:buFont typeface="Arial" panose="020B0604020202020204" pitchFamily="34" charset="0"/>
              <a:buChar char="•"/>
            </a:pPr>
            <a:endParaRPr lang="da-DK" sz="1600" dirty="0"/>
          </a:p>
        </p:txBody>
      </p:sp>
      <p:pic>
        <p:nvPicPr>
          <p:cNvPr id="3" name="Picture 2" descr="A graph of blue rectangular bars&#10;&#10;Description automatically generated with medium confidence">
            <a:extLst>
              <a:ext uri="{FF2B5EF4-FFF2-40B4-BE49-F238E27FC236}">
                <a16:creationId xmlns:a16="http://schemas.microsoft.com/office/drawing/2014/main" id="{23ED6AF0-F1EF-218F-F339-FAAA8BFE4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3128" y="2692301"/>
            <a:ext cx="6236020" cy="3511730"/>
          </a:xfrm>
          <a:prstGeom prst="rect">
            <a:avLst/>
          </a:prstGeom>
        </p:spPr>
      </p:pic>
      <p:pic>
        <p:nvPicPr>
          <p:cNvPr id="8" name="Graphic 7" descr="Stopwatch 66% with solid fill">
            <a:extLst>
              <a:ext uri="{FF2B5EF4-FFF2-40B4-BE49-F238E27FC236}">
                <a16:creationId xmlns:a16="http://schemas.microsoft.com/office/drawing/2014/main" id="{147A243A-7786-C91B-0A71-AE396C37BB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37220" y="2644140"/>
            <a:ext cx="914400" cy="914400"/>
          </a:xfrm>
          <a:prstGeom prst="rect">
            <a:avLst/>
          </a:prstGeom>
        </p:spPr>
      </p:pic>
      <p:sp>
        <p:nvSpPr>
          <p:cNvPr id="9" name="Rectangle 8">
            <a:extLst>
              <a:ext uri="{FF2B5EF4-FFF2-40B4-BE49-F238E27FC236}">
                <a16:creationId xmlns:a16="http://schemas.microsoft.com/office/drawing/2014/main" id="{829932B7-F393-B2ED-C2C6-5AA1D61881E9}"/>
              </a:ext>
            </a:extLst>
          </p:cNvPr>
          <p:cNvSpPr/>
          <p:nvPr/>
        </p:nvSpPr>
        <p:spPr>
          <a:xfrm>
            <a:off x="7501890" y="2362765"/>
            <a:ext cx="2385059" cy="3537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sz="1000" b="1" dirty="0">
                <a:solidFill>
                  <a:schemeClr val="tx1"/>
                </a:solidFill>
              </a:rPr>
              <a:t>Every hour</a:t>
            </a:r>
          </a:p>
        </p:txBody>
      </p:sp>
    </p:spTree>
    <p:extLst>
      <p:ext uri="{BB962C8B-B14F-4D97-AF65-F5344CB8AC3E}">
        <p14:creationId xmlns:p14="http://schemas.microsoft.com/office/powerpoint/2010/main" val="3354747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CB66-171F-431C-B564-D322F3115163}"/>
              </a:ext>
            </a:extLst>
          </p:cNvPr>
          <p:cNvSpPr>
            <a:spLocks noGrp="1"/>
          </p:cNvSpPr>
          <p:nvPr>
            <p:ph type="title"/>
          </p:nvPr>
        </p:nvSpPr>
        <p:spPr/>
        <p:txBody>
          <a:bodyPr/>
          <a:lstStyle/>
          <a:p>
            <a:pPr algn="ctr"/>
            <a:r>
              <a:rPr lang="en-US" dirty="0"/>
              <a:t>Day-ahead market</a:t>
            </a:r>
          </a:p>
        </p:txBody>
      </p:sp>
      <p:sp>
        <p:nvSpPr>
          <p:cNvPr id="3" name="Text Placeholder 2">
            <a:extLst>
              <a:ext uri="{FF2B5EF4-FFF2-40B4-BE49-F238E27FC236}">
                <a16:creationId xmlns:a16="http://schemas.microsoft.com/office/drawing/2014/main" id="{495167DC-C394-4E41-9B37-F1E0B35B9567}"/>
              </a:ext>
            </a:extLst>
          </p:cNvPr>
          <p:cNvSpPr>
            <a:spLocks noGrp="1"/>
          </p:cNvSpPr>
          <p:nvPr>
            <p:ph type="body" sz="half" idx="2"/>
          </p:nvPr>
        </p:nvSpPr>
        <p:spPr>
          <a:xfrm>
            <a:off x="662383" y="2272644"/>
            <a:ext cx="4533348" cy="3811588"/>
          </a:xfrm>
        </p:spPr>
        <p:txBody>
          <a:bodyPr>
            <a:normAutofit/>
          </a:bodyPr>
          <a:lstStyle/>
          <a:p>
            <a:r>
              <a:rPr lang="en-US" dirty="0"/>
              <a:t>Most of the planning takes place 12-36 hours before delivery – in the Day ahead market (spot market).</a:t>
            </a:r>
          </a:p>
          <a:p>
            <a:endParaRPr lang="en-US" dirty="0"/>
          </a:p>
          <a:p>
            <a:r>
              <a:rPr lang="en-US" dirty="0"/>
              <a:t>Trade is shifting towards the markets closer to delivery – Intraday and balancing markets</a:t>
            </a:r>
          </a:p>
          <a:p>
            <a:pPr lvl="1"/>
            <a:endParaRPr lang="en-US" dirty="0"/>
          </a:p>
          <a:p>
            <a:pPr lvl="1"/>
            <a:endParaRPr lang="en-US" dirty="0"/>
          </a:p>
          <a:p>
            <a:pPr lvl="1"/>
            <a:r>
              <a:rPr lang="en-US" sz="1800" dirty="0"/>
              <a:t>Difficult to predict production</a:t>
            </a:r>
          </a:p>
          <a:p>
            <a:pPr lvl="2"/>
            <a:r>
              <a:rPr lang="en-US" sz="1800" dirty="0"/>
              <a:t>Wind</a:t>
            </a:r>
          </a:p>
          <a:p>
            <a:pPr lvl="2"/>
            <a:r>
              <a:rPr lang="en-US" sz="1800" dirty="0"/>
              <a:t>Solar</a:t>
            </a:r>
          </a:p>
        </p:txBody>
      </p:sp>
      <p:pic>
        <p:nvPicPr>
          <p:cNvPr id="4" name="Picture 3" descr="Chart, histogram&#10;&#10;Description automatically generated">
            <a:extLst>
              <a:ext uri="{FF2B5EF4-FFF2-40B4-BE49-F238E27FC236}">
                <a16:creationId xmlns:a16="http://schemas.microsoft.com/office/drawing/2014/main" id="{A8B6FBFF-5605-2AFD-3E74-9A8BD79F1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1050" y="2682874"/>
            <a:ext cx="7576219" cy="3724275"/>
          </a:xfrm>
          <a:prstGeom prst="rect">
            <a:avLst/>
          </a:prstGeom>
        </p:spPr>
      </p:pic>
    </p:spTree>
    <p:extLst>
      <p:ext uri="{BB962C8B-B14F-4D97-AF65-F5344CB8AC3E}">
        <p14:creationId xmlns:p14="http://schemas.microsoft.com/office/powerpoint/2010/main" val="1568700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type="body" sz="half" idx="2"/>
          </p:nvPr>
        </p:nvSpPr>
        <p:spPr>
          <a:xfrm>
            <a:off x="711927" y="2272644"/>
            <a:ext cx="7006079" cy="3811588"/>
          </a:xfrm>
        </p:spPr>
        <p:txBody>
          <a:bodyPr>
            <a:normAutofit fontScale="92500" lnSpcReduction="10000"/>
          </a:bodyPr>
          <a:lstStyle/>
          <a:p>
            <a:pPr marL="342900" indent="-342900">
              <a:buFont typeface="Arial" panose="020B0604020202020204" pitchFamily="34" charset="0"/>
              <a:buChar char="•"/>
            </a:pPr>
            <a:r>
              <a:rPr lang="en-US" altLang="da-DK" sz="2133" dirty="0"/>
              <a:t>Dynamic market - Power prices on an hourly basis</a:t>
            </a:r>
          </a:p>
          <a:p>
            <a:pPr marL="952485" lvl="1" indent="-342900">
              <a:buFont typeface="Arial" panose="020B0604020202020204" pitchFamily="34" charset="0"/>
              <a:buChar char="•"/>
            </a:pPr>
            <a:r>
              <a:rPr lang="en-US" altLang="da-DK" sz="2133" dirty="0"/>
              <a:t>Varying fuel and emissions prices daily</a:t>
            </a:r>
          </a:p>
          <a:p>
            <a:pPr marL="1562070" lvl="2" indent="-342900">
              <a:buFont typeface="Arial" panose="020B0604020202020204" pitchFamily="34" charset="0"/>
              <a:buChar char="•"/>
            </a:pPr>
            <a:r>
              <a:rPr lang="en-US" altLang="da-DK" sz="2133" dirty="0"/>
              <a:t>Gas as fuel: hourly</a:t>
            </a:r>
          </a:p>
          <a:p>
            <a:pPr marL="952485" lvl="1" indent="-342900">
              <a:buFont typeface="Arial" panose="020B0604020202020204" pitchFamily="34" charset="0"/>
              <a:buChar char="•"/>
            </a:pPr>
            <a:r>
              <a:rPr lang="en-US" altLang="da-DK" sz="2133" dirty="0"/>
              <a:t>Varying consumption (demand)</a:t>
            </a:r>
          </a:p>
          <a:p>
            <a:pPr marL="952485" lvl="1" indent="-342900">
              <a:buFont typeface="Arial" panose="020B0604020202020204" pitchFamily="34" charset="0"/>
              <a:buChar char="•"/>
            </a:pPr>
            <a:r>
              <a:rPr lang="en-US" altLang="da-DK" sz="2133" dirty="0"/>
              <a:t>Varying production from renewables</a:t>
            </a:r>
          </a:p>
          <a:p>
            <a:pPr marL="952485" lvl="1" indent="-342900">
              <a:buFont typeface="Arial" panose="020B0604020202020204" pitchFamily="34" charset="0"/>
              <a:buChar char="•"/>
            </a:pPr>
            <a:endParaRPr lang="en-US" altLang="da-DK" sz="2133" dirty="0"/>
          </a:p>
          <a:p>
            <a:pPr marL="342900" indent="-342900">
              <a:buFont typeface="Arial" panose="020B0604020202020204" pitchFamily="34" charset="0"/>
              <a:buChar char="•"/>
            </a:pPr>
            <a:r>
              <a:rPr lang="en-US" altLang="da-DK" sz="2133" dirty="0"/>
              <a:t>Day-ahead-price determined on the exchange e.g., Nord Pool </a:t>
            </a:r>
          </a:p>
          <a:p>
            <a:pPr marL="342900" indent="-342900">
              <a:buFont typeface="Arial" panose="020B0604020202020204" pitchFamily="34" charset="0"/>
              <a:buChar char="•"/>
            </a:pPr>
            <a:r>
              <a:rPr lang="en-US" altLang="da-DK" sz="2133" dirty="0"/>
              <a:t>Balance responsible: Bid/ask setup</a:t>
            </a:r>
          </a:p>
          <a:p>
            <a:pPr marL="1562070" lvl="2" indent="-342900">
              <a:buFont typeface="Arial" panose="020B0604020202020204" pitchFamily="34" charset="0"/>
              <a:buChar char="•"/>
            </a:pPr>
            <a:r>
              <a:rPr lang="en-US" altLang="da-DK" sz="2133" dirty="0"/>
              <a:t>Bid: Asset owner with production</a:t>
            </a:r>
          </a:p>
          <a:p>
            <a:pPr marL="1562070" lvl="2" indent="-342900">
              <a:buFont typeface="Arial" panose="020B0604020202020204" pitchFamily="34" charset="0"/>
              <a:buChar char="•"/>
            </a:pPr>
            <a:r>
              <a:rPr lang="en-US" altLang="da-DK" sz="2133" dirty="0"/>
              <a:t>Ask: Consumers (via. Retailer and balance responsible)</a:t>
            </a:r>
          </a:p>
          <a:p>
            <a:pPr lvl="1">
              <a:buFontTx/>
              <a:buNone/>
            </a:pPr>
            <a:endParaRPr lang="en-US" altLang="da-DK" sz="2133" dirty="0"/>
          </a:p>
        </p:txBody>
      </p:sp>
      <p:sp>
        <p:nvSpPr>
          <p:cNvPr id="5" name="Titel 1">
            <a:extLst>
              <a:ext uri="{FF2B5EF4-FFF2-40B4-BE49-F238E27FC236}">
                <a16:creationId xmlns:a16="http://schemas.microsoft.com/office/drawing/2014/main" id="{A21C069C-2495-4539-BC31-986F54E75C38}"/>
              </a:ext>
            </a:extLst>
          </p:cNvPr>
          <p:cNvSpPr txBox="1">
            <a:spLocks/>
          </p:cNvSpPr>
          <p:nvPr/>
        </p:nvSpPr>
        <p:spPr>
          <a:xfrm>
            <a:off x="0" y="938853"/>
            <a:ext cx="12191998" cy="914397"/>
          </a:xfrm>
          <a:prstGeom prst="rect">
            <a:avLst/>
          </a:prstGeom>
          <a:noFill/>
          <a:ln>
            <a:noFill/>
          </a:ln>
        </p:spPr>
        <p:txBody>
          <a:bodyPr vert="horz" wrap="square" lIns="91440" tIns="45720" rIns="91440" bIns="45720" anchor="t" anchorCtr="0" compatLnSpc="1">
            <a:noAutofit/>
          </a:bodyPr>
          <a:lstStyle>
            <a:lvl1pPr marL="0" marR="0" lvl="0" indent="0" algn="l" defTabSz="457200" rtl="0" eaLnBrk="1" fontAlgn="auto" hangingPunct="1">
              <a:lnSpc>
                <a:spcPct val="100000"/>
              </a:lnSpc>
              <a:spcBef>
                <a:spcPts val="0"/>
              </a:spcBef>
              <a:spcAft>
                <a:spcPts val="0"/>
              </a:spcAft>
              <a:buNone/>
              <a:tabLst/>
              <a:defRPr lang="da-DK" sz="4200" b="0" i="0" u="none" strike="noStrike" kern="1200" cap="none" spc="0" baseline="0">
                <a:solidFill>
                  <a:srgbClr val="EBEBEB"/>
                </a:solidFill>
                <a:uFillTx/>
                <a:latin typeface="Century Gothic"/>
              </a:defRPr>
            </a:lvl1pPr>
          </a:lstStyle>
          <a:p>
            <a:pPr algn="ctr"/>
            <a:r>
              <a:rPr lang="en-US" sz="4000" b="1" dirty="0">
                <a:solidFill>
                  <a:schemeClr val="accent1"/>
                </a:solidFill>
                <a:latin typeface="Avenir Light"/>
                <a:ea typeface="+mj-ea"/>
              </a:rPr>
              <a:t>Setting the price in the Day-ahead/spot market</a:t>
            </a:r>
          </a:p>
        </p:txBody>
      </p:sp>
      <p:pic>
        <p:nvPicPr>
          <p:cNvPr id="7" name="Picture 6" descr="A black background with blue text&#10;&#10;Description automatically generated">
            <a:extLst>
              <a:ext uri="{FF2B5EF4-FFF2-40B4-BE49-F238E27FC236}">
                <a16:creationId xmlns:a16="http://schemas.microsoft.com/office/drawing/2014/main" id="{D60D2CBE-7B05-B495-AC12-6C6BDCE9BD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8006" y="2272644"/>
            <a:ext cx="4207294" cy="4486645"/>
          </a:xfrm>
          <a:prstGeom prst="rect">
            <a:avLst/>
          </a:prstGeom>
        </p:spPr>
      </p:pic>
    </p:spTree>
    <p:extLst>
      <p:ext uri="{BB962C8B-B14F-4D97-AF65-F5344CB8AC3E}">
        <p14:creationId xmlns:p14="http://schemas.microsoft.com/office/powerpoint/2010/main" val="214577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12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2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2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3E1C24-CD9A-48E0-958A-B29102CA3A39}"/>
              </a:ext>
            </a:extLst>
          </p:cNvPr>
          <p:cNvSpPr>
            <a:spLocks noGrp="1"/>
          </p:cNvSpPr>
          <p:nvPr>
            <p:ph type="title"/>
          </p:nvPr>
        </p:nvSpPr>
        <p:spPr/>
        <p:txBody>
          <a:bodyPr/>
          <a:lstStyle/>
          <a:p>
            <a:pPr algn="ctr"/>
            <a:r>
              <a:rPr lang="en-US" sz="4000" dirty="0">
                <a:latin typeface="Avenir Light"/>
              </a:rPr>
              <a:t>Individual Bid and ask joined</a:t>
            </a:r>
          </a:p>
        </p:txBody>
      </p:sp>
      <p:sp>
        <p:nvSpPr>
          <p:cNvPr id="3" name="Text Placeholder 2">
            <a:extLst>
              <a:ext uri="{FF2B5EF4-FFF2-40B4-BE49-F238E27FC236}">
                <a16:creationId xmlns:a16="http://schemas.microsoft.com/office/drawing/2014/main" id="{46B051DD-AB87-D039-23D8-9768AE4FEFB8}"/>
              </a:ext>
            </a:extLst>
          </p:cNvPr>
          <p:cNvSpPr>
            <a:spLocks noGrp="1"/>
          </p:cNvSpPr>
          <p:nvPr>
            <p:ph type="body" sz="half" idx="2"/>
          </p:nvPr>
        </p:nvSpPr>
        <p:spPr/>
        <p:txBody>
          <a:bodyPr/>
          <a:lstStyle/>
          <a:p>
            <a:endParaRPr lang="da-DK"/>
          </a:p>
        </p:txBody>
      </p:sp>
      <p:cxnSp>
        <p:nvCxnSpPr>
          <p:cNvPr id="43" name="Straight Connector 42">
            <a:extLst>
              <a:ext uri="{FF2B5EF4-FFF2-40B4-BE49-F238E27FC236}">
                <a16:creationId xmlns:a16="http://schemas.microsoft.com/office/drawing/2014/main" id="{F36BE0CF-0384-45FC-9C7A-9191FEBCE1FF}"/>
              </a:ext>
            </a:extLst>
          </p:cNvPr>
          <p:cNvCxnSpPr>
            <a:cxnSpLocks/>
          </p:cNvCxnSpPr>
          <p:nvPr/>
        </p:nvCxnSpPr>
        <p:spPr>
          <a:xfrm>
            <a:off x="8250311" y="4186568"/>
            <a:ext cx="1977218" cy="0"/>
          </a:xfrm>
          <a:prstGeom prst="line">
            <a:avLst/>
          </a:prstGeom>
          <a:ln w="22225">
            <a:prstDash val="lgDash"/>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2CC2EDDB-B651-4351-A72E-D51BC738A8BE}"/>
              </a:ext>
            </a:extLst>
          </p:cNvPr>
          <p:cNvCxnSpPr/>
          <p:nvPr/>
        </p:nvCxnSpPr>
        <p:spPr>
          <a:xfrm flipV="1">
            <a:off x="8250311" y="2147456"/>
            <a:ext cx="0" cy="3493008"/>
          </a:xfrm>
          <a:prstGeom prst="straightConnector1">
            <a:avLst/>
          </a:prstGeom>
          <a:ln w="3175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D34CDED9-1A74-4228-BE29-1D59D2B04732}"/>
              </a:ext>
            </a:extLst>
          </p:cNvPr>
          <p:cNvCxnSpPr>
            <a:cxnSpLocks/>
          </p:cNvCxnSpPr>
          <p:nvPr/>
        </p:nvCxnSpPr>
        <p:spPr>
          <a:xfrm>
            <a:off x="8250311" y="5640464"/>
            <a:ext cx="3264408" cy="0"/>
          </a:xfrm>
          <a:prstGeom prst="straightConnector1">
            <a:avLst/>
          </a:prstGeom>
          <a:ln w="3175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7B25F07-3B1E-47EF-A402-1F218EE5455B}"/>
              </a:ext>
            </a:extLst>
          </p:cNvPr>
          <p:cNvCxnSpPr/>
          <p:nvPr/>
        </p:nvCxnSpPr>
        <p:spPr>
          <a:xfrm>
            <a:off x="8250311" y="5009528"/>
            <a:ext cx="420624" cy="0"/>
          </a:xfrm>
          <a:prstGeom prst="line">
            <a:avLst/>
          </a:prstGeom>
          <a:ln w="25400" cmpd="sng">
            <a:solidFill>
              <a:srgbClr val="00A7BD"/>
            </a:solidFill>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7A658F29-A390-438D-833C-CA54C18E9606}"/>
              </a:ext>
            </a:extLst>
          </p:cNvPr>
          <p:cNvCxnSpPr/>
          <p:nvPr/>
        </p:nvCxnSpPr>
        <p:spPr>
          <a:xfrm flipV="1">
            <a:off x="8680079" y="4735208"/>
            <a:ext cx="0" cy="283464"/>
          </a:xfrm>
          <a:prstGeom prst="line">
            <a:avLst/>
          </a:prstGeom>
          <a:ln w="28575" cmpd="sng">
            <a:solidFill>
              <a:srgbClr val="00A7BD"/>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192B0D4-1FB0-4728-A493-793AAD6A8E19}"/>
              </a:ext>
            </a:extLst>
          </p:cNvPr>
          <p:cNvCxnSpPr/>
          <p:nvPr/>
        </p:nvCxnSpPr>
        <p:spPr>
          <a:xfrm>
            <a:off x="8680079" y="4735208"/>
            <a:ext cx="420624" cy="0"/>
          </a:xfrm>
          <a:prstGeom prst="line">
            <a:avLst/>
          </a:prstGeom>
          <a:ln w="25400" cmpd="sng">
            <a:solidFill>
              <a:srgbClr val="00A7BD"/>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1EA4583-E778-48CC-9ED2-482A367B77DB}"/>
              </a:ext>
            </a:extLst>
          </p:cNvPr>
          <p:cNvCxnSpPr/>
          <p:nvPr/>
        </p:nvCxnSpPr>
        <p:spPr>
          <a:xfrm flipV="1">
            <a:off x="9109847" y="4460888"/>
            <a:ext cx="0" cy="283464"/>
          </a:xfrm>
          <a:prstGeom prst="line">
            <a:avLst/>
          </a:prstGeom>
          <a:ln w="25400" cmpd="sng">
            <a:solidFill>
              <a:srgbClr val="00A7BD"/>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632294D0-01CB-439E-822F-42B3F5EE414D}"/>
              </a:ext>
            </a:extLst>
          </p:cNvPr>
          <p:cNvCxnSpPr/>
          <p:nvPr/>
        </p:nvCxnSpPr>
        <p:spPr>
          <a:xfrm>
            <a:off x="9100703" y="4460888"/>
            <a:ext cx="420624" cy="0"/>
          </a:xfrm>
          <a:prstGeom prst="line">
            <a:avLst/>
          </a:prstGeom>
          <a:ln w="25400" cmpd="sng">
            <a:solidFill>
              <a:srgbClr val="00A7BD"/>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B3824F0-0136-4969-8962-70499C4A2C1E}"/>
              </a:ext>
            </a:extLst>
          </p:cNvPr>
          <p:cNvCxnSpPr/>
          <p:nvPr/>
        </p:nvCxnSpPr>
        <p:spPr>
          <a:xfrm flipV="1">
            <a:off x="9521327" y="4177424"/>
            <a:ext cx="0" cy="283464"/>
          </a:xfrm>
          <a:prstGeom prst="line">
            <a:avLst/>
          </a:prstGeom>
          <a:ln w="25400" cmpd="sng">
            <a:solidFill>
              <a:srgbClr val="00A7BD"/>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4D27D4AA-981E-4CCF-BA88-D9267F5E8BD7}"/>
              </a:ext>
            </a:extLst>
          </p:cNvPr>
          <p:cNvCxnSpPr>
            <a:cxnSpLocks/>
          </p:cNvCxnSpPr>
          <p:nvPr/>
        </p:nvCxnSpPr>
        <p:spPr>
          <a:xfrm>
            <a:off x="9521327" y="4186568"/>
            <a:ext cx="1522015" cy="0"/>
          </a:xfrm>
          <a:prstGeom prst="line">
            <a:avLst/>
          </a:prstGeom>
          <a:ln w="25400" cmpd="sng">
            <a:solidFill>
              <a:srgbClr val="00A7BD"/>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DBD0E486-A01E-458D-817E-CF1E9380627A}"/>
              </a:ext>
            </a:extLst>
          </p:cNvPr>
          <p:cNvCxnSpPr>
            <a:cxnSpLocks/>
          </p:cNvCxnSpPr>
          <p:nvPr/>
        </p:nvCxnSpPr>
        <p:spPr>
          <a:xfrm flipV="1">
            <a:off x="11043342" y="3034424"/>
            <a:ext cx="0" cy="1152144"/>
          </a:xfrm>
          <a:prstGeom prst="line">
            <a:avLst/>
          </a:prstGeom>
          <a:ln w="25400" cmpd="sng">
            <a:solidFill>
              <a:srgbClr val="00A7BD"/>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FFE41E7D-4A23-4366-B218-98E4686C4D2F}"/>
              </a:ext>
            </a:extLst>
          </p:cNvPr>
          <p:cNvCxnSpPr>
            <a:cxnSpLocks/>
          </p:cNvCxnSpPr>
          <p:nvPr/>
        </p:nvCxnSpPr>
        <p:spPr>
          <a:xfrm>
            <a:off x="8250311" y="3034424"/>
            <a:ext cx="640080" cy="0"/>
          </a:xfrm>
          <a:prstGeom prst="line">
            <a:avLst/>
          </a:prstGeom>
          <a:ln w="25400" cmpd="sng">
            <a:solidFill>
              <a:srgbClr val="32FFE0"/>
            </a:solidFill>
          </a:ln>
          <a:effectLst/>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83A1F291-C050-4182-9764-7FDBEE7232A2}"/>
              </a:ext>
            </a:extLst>
          </p:cNvPr>
          <p:cNvSpPr/>
          <p:nvPr/>
        </p:nvSpPr>
        <p:spPr>
          <a:xfrm>
            <a:off x="8232024" y="2290780"/>
            <a:ext cx="877819" cy="3627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200" dirty="0">
                <a:solidFill>
                  <a:srgbClr val="2E4C87"/>
                </a:solidFill>
                <a:latin typeface="Avenir Light"/>
                <a:cs typeface="Avenir Light"/>
              </a:rPr>
              <a:t>EUR/MWh</a:t>
            </a:r>
            <a:endParaRPr lang="en-US" sz="1200" dirty="0" err="1">
              <a:solidFill>
                <a:srgbClr val="2E4C87"/>
              </a:solidFill>
              <a:latin typeface="Avenir Light"/>
              <a:cs typeface="Avenir Light"/>
            </a:endParaRPr>
          </a:p>
        </p:txBody>
      </p:sp>
      <p:sp>
        <p:nvSpPr>
          <p:cNvPr id="56" name="Rectangle 55">
            <a:extLst>
              <a:ext uri="{FF2B5EF4-FFF2-40B4-BE49-F238E27FC236}">
                <a16:creationId xmlns:a16="http://schemas.microsoft.com/office/drawing/2014/main" id="{3FA61758-8F82-4112-A962-E2F708B52D85}"/>
              </a:ext>
            </a:extLst>
          </p:cNvPr>
          <p:cNvSpPr/>
          <p:nvPr/>
        </p:nvSpPr>
        <p:spPr>
          <a:xfrm>
            <a:off x="10810631" y="5292995"/>
            <a:ext cx="768096" cy="3627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200" dirty="0">
                <a:solidFill>
                  <a:srgbClr val="2E4C87"/>
                </a:solidFill>
                <a:latin typeface="Avenir Light"/>
                <a:cs typeface="Avenir Light"/>
              </a:rPr>
              <a:t>MWh</a:t>
            </a:r>
            <a:endParaRPr lang="en-US" sz="1200" dirty="0" err="1">
              <a:solidFill>
                <a:srgbClr val="2E4C87"/>
              </a:solidFill>
              <a:latin typeface="Avenir Light"/>
              <a:cs typeface="Avenir Light"/>
            </a:endParaRPr>
          </a:p>
        </p:txBody>
      </p:sp>
      <p:cxnSp>
        <p:nvCxnSpPr>
          <p:cNvPr id="57" name="Straight Connector 56">
            <a:extLst>
              <a:ext uri="{FF2B5EF4-FFF2-40B4-BE49-F238E27FC236}">
                <a16:creationId xmlns:a16="http://schemas.microsoft.com/office/drawing/2014/main" id="{B7BCD5E5-7ECF-4E5D-A41D-7B84D9B16315}"/>
              </a:ext>
            </a:extLst>
          </p:cNvPr>
          <p:cNvCxnSpPr/>
          <p:nvPr/>
        </p:nvCxnSpPr>
        <p:spPr>
          <a:xfrm flipV="1">
            <a:off x="8890391" y="3034424"/>
            <a:ext cx="0" cy="283464"/>
          </a:xfrm>
          <a:prstGeom prst="line">
            <a:avLst/>
          </a:prstGeom>
          <a:ln w="25400" cmpd="sng">
            <a:solidFill>
              <a:srgbClr val="32FFE0"/>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0F5FE77D-2301-48BD-8BA3-1D11093C6628}"/>
              </a:ext>
            </a:extLst>
          </p:cNvPr>
          <p:cNvCxnSpPr>
            <a:cxnSpLocks/>
          </p:cNvCxnSpPr>
          <p:nvPr/>
        </p:nvCxnSpPr>
        <p:spPr>
          <a:xfrm>
            <a:off x="8899535" y="3317888"/>
            <a:ext cx="531040" cy="0"/>
          </a:xfrm>
          <a:prstGeom prst="line">
            <a:avLst/>
          </a:prstGeom>
          <a:ln w="25400" cmpd="sng">
            <a:solidFill>
              <a:srgbClr val="32FFE0"/>
            </a:solidFill>
          </a:ln>
          <a:effectLst/>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FA634809-6C5C-4826-AB66-A151F9BE5E81}"/>
              </a:ext>
            </a:extLst>
          </p:cNvPr>
          <p:cNvCxnSpPr>
            <a:cxnSpLocks/>
          </p:cNvCxnSpPr>
          <p:nvPr/>
        </p:nvCxnSpPr>
        <p:spPr>
          <a:xfrm flipV="1">
            <a:off x="9430575" y="3317888"/>
            <a:ext cx="0" cy="747633"/>
          </a:xfrm>
          <a:prstGeom prst="line">
            <a:avLst/>
          </a:prstGeom>
          <a:ln w="25400" cmpd="sng">
            <a:solidFill>
              <a:srgbClr val="32FFE0"/>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381CFE9E-7FE8-4AB6-BDD3-3FB11D312314}"/>
              </a:ext>
            </a:extLst>
          </p:cNvPr>
          <p:cNvCxnSpPr>
            <a:cxnSpLocks/>
          </p:cNvCxnSpPr>
          <p:nvPr/>
        </p:nvCxnSpPr>
        <p:spPr>
          <a:xfrm>
            <a:off x="9430575" y="4065521"/>
            <a:ext cx="796954" cy="0"/>
          </a:xfrm>
          <a:prstGeom prst="line">
            <a:avLst/>
          </a:prstGeom>
          <a:ln w="25400" cmpd="sng">
            <a:solidFill>
              <a:srgbClr val="32FFE0"/>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3525EEB3-63D7-4D1D-803F-8F7836BCFDC8}"/>
              </a:ext>
            </a:extLst>
          </p:cNvPr>
          <p:cNvCxnSpPr>
            <a:cxnSpLocks/>
          </p:cNvCxnSpPr>
          <p:nvPr/>
        </p:nvCxnSpPr>
        <p:spPr>
          <a:xfrm flipV="1">
            <a:off x="10227529" y="4065521"/>
            <a:ext cx="0" cy="747633"/>
          </a:xfrm>
          <a:prstGeom prst="line">
            <a:avLst/>
          </a:prstGeom>
          <a:ln w="25400" cmpd="sng">
            <a:solidFill>
              <a:srgbClr val="32FFE0"/>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8D71EBDC-C7D0-45D3-B76A-9F59FEAF171A}"/>
              </a:ext>
            </a:extLst>
          </p:cNvPr>
          <p:cNvCxnSpPr>
            <a:cxnSpLocks/>
          </p:cNvCxnSpPr>
          <p:nvPr/>
        </p:nvCxnSpPr>
        <p:spPr>
          <a:xfrm>
            <a:off x="10227529" y="4813154"/>
            <a:ext cx="1191237" cy="0"/>
          </a:xfrm>
          <a:prstGeom prst="line">
            <a:avLst/>
          </a:prstGeom>
          <a:ln w="25400" cmpd="sng">
            <a:solidFill>
              <a:srgbClr val="32FFE0"/>
            </a:solidFill>
          </a:ln>
          <a:effectLst/>
        </p:spPr>
        <p:style>
          <a:lnRef idx="2">
            <a:schemeClr val="accent1"/>
          </a:lnRef>
          <a:fillRef idx="0">
            <a:schemeClr val="accent1"/>
          </a:fillRef>
          <a:effectRef idx="1">
            <a:schemeClr val="accent1"/>
          </a:effectRef>
          <a:fontRef idx="minor">
            <a:schemeClr val="tx1"/>
          </a:fontRef>
        </p:style>
      </p:cxnSp>
      <p:sp>
        <p:nvSpPr>
          <p:cNvPr id="63" name="Rectangle 62">
            <a:extLst>
              <a:ext uri="{FF2B5EF4-FFF2-40B4-BE49-F238E27FC236}">
                <a16:creationId xmlns:a16="http://schemas.microsoft.com/office/drawing/2014/main" id="{5AA77A96-D3E5-4033-A219-7E4B6A6AEC5F}"/>
              </a:ext>
            </a:extLst>
          </p:cNvPr>
          <p:cNvSpPr/>
          <p:nvPr/>
        </p:nvSpPr>
        <p:spPr>
          <a:xfrm>
            <a:off x="10486487" y="4796141"/>
            <a:ext cx="957479" cy="3627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200" b="1" dirty="0">
                <a:solidFill>
                  <a:schemeClr val="tx1"/>
                </a:solidFill>
                <a:latin typeface="Avenir Light"/>
                <a:cs typeface="Avenir Light"/>
              </a:rPr>
              <a:t>Demand</a:t>
            </a:r>
            <a:endParaRPr lang="en-US" sz="1200" b="1" dirty="0" err="1">
              <a:solidFill>
                <a:schemeClr val="tx1"/>
              </a:solidFill>
              <a:latin typeface="Avenir Light"/>
              <a:cs typeface="Avenir Light"/>
            </a:endParaRPr>
          </a:p>
        </p:txBody>
      </p:sp>
      <p:sp>
        <p:nvSpPr>
          <p:cNvPr id="64" name="Rectangle 63">
            <a:extLst>
              <a:ext uri="{FF2B5EF4-FFF2-40B4-BE49-F238E27FC236}">
                <a16:creationId xmlns:a16="http://schemas.microsoft.com/office/drawing/2014/main" id="{64759634-3241-4B97-B736-295F01DD5A12}"/>
              </a:ext>
            </a:extLst>
          </p:cNvPr>
          <p:cNvSpPr/>
          <p:nvPr/>
        </p:nvSpPr>
        <p:spPr>
          <a:xfrm>
            <a:off x="8171798" y="3863014"/>
            <a:ext cx="1074586" cy="3627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200" b="1" dirty="0">
                <a:solidFill>
                  <a:schemeClr val="tx1"/>
                </a:solidFill>
                <a:latin typeface="Avenir Light"/>
                <a:cs typeface="Avenir Light"/>
              </a:rPr>
              <a:t>Market price</a:t>
            </a:r>
            <a:endParaRPr lang="en-US" sz="1200" b="1" dirty="0" err="1">
              <a:solidFill>
                <a:schemeClr val="tx1"/>
              </a:solidFill>
              <a:latin typeface="Avenir Light"/>
              <a:cs typeface="Avenir Light"/>
            </a:endParaRPr>
          </a:p>
        </p:txBody>
      </p:sp>
      <p:sp>
        <p:nvSpPr>
          <p:cNvPr id="65" name="Rectangle 64">
            <a:extLst>
              <a:ext uri="{FF2B5EF4-FFF2-40B4-BE49-F238E27FC236}">
                <a16:creationId xmlns:a16="http://schemas.microsoft.com/office/drawing/2014/main" id="{9AAA9116-1559-42AC-8338-12F9A5DE4AEA}"/>
              </a:ext>
            </a:extLst>
          </p:cNvPr>
          <p:cNvSpPr/>
          <p:nvPr/>
        </p:nvSpPr>
        <p:spPr>
          <a:xfrm>
            <a:off x="10549835" y="2676539"/>
            <a:ext cx="957479" cy="3627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200" b="1" dirty="0">
                <a:solidFill>
                  <a:schemeClr val="tx1"/>
                </a:solidFill>
                <a:latin typeface="Avenir Light"/>
                <a:cs typeface="Avenir Light"/>
              </a:rPr>
              <a:t>Supply</a:t>
            </a:r>
            <a:endParaRPr lang="en-US" sz="1200" b="1" dirty="0" err="1">
              <a:solidFill>
                <a:schemeClr val="tx1"/>
              </a:solidFill>
              <a:latin typeface="Avenir Light"/>
              <a:cs typeface="Avenir Light"/>
            </a:endParaRPr>
          </a:p>
        </p:txBody>
      </p:sp>
      <p:pic>
        <p:nvPicPr>
          <p:cNvPr id="28" name="Picture 27" descr="A blue and green chart with black lines&#10;&#10;Description automatically generated">
            <a:extLst>
              <a:ext uri="{FF2B5EF4-FFF2-40B4-BE49-F238E27FC236}">
                <a16:creationId xmlns:a16="http://schemas.microsoft.com/office/drawing/2014/main" id="{EB179AFD-269D-2D12-2F92-B031B8CF001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15568"/>
          <a:stretch/>
        </p:blipFill>
        <p:spPr>
          <a:xfrm>
            <a:off x="219559" y="2080645"/>
            <a:ext cx="6438458" cy="4103756"/>
          </a:xfrm>
          <a:prstGeom prst="rect">
            <a:avLst/>
          </a:prstGeom>
        </p:spPr>
      </p:pic>
    </p:spTree>
    <p:extLst>
      <p:ext uri="{BB962C8B-B14F-4D97-AF65-F5344CB8AC3E}">
        <p14:creationId xmlns:p14="http://schemas.microsoft.com/office/powerpoint/2010/main" val="3393833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algn="ctr"/>
            <a:r>
              <a:rPr lang="en-US" altLang="da-DK" sz="4000" dirty="0">
                <a:solidFill>
                  <a:schemeClr val="accent1"/>
                </a:solidFill>
                <a:latin typeface="Avenir Light"/>
              </a:rPr>
              <a:t>Bid curve and different assets</a:t>
            </a:r>
          </a:p>
        </p:txBody>
      </p:sp>
      <p:sp>
        <p:nvSpPr>
          <p:cNvPr id="2" name="Text Placeholder 1">
            <a:extLst>
              <a:ext uri="{FF2B5EF4-FFF2-40B4-BE49-F238E27FC236}">
                <a16:creationId xmlns:a16="http://schemas.microsoft.com/office/drawing/2014/main" id="{06AD71A7-7FE5-F787-7380-A1AC315DF193}"/>
              </a:ext>
            </a:extLst>
          </p:cNvPr>
          <p:cNvSpPr>
            <a:spLocks noGrp="1"/>
          </p:cNvSpPr>
          <p:nvPr>
            <p:ph type="body" sz="half" idx="2"/>
          </p:nvPr>
        </p:nvSpPr>
        <p:spPr/>
        <p:txBody>
          <a:bodyPr/>
          <a:lstStyle/>
          <a:p>
            <a:endParaRPr lang="da-DK"/>
          </a:p>
        </p:txBody>
      </p:sp>
      <p:sp>
        <p:nvSpPr>
          <p:cNvPr id="9221" name="Line 3"/>
          <p:cNvSpPr>
            <a:spLocks noChangeShapeType="1"/>
          </p:cNvSpPr>
          <p:nvPr/>
        </p:nvSpPr>
        <p:spPr bwMode="auto">
          <a:xfrm flipV="1">
            <a:off x="2695488" y="2039374"/>
            <a:ext cx="0" cy="4551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a-DK"/>
          </a:p>
        </p:txBody>
      </p:sp>
      <p:sp>
        <p:nvSpPr>
          <p:cNvPr id="9222" name="Line 4"/>
          <p:cNvSpPr>
            <a:spLocks noChangeShapeType="1"/>
          </p:cNvSpPr>
          <p:nvPr/>
        </p:nvSpPr>
        <p:spPr bwMode="auto">
          <a:xfrm>
            <a:off x="2717713" y="4760348"/>
            <a:ext cx="7569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a-DK"/>
          </a:p>
        </p:txBody>
      </p:sp>
      <p:sp>
        <p:nvSpPr>
          <p:cNvPr id="9223" name="Line 5"/>
          <p:cNvSpPr>
            <a:spLocks noChangeShapeType="1"/>
          </p:cNvSpPr>
          <p:nvPr/>
        </p:nvSpPr>
        <p:spPr bwMode="auto">
          <a:xfrm flipV="1">
            <a:off x="2714540" y="5783721"/>
            <a:ext cx="1396416" cy="468877"/>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a-DK"/>
          </a:p>
        </p:txBody>
      </p:sp>
      <p:sp>
        <p:nvSpPr>
          <p:cNvPr id="480262" name="Text Box 6"/>
          <p:cNvSpPr txBox="1">
            <a:spLocks noChangeArrowheads="1"/>
          </p:cNvSpPr>
          <p:nvPr/>
        </p:nvSpPr>
        <p:spPr bwMode="auto">
          <a:xfrm>
            <a:off x="2150977" y="6166307"/>
            <a:ext cx="563562"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400" dirty="0">
                <a:effectLst>
                  <a:outerShdw blurRad="38100" dist="38100" dir="2700000" algn="tl">
                    <a:srgbClr val="C0C0C0"/>
                  </a:outerShdw>
                </a:effectLst>
                <a:latin typeface="Arial" charset="0"/>
              </a:rPr>
              <a:t>-500</a:t>
            </a:r>
            <a:endParaRPr lang="en-US" altLang="da-DK" sz="1400" dirty="0">
              <a:effectLst>
                <a:outerShdw blurRad="38100" dist="38100" dir="2700000" algn="tl">
                  <a:srgbClr val="C0C0C0"/>
                </a:outerShdw>
              </a:effectLst>
              <a:latin typeface="Arial" charset="0"/>
            </a:endParaRPr>
          </a:p>
        </p:txBody>
      </p:sp>
      <p:sp>
        <p:nvSpPr>
          <p:cNvPr id="9225" name="Line 8"/>
          <p:cNvSpPr>
            <a:spLocks noChangeShapeType="1"/>
          </p:cNvSpPr>
          <p:nvPr/>
        </p:nvSpPr>
        <p:spPr bwMode="auto">
          <a:xfrm flipV="1">
            <a:off x="4110956" y="5552511"/>
            <a:ext cx="864182" cy="231211"/>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sp>
        <p:nvSpPr>
          <p:cNvPr id="9226" name="Line 10"/>
          <p:cNvSpPr>
            <a:spLocks noChangeShapeType="1"/>
          </p:cNvSpPr>
          <p:nvPr/>
        </p:nvSpPr>
        <p:spPr bwMode="auto">
          <a:xfrm flipV="1">
            <a:off x="4975139" y="5336611"/>
            <a:ext cx="1076325" cy="2159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grpSp>
        <p:nvGrpSpPr>
          <p:cNvPr id="480292" name="Group 36"/>
          <p:cNvGrpSpPr>
            <a:grpSpLocks/>
          </p:cNvGrpSpPr>
          <p:nvPr/>
        </p:nvGrpSpPr>
        <p:grpSpPr bwMode="auto">
          <a:xfrm>
            <a:off x="2813968" y="2528324"/>
            <a:ext cx="1041400" cy="555625"/>
            <a:chOff x="999" y="3035"/>
            <a:chExt cx="656" cy="350"/>
          </a:xfrm>
        </p:grpSpPr>
        <p:sp>
          <p:nvSpPr>
            <p:cNvPr id="480265" name="Text Box 9"/>
            <p:cNvSpPr txBox="1">
              <a:spLocks noChangeArrowheads="1"/>
            </p:cNvSpPr>
            <p:nvPr/>
          </p:nvSpPr>
          <p:spPr bwMode="auto">
            <a:xfrm>
              <a:off x="1105" y="3068"/>
              <a:ext cx="248"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200" dirty="0">
                  <a:effectLst>
                    <a:outerShdw blurRad="38100" dist="38100" dir="2700000" algn="tl">
                      <a:srgbClr val="C0C0C0"/>
                    </a:outerShdw>
                  </a:effectLst>
                  <a:latin typeface="Arial" charset="0"/>
                </a:rPr>
                <a:t>Wind</a:t>
              </a:r>
              <a:endParaRPr lang="en-US" altLang="da-DK" sz="1200" dirty="0">
                <a:effectLst>
                  <a:outerShdw blurRad="38100" dist="38100" dir="2700000" algn="tl">
                    <a:srgbClr val="C0C0C0"/>
                  </a:outerShdw>
                </a:effectLst>
                <a:latin typeface="Arial" charset="0"/>
              </a:endParaRPr>
            </a:p>
          </p:txBody>
        </p:sp>
        <p:sp>
          <p:nvSpPr>
            <p:cNvPr id="9256" name="Oval 15"/>
            <p:cNvSpPr>
              <a:spLocks noChangeArrowheads="1"/>
            </p:cNvSpPr>
            <p:nvPr/>
          </p:nvSpPr>
          <p:spPr bwMode="auto">
            <a:xfrm>
              <a:off x="999" y="3035"/>
              <a:ext cx="448" cy="24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135BA6"/>
                </a:buClr>
                <a:buChar char="•"/>
                <a:defRPr sz="2000">
                  <a:solidFill>
                    <a:schemeClr val="tx1"/>
                  </a:solidFill>
                  <a:latin typeface="Arial" panose="020B0604020202020204" pitchFamily="34" charset="0"/>
                </a:defRPr>
              </a:lvl1pPr>
              <a:lvl2pPr marL="742950" indent="-285750">
                <a:spcBef>
                  <a:spcPct val="20000"/>
                </a:spcBef>
                <a:buClr>
                  <a:srgbClr val="135BA6"/>
                </a:buClr>
                <a:buChar char="–"/>
                <a:defRPr>
                  <a:solidFill>
                    <a:schemeClr val="tx1"/>
                  </a:solidFill>
                  <a:latin typeface="Arial" panose="020B0604020202020204" pitchFamily="34" charset="0"/>
                </a:defRPr>
              </a:lvl2pPr>
              <a:lvl3pPr marL="1143000" indent="-228600">
                <a:spcBef>
                  <a:spcPct val="20000"/>
                </a:spcBef>
                <a:buClr>
                  <a:srgbClr val="135BA6"/>
                </a:buClr>
                <a:buChar char="•"/>
                <a:defRPr>
                  <a:solidFill>
                    <a:schemeClr val="tx1"/>
                  </a:solidFill>
                  <a:latin typeface="Arial" panose="020B0604020202020204" pitchFamily="34" charset="0"/>
                </a:defRPr>
              </a:lvl3pPr>
              <a:lvl4pPr marL="1600200" indent="-228600">
                <a:spcBef>
                  <a:spcPct val="20000"/>
                </a:spcBef>
                <a:buClr>
                  <a:srgbClr val="135BA6"/>
                </a:buClr>
                <a:buChar char="–"/>
                <a:defRPr>
                  <a:solidFill>
                    <a:schemeClr val="tx1"/>
                  </a:solidFill>
                  <a:latin typeface="Arial" panose="020B0604020202020204" pitchFamily="34" charset="0"/>
                </a:defRPr>
              </a:lvl4pPr>
              <a:lvl5pPr marL="2057400" indent="-228600">
                <a:spcBef>
                  <a:spcPct val="20000"/>
                </a:spcBef>
                <a:buClr>
                  <a:srgbClr val="135BA6"/>
                </a:buClr>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9pPr>
            </a:lstStyle>
            <a:p>
              <a:pPr>
                <a:spcBef>
                  <a:spcPct val="50000"/>
                </a:spcBef>
                <a:buClrTx/>
                <a:buFontTx/>
                <a:buNone/>
              </a:pPr>
              <a:endParaRPr lang="da-DK" altLang="da-DK" sz="1600"/>
            </a:p>
          </p:txBody>
        </p:sp>
        <p:sp>
          <p:nvSpPr>
            <p:cNvPr id="9257" name="Line 16"/>
            <p:cNvSpPr>
              <a:spLocks noChangeShapeType="1"/>
            </p:cNvSpPr>
            <p:nvPr/>
          </p:nvSpPr>
          <p:spPr bwMode="auto">
            <a:xfrm>
              <a:off x="1420" y="3227"/>
              <a:ext cx="235" cy="15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grpSp>
      <p:grpSp>
        <p:nvGrpSpPr>
          <p:cNvPr id="480300" name="Group 44"/>
          <p:cNvGrpSpPr>
            <a:grpSpLocks/>
          </p:cNvGrpSpPr>
          <p:nvPr/>
        </p:nvGrpSpPr>
        <p:grpSpPr bwMode="auto">
          <a:xfrm>
            <a:off x="3533105" y="2601348"/>
            <a:ext cx="1296988" cy="1081088"/>
            <a:chOff x="2381" y="1706"/>
            <a:chExt cx="817" cy="681"/>
          </a:xfrm>
        </p:grpSpPr>
        <p:sp>
          <p:nvSpPr>
            <p:cNvPr id="480268" name="Text Box 12"/>
            <p:cNvSpPr txBox="1">
              <a:spLocks noChangeArrowheads="1"/>
            </p:cNvSpPr>
            <p:nvPr/>
          </p:nvSpPr>
          <p:spPr bwMode="auto">
            <a:xfrm>
              <a:off x="2472" y="1842"/>
              <a:ext cx="590"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200" dirty="0" err="1">
                  <a:effectLst>
                    <a:outerShdw blurRad="38100" dist="38100" dir="2700000" algn="tl">
                      <a:srgbClr val="C0C0C0"/>
                    </a:outerShdw>
                  </a:effectLst>
                  <a:latin typeface="Arial" charset="0"/>
                </a:rPr>
                <a:t>Coal</a:t>
              </a:r>
              <a:r>
                <a:rPr lang="da-DK" altLang="da-DK" sz="1200" dirty="0">
                  <a:effectLst>
                    <a:outerShdw blurRad="38100" dist="38100" dir="2700000" algn="tl">
                      <a:srgbClr val="C0C0C0"/>
                    </a:outerShdw>
                  </a:effectLst>
                  <a:latin typeface="Arial" charset="0"/>
                </a:rPr>
                <a:t> CHP</a:t>
              </a:r>
              <a:endParaRPr lang="en-US" altLang="da-DK" sz="1200" dirty="0">
                <a:effectLst>
                  <a:outerShdw blurRad="38100" dist="38100" dir="2700000" algn="tl">
                    <a:srgbClr val="C0C0C0"/>
                  </a:outerShdw>
                </a:effectLst>
                <a:latin typeface="Arial" charset="0"/>
              </a:endParaRPr>
            </a:p>
          </p:txBody>
        </p:sp>
        <p:sp>
          <p:nvSpPr>
            <p:cNvPr id="9253" name="Oval 19"/>
            <p:cNvSpPr>
              <a:spLocks noChangeArrowheads="1"/>
            </p:cNvSpPr>
            <p:nvPr/>
          </p:nvSpPr>
          <p:spPr bwMode="auto">
            <a:xfrm>
              <a:off x="2381" y="1706"/>
              <a:ext cx="717" cy="50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135BA6"/>
                </a:buClr>
                <a:buChar char="•"/>
                <a:defRPr sz="2000">
                  <a:solidFill>
                    <a:schemeClr val="tx1"/>
                  </a:solidFill>
                  <a:latin typeface="Arial" panose="020B0604020202020204" pitchFamily="34" charset="0"/>
                </a:defRPr>
              </a:lvl1pPr>
              <a:lvl2pPr marL="742950" indent="-285750">
                <a:spcBef>
                  <a:spcPct val="20000"/>
                </a:spcBef>
                <a:buClr>
                  <a:srgbClr val="135BA6"/>
                </a:buClr>
                <a:buChar char="–"/>
                <a:defRPr>
                  <a:solidFill>
                    <a:schemeClr val="tx1"/>
                  </a:solidFill>
                  <a:latin typeface="Arial" panose="020B0604020202020204" pitchFamily="34" charset="0"/>
                </a:defRPr>
              </a:lvl2pPr>
              <a:lvl3pPr marL="1143000" indent="-228600">
                <a:spcBef>
                  <a:spcPct val="20000"/>
                </a:spcBef>
                <a:buClr>
                  <a:srgbClr val="135BA6"/>
                </a:buClr>
                <a:buChar char="•"/>
                <a:defRPr>
                  <a:solidFill>
                    <a:schemeClr val="tx1"/>
                  </a:solidFill>
                  <a:latin typeface="Arial" panose="020B0604020202020204" pitchFamily="34" charset="0"/>
                </a:defRPr>
              </a:lvl3pPr>
              <a:lvl4pPr marL="1600200" indent="-228600">
                <a:spcBef>
                  <a:spcPct val="20000"/>
                </a:spcBef>
                <a:buClr>
                  <a:srgbClr val="135BA6"/>
                </a:buClr>
                <a:buChar char="–"/>
                <a:defRPr>
                  <a:solidFill>
                    <a:schemeClr val="tx1"/>
                  </a:solidFill>
                  <a:latin typeface="Arial" panose="020B0604020202020204" pitchFamily="34" charset="0"/>
                </a:defRPr>
              </a:lvl4pPr>
              <a:lvl5pPr marL="2057400" indent="-228600">
                <a:spcBef>
                  <a:spcPct val="20000"/>
                </a:spcBef>
                <a:buClr>
                  <a:srgbClr val="135BA6"/>
                </a:buClr>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9pPr>
            </a:lstStyle>
            <a:p>
              <a:pPr>
                <a:spcBef>
                  <a:spcPct val="50000"/>
                </a:spcBef>
                <a:buClrTx/>
                <a:buFontTx/>
                <a:buNone/>
              </a:pPr>
              <a:endParaRPr lang="da-DK" altLang="da-DK" sz="1600"/>
            </a:p>
          </p:txBody>
        </p:sp>
        <p:sp>
          <p:nvSpPr>
            <p:cNvPr id="9254" name="Line 20"/>
            <p:cNvSpPr>
              <a:spLocks noChangeShapeType="1"/>
            </p:cNvSpPr>
            <p:nvPr/>
          </p:nvSpPr>
          <p:spPr bwMode="auto">
            <a:xfrm>
              <a:off x="3016" y="2160"/>
              <a:ext cx="182"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grpSp>
      <p:grpSp>
        <p:nvGrpSpPr>
          <p:cNvPr id="480293" name="Group 37"/>
          <p:cNvGrpSpPr>
            <a:grpSpLocks/>
          </p:cNvGrpSpPr>
          <p:nvPr/>
        </p:nvGrpSpPr>
        <p:grpSpPr bwMode="auto">
          <a:xfrm>
            <a:off x="4541169" y="2744224"/>
            <a:ext cx="981238" cy="735013"/>
            <a:chOff x="501" y="3643"/>
            <a:chExt cx="1602" cy="463"/>
          </a:xfrm>
        </p:grpSpPr>
        <p:sp>
          <p:nvSpPr>
            <p:cNvPr id="9249" name="Oval 13"/>
            <p:cNvSpPr>
              <a:spLocks noChangeArrowheads="1"/>
            </p:cNvSpPr>
            <p:nvPr/>
          </p:nvSpPr>
          <p:spPr bwMode="auto">
            <a:xfrm>
              <a:off x="501" y="3784"/>
              <a:ext cx="1581" cy="322"/>
            </a:xfrm>
            <a:prstGeom prst="ellips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135BA6"/>
                </a:buClr>
                <a:buChar char="•"/>
                <a:defRPr sz="2000">
                  <a:solidFill>
                    <a:schemeClr val="tx1"/>
                  </a:solidFill>
                  <a:latin typeface="Arial" panose="020B0604020202020204" pitchFamily="34" charset="0"/>
                </a:defRPr>
              </a:lvl1pPr>
              <a:lvl2pPr marL="742950" indent="-285750">
                <a:spcBef>
                  <a:spcPct val="20000"/>
                </a:spcBef>
                <a:buClr>
                  <a:srgbClr val="135BA6"/>
                </a:buClr>
                <a:buChar char="–"/>
                <a:defRPr>
                  <a:solidFill>
                    <a:schemeClr val="tx1"/>
                  </a:solidFill>
                  <a:latin typeface="Arial" panose="020B0604020202020204" pitchFamily="34" charset="0"/>
                </a:defRPr>
              </a:lvl2pPr>
              <a:lvl3pPr marL="1143000" indent="-228600">
                <a:spcBef>
                  <a:spcPct val="20000"/>
                </a:spcBef>
                <a:buClr>
                  <a:srgbClr val="135BA6"/>
                </a:buClr>
                <a:buChar char="•"/>
                <a:defRPr>
                  <a:solidFill>
                    <a:schemeClr val="tx1"/>
                  </a:solidFill>
                  <a:latin typeface="Arial" panose="020B0604020202020204" pitchFamily="34" charset="0"/>
                </a:defRPr>
              </a:lvl3pPr>
              <a:lvl4pPr marL="1600200" indent="-228600">
                <a:spcBef>
                  <a:spcPct val="20000"/>
                </a:spcBef>
                <a:buClr>
                  <a:srgbClr val="135BA6"/>
                </a:buClr>
                <a:buChar char="–"/>
                <a:defRPr>
                  <a:solidFill>
                    <a:schemeClr val="tx1"/>
                  </a:solidFill>
                  <a:latin typeface="Arial" panose="020B0604020202020204" pitchFamily="34" charset="0"/>
                </a:defRPr>
              </a:lvl4pPr>
              <a:lvl5pPr marL="2057400" indent="-228600">
                <a:spcBef>
                  <a:spcPct val="20000"/>
                </a:spcBef>
                <a:buClr>
                  <a:srgbClr val="135BA6"/>
                </a:buClr>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9pPr>
            </a:lstStyle>
            <a:p>
              <a:pPr>
                <a:spcBef>
                  <a:spcPct val="50000"/>
                </a:spcBef>
                <a:buClrTx/>
                <a:buFontTx/>
                <a:buNone/>
              </a:pPr>
              <a:endParaRPr lang="da-DK" altLang="da-DK" sz="1600"/>
            </a:p>
          </p:txBody>
        </p:sp>
        <p:sp>
          <p:nvSpPr>
            <p:cNvPr id="9250" name="Line 14"/>
            <p:cNvSpPr>
              <a:spLocks noChangeShapeType="1"/>
            </p:cNvSpPr>
            <p:nvPr/>
          </p:nvSpPr>
          <p:spPr bwMode="auto">
            <a:xfrm flipH="1" flipV="1">
              <a:off x="1098" y="3643"/>
              <a:ext cx="26" cy="1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sp>
          <p:nvSpPr>
            <p:cNvPr id="480277" name="Text Box 21"/>
            <p:cNvSpPr txBox="1">
              <a:spLocks noChangeArrowheads="1"/>
            </p:cNvSpPr>
            <p:nvPr/>
          </p:nvSpPr>
          <p:spPr bwMode="auto">
            <a:xfrm>
              <a:off x="729" y="3875"/>
              <a:ext cx="1374" cy="1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400" dirty="0" err="1">
                  <a:effectLst>
                    <a:outerShdw blurRad="38100" dist="38100" dir="2700000" algn="tl">
                      <a:srgbClr val="C0C0C0"/>
                    </a:outerShdw>
                  </a:effectLst>
                  <a:latin typeface="Arial" charset="0"/>
                </a:rPr>
                <a:t>Nuclear</a:t>
              </a:r>
              <a:endParaRPr lang="en-US" altLang="da-DK" sz="1400" dirty="0">
                <a:effectLst>
                  <a:outerShdw blurRad="38100" dist="38100" dir="2700000" algn="tl">
                    <a:srgbClr val="C0C0C0"/>
                  </a:outerShdw>
                </a:effectLst>
                <a:latin typeface="Arial" charset="0"/>
              </a:endParaRPr>
            </a:p>
          </p:txBody>
        </p:sp>
      </p:grpSp>
      <p:sp>
        <p:nvSpPr>
          <p:cNvPr id="480278" name="Text Box 22"/>
          <p:cNvSpPr txBox="1">
            <a:spLocks noChangeArrowheads="1"/>
          </p:cNvSpPr>
          <p:nvPr/>
        </p:nvSpPr>
        <p:spPr bwMode="auto">
          <a:xfrm>
            <a:off x="2301205" y="1770828"/>
            <a:ext cx="744538" cy="1846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200" dirty="0">
                <a:effectLst>
                  <a:outerShdw blurRad="38100" dist="38100" dir="2700000" algn="tl">
                    <a:srgbClr val="C0C0C0"/>
                  </a:outerShdw>
                </a:effectLst>
                <a:latin typeface="Arial" charset="0"/>
              </a:rPr>
              <a:t>Euro/MWh</a:t>
            </a:r>
          </a:p>
        </p:txBody>
      </p:sp>
      <p:sp>
        <p:nvSpPr>
          <p:cNvPr id="480279" name="Text Box 23"/>
          <p:cNvSpPr txBox="1">
            <a:spLocks noChangeArrowheads="1"/>
          </p:cNvSpPr>
          <p:nvPr/>
        </p:nvSpPr>
        <p:spPr bwMode="auto">
          <a:xfrm>
            <a:off x="9914644" y="4863814"/>
            <a:ext cx="744538" cy="1846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200" dirty="0">
                <a:effectLst>
                  <a:outerShdw blurRad="38100" dist="38100" dir="2700000" algn="tl">
                    <a:srgbClr val="C0C0C0"/>
                  </a:outerShdw>
                </a:effectLst>
                <a:latin typeface="Arial" charset="0"/>
              </a:rPr>
              <a:t>MWh</a:t>
            </a:r>
          </a:p>
        </p:txBody>
      </p:sp>
      <p:sp>
        <p:nvSpPr>
          <p:cNvPr id="480280" name="Text Box 24"/>
          <p:cNvSpPr txBox="1">
            <a:spLocks noChangeArrowheads="1"/>
          </p:cNvSpPr>
          <p:nvPr/>
        </p:nvSpPr>
        <p:spPr bwMode="auto">
          <a:xfrm>
            <a:off x="2480884" y="4596270"/>
            <a:ext cx="182563"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400">
                <a:effectLst>
                  <a:outerShdw blurRad="38100" dist="38100" dir="2700000" algn="tl">
                    <a:srgbClr val="C0C0C0"/>
                  </a:outerShdw>
                </a:effectLst>
                <a:latin typeface="Arial" charset="0"/>
              </a:rPr>
              <a:t>0</a:t>
            </a:r>
          </a:p>
        </p:txBody>
      </p:sp>
      <p:sp>
        <p:nvSpPr>
          <p:cNvPr id="9233" name="Line 25"/>
          <p:cNvSpPr>
            <a:spLocks noChangeShapeType="1"/>
          </p:cNvSpPr>
          <p:nvPr/>
        </p:nvSpPr>
        <p:spPr bwMode="auto">
          <a:xfrm flipV="1">
            <a:off x="8981717" y="2344508"/>
            <a:ext cx="423863" cy="998538"/>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sp>
        <p:nvSpPr>
          <p:cNvPr id="9234" name="Line 26"/>
          <p:cNvSpPr>
            <a:spLocks noChangeShapeType="1"/>
          </p:cNvSpPr>
          <p:nvPr/>
        </p:nvSpPr>
        <p:spPr bwMode="auto">
          <a:xfrm flipV="1">
            <a:off x="7901904" y="3336360"/>
            <a:ext cx="1079813" cy="8900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dirty="0"/>
          </a:p>
        </p:txBody>
      </p:sp>
      <p:grpSp>
        <p:nvGrpSpPr>
          <p:cNvPr id="480306" name="Group 50"/>
          <p:cNvGrpSpPr>
            <a:grpSpLocks/>
          </p:cNvGrpSpPr>
          <p:nvPr/>
        </p:nvGrpSpPr>
        <p:grpSpPr bwMode="auto">
          <a:xfrm>
            <a:off x="4541168" y="2601349"/>
            <a:ext cx="1244600" cy="506413"/>
            <a:chOff x="4286" y="1389"/>
            <a:chExt cx="784" cy="319"/>
          </a:xfrm>
        </p:grpSpPr>
        <p:sp>
          <p:nvSpPr>
            <p:cNvPr id="480285" name="Text Box 29"/>
            <p:cNvSpPr txBox="1">
              <a:spLocks noChangeArrowheads="1"/>
            </p:cNvSpPr>
            <p:nvPr/>
          </p:nvSpPr>
          <p:spPr bwMode="auto">
            <a:xfrm>
              <a:off x="4508" y="1487"/>
              <a:ext cx="488" cy="1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400" dirty="0">
                  <a:effectLst>
                    <a:outerShdw blurRad="38100" dist="38100" dir="2700000" algn="tl">
                      <a:srgbClr val="C0C0C0"/>
                    </a:outerShdw>
                  </a:effectLst>
                  <a:latin typeface="Arial" charset="0"/>
                </a:rPr>
                <a:t>Oil/Gas</a:t>
              </a:r>
            </a:p>
          </p:txBody>
        </p:sp>
        <p:sp>
          <p:nvSpPr>
            <p:cNvPr id="9247" name="Oval 30"/>
            <p:cNvSpPr>
              <a:spLocks noChangeArrowheads="1"/>
            </p:cNvSpPr>
            <p:nvPr/>
          </p:nvSpPr>
          <p:spPr bwMode="auto">
            <a:xfrm>
              <a:off x="4400" y="1414"/>
              <a:ext cx="670" cy="29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135BA6"/>
                </a:buClr>
                <a:buChar char="•"/>
                <a:defRPr sz="2000">
                  <a:solidFill>
                    <a:schemeClr val="tx1"/>
                  </a:solidFill>
                  <a:latin typeface="Arial" panose="020B0604020202020204" pitchFamily="34" charset="0"/>
                </a:defRPr>
              </a:lvl1pPr>
              <a:lvl2pPr marL="742950" indent="-285750">
                <a:spcBef>
                  <a:spcPct val="20000"/>
                </a:spcBef>
                <a:buClr>
                  <a:srgbClr val="135BA6"/>
                </a:buClr>
                <a:buChar char="–"/>
                <a:defRPr>
                  <a:solidFill>
                    <a:schemeClr val="tx1"/>
                  </a:solidFill>
                  <a:latin typeface="Arial" panose="020B0604020202020204" pitchFamily="34" charset="0"/>
                </a:defRPr>
              </a:lvl2pPr>
              <a:lvl3pPr marL="1143000" indent="-228600">
                <a:spcBef>
                  <a:spcPct val="20000"/>
                </a:spcBef>
                <a:buClr>
                  <a:srgbClr val="135BA6"/>
                </a:buClr>
                <a:buChar char="•"/>
                <a:defRPr>
                  <a:solidFill>
                    <a:schemeClr val="tx1"/>
                  </a:solidFill>
                  <a:latin typeface="Arial" panose="020B0604020202020204" pitchFamily="34" charset="0"/>
                </a:defRPr>
              </a:lvl3pPr>
              <a:lvl4pPr marL="1600200" indent="-228600">
                <a:spcBef>
                  <a:spcPct val="20000"/>
                </a:spcBef>
                <a:buClr>
                  <a:srgbClr val="135BA6"/>
                </a:buClr>
                <a:buChar char="–"/>
                <a:defRPr>
                  <a:solidFill>
                    <a:schemeClr val="tx1"/>
                  </a:solidFill>
                  <a:latin typeface="Arial" panose="020B0604020202020204" pitchFamily="34" charset="0"/>
                </a:defRPr>
              </a:lvl4pPr>
              <a:lvl5pPr marL="2057400" indent="-228600">
                <a:spcBef>
                  <a:spcPct val="20000"/>
                </a:spcBef>
                <a:buClr>
                  <a:srgbClr val="135BA6"/>
                </a:buClr>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9pPr>
            </a:lstStyle>
            <a:p>
              <a:pPr>
                <a:spcBef>
                  <a:spcPct val="50000"/>
                </a:spcBef>
                <a:buClrTx/>
                <a:buFontTx/>
                <a:buNone/>
              </a:pPr>
              <a:endParaRPr lang="da-DK" altLang="da-DK" sz="1600"/>
            </a:p>
          </p:txBody>
        </p:sp>
        <p:sp>
          <p:nvSpPr>
            <p:cNvPr id="9248" name="Line 32"/>
            <p:cNvSpPr>
              <a:spLocks noChangeShapeType="1"/>
            </p:cNvSpPr>
            <p:nvPr/>
          </p:nvSpPr>
          <p:spPr bwMode="auto">
            <a:xfrm flipH="1" flipV="1">
              <a:off x="4286" y="1389"/>
              <a:ext cx="221" cy="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grpSp>
      <p:sp>
        <p:nvSpPr>
          <p:cNvPr id="9236" name="Line 33"/>
          <p:cNvSpPr>
            <a:spLocks noChangeShapeType="1"/>
          </p:cNvSpPr>
          <p:nvPr/>
        </p:nvSpPr>
        <p:spPr bwMode="auto">
          <a:xfrm flipV="1">
            <a:off x="6054639" y="4221601"/>
            <a:ext cx="1860293" cy="1115009"/>
          </a:xfrm>
          <a:prstGeom prst="line">
            <a:avLst/>
          </a:prstGeom>
          <a:noFill/>
          <a:ln w="349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sp>
        <p:nvSpPr>
          <p:cNvPr id="480291" name="Rectangle 35"/>
          <p:cNvSpPr>
            <a:spLocks noChangeArrowheads="1"/>
          </p:cNvSpPr>
          <p:nvPr/>
        </p:nvSpPr>
        <p:spPr bwMode="auto">
          <a:xfrm>
            <a:off x="2669505" y="2167962"/>
            <a:ext cx="2668016" cy="340735"/>
          </a:xfrm>
          <a:prstGeom prst="rect">
            <a:avLst/>
          </a:prstGeom>
          <a:noFill/>
          <a:ln>
            <a:noFill/>
          </a:ln>
          <a:effectLst/>
          <a:extLst>
            <a:ext uri="{909E8E84-426E-40DD-AFC4-6F175D3DCCD1}">
              <a14:hiddenFill xmlns:a14="http://schemas.microsoft.com/office/drawing/2010/main">
                <a:solidFill>
                  <a:srgbClr val="FFB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rgbClr val="135BA6"/>
              </a:buClr>
              <a:buChar char="•"/>
              <a:defRPr sz="2000">
                <a:solidFill>
                  <a:schemeClr val="tx1"/>
                </a:solidFill>
                <a:latin typeface="Arial" panose="020B0604020202020204" pitchFamily="34" charset="0"/>
              </a:defRPr>
            </a:lvl1pPr>
            <a:lvl2pPr marL="742950" indent="-285750">
              <a:spcBef>
                <a:spcPct val="20000"/>
              </a:spcBef>
              <a:buClr>
                <a:srgbClr val="135BA6"/>
              </a:buClr>
              <a:buChar char="–"/>
              <a:defRPr>
                <a:solidFill>
                  <a:schemeClr val="tx1"/>
                </a:solidFill>
                <a:latin typeface="Arial" panose="020B0604020202020204" pitchFamily="34" charset="0"/>
              </a:defRPr>
            </a:lvl2pPr>
            <a:lvl3pPr marL="1143000" indent="-228600">
              <a:spcBef>
                <a:spcPct val="20000"/>
              </a:spcBef>
              <a:buClr>
                <a:srgbClr val="135BA6"/>
              </a:buClr>
              <a:buChar char="•"/>
              <a:defRPr>
                <a:solidFill>
                  <a:schemeClr val="tx1"/>
                </a:solidFill>
                <a:latin typeface="Arial" panose="020B0604020202020204" pitchFamily="34" charset="0"/>
              </a:defRPr>
            </a:lvl3pPr>
            <a:lvl4pPr marL="1600200" indent="-228600">
              <a:spcBef>
                <a:spcPct val="20000"/>
              </a:spcBef>
              <a:buClr>
                <a:srgbClr val="135BA6"/>
              </a:buClr>
              <a:buChar char="–"/>
              <a:defRPr>
                <a:solidFill>
                  <a:schemeClr val="tx1"/>
                </a:solidFill>
                <a:latin typeface="Arial" panose="020B0604020202020204" pitchFamily="34" charset="0"/>
              </a:defRPr>
            </a:lvl4pPr>
            <a:lvl5pPr marL="2057400" indent="-228600">
              <a:spcBef>
                <a:spcPct val="20000"/>
              </a:spcBef>
              <a:buClr>
                <a:srgbClr val="135BA6"/>
              </a:buClr>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9pPr>
          </a:lstStyle>
          <a:p>
            <a:pPr>
              <a:buFontTx/>
              <a:buNone/>
            </a:pPr>
            <a:r>
              <a:rPr lang="da-DK" altLang="da-DK" sz="1600" dirty="0" err="1">
                <a:solidFill>
                  <a:schemeClr val="bg1"/>
                </a:solidFill>
              </a:rPr>
              <a:t>What</a:t>
            </a:r>
            <a:r>
              <a:rPr lang="da-DK" altLang="da-DK" sz="1600" dirty="0">
                <a:solidFill>
                  <a:schemeClr val="bg1"/>
                </a:solidFill>
              </a:rPr>
              <a:t> is the marginal </a:t>
            </a:r>
            <a:r>
              <a:rPr lang="da-DK" altLang="da-DK" sz="1600" dirty="0" err="1">
                <a:solidFill>
                  <a:schemeClr val="bg1"/>
                </a:solidFill>
              </a:rPr>
              <a:t>price</a:t>
            </a:r>
            <a:r>
              <a:rPr lang="da-DK" altLang="da-DK" sz="1600" dirty="0">
                <a:solidFill>
                  <a:schemeClr val="bg1"/>
                </a:solidFill>
              </a:rPr>
              <a:t>?</a:t>
            </a:r>
          </a:p>
        </p:txBody>
      </p:sp>
      <p:grpSp>
        <p:nvGrpSpPr>
          <p:cNvPr id="480296" name="Group 40"/>
          <p:cNvGrpSpPr>
            <a:grpSpLocks/>
          </p:cNvGrpSpPr>
          <p:nvPr/>
        </p:nvGrpSpPr>
        <p:grpSpPr bwMode="auto">
          <a:xfrm>
            <a:off x="3101305" y="2744224"/>
            <a:ext cx="1498600" cy="873125"/>
            <a:chOff x="3061" y="2886"/>
            <a:chExt cx="944" cy="550"/>
          </a:xfrm>
        </p:grpSpPr>
        <p:sp>
          <p:nvSpPr>
            <p:cNvPr id="480297" name="Text Box 41"/>
            <p:cNvSpPr txBox="1">
              <a:spLocks noChangeArrowheads="1"/>
            </p:cNvSpPr>
            <p:nvPr/>
          </p:nvSpPr>
          <p:spPr bwMode="auto">
            <a:xfrm>
              <a:off x="3379" y="3067"/>
              <a:ext cx="590"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200" dirty="0" err="1">
                  <a:effectLst>
                    <a:outerShdw blurRad="38100" dist="38100" dir="2700000" algn="tl">
                      <a:srgbClr val="C0C0C0"/>
                    </a:outerShdw>
                  </a:effectLst>
                  <a:latin typeface="Arial" charset="0"/>
                </a:rPr>
                <a:t>Coal</a:t>
              </a:r>
              <a:r>
                <a:rPr lang="da-DK" altLang="da-DK" sz="1200" dirty="0">
                  <a:effectLst>
                    <a:outerShdw blurRad="38100" dist="38100" dir="2700000" algn="tl">
                      <a:srgbClr val="C0C0C0"/>
                    </a:outerShdw>
                  </a:effectLst>
                  <a:latin typeface="Arial" charset="0"/>
                </a:rPr>
                <a:t> </a:t>
              </a:r>
              <a:r>
                <a:rPr lang="da-DK" altLang="da-DK" sz="1200" dirty="0" err="1">
                  <a:effectLst>
                    <a:outerShdw blurRad="38100" dist="38100" dir="2700000" algn="tl">
                      <a:srgbClr val="C0C0C0"/>
                    </a:outerShdw>
                  </a:effectLst>
                  <a:latin typeface="Arial" charset="0"/>
                </a:rPr>
                <a:t>Condensing</a:t>
              </a:r>
              <a:endParaRPr lang="en-US" altLang="da-DK" sz="1200" dirty="0">
                <a:effectLst>
                  <a:outerShdw blurRad="38100" dist="38100" dir="2700000" algn="tl">
                    <a:srgbClr val="C0C0C0"/>
                  </a:outerShdw>
                </a:effectLst>
                <a:latin typeface="Arial" charset="0"/>
              </a:endParaRPr>
            </a:p>
          </p:txBody>
        </p:sp>
        <p:sp>
          <p:nvSpPr>
            <p:cNvPr id="9244" name="Oval 42"/>
            <p:cNvSpPr>
              <a:spLocks noChangeArrowheads="1"/>
            </p:cNvSpPr>
            <p:nvPr/>
          </p:nvSpPr>
          <p:spPr bwMode="auto">
            <a:xfrm>
              <a:off x="3288" y="2931"/>
              <a:ext cx="717" cy="50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135BA6"/>
                </a:buClr>
                <a:buChar char="•"/>
                <a:defRPr sz="2000">
                  <a:solidFill>
                    <a:schemeClr val="tx1"/>
                  </a:solidFill>
                  <a:latin typeface="Arial" panose="020B0604020202020204" pitchFamily="34" charset="0"/>
                </a:defRPr>
              </a:lvl1pPr>
              <a:lvl2pPr marL="742950" indent="-285750">
                <a:spcBef>
                  <a:spcPct val="20000"/>
                </a:spcBef>
                <a:buClr>
                  <a:srgbClr val="135BA6"/>
                </a:buClr>
                <a:buChar char="–"/>
                <a:defRPr>
                  <a:solidFill>
                    <a:schemeClr val="tx1"/>
                  </a:solidFill>
                  <a:latin typeface="Arial" panose="020B0604020202020204" pitchFamily="34" charset="0"/>
                </a:defRPr>
              </a:lvl2pPr>
              <a:lvl3pPr marL="1143000" indent="-228600">
                <a:spcBef>
                  <a:spcPct val="20000"/>
                </a:spcBef>
                <a:buClr>
                  <a:srgbClr val="135BA6"/>
                </a:buClr>
                <a:buChar char="•"/>
                <a:defRPr>
                  <a:solidFill>
                    <a:schemeClr val="tx1"/>
                  </a:solidFill>
                  <a:latin typeface="Arial" panose="020B0604020202020204" pitchFamily="34" charset="0"/>
                </a:defRPr>
              </a:lvl3pPr>
              <a:lvl4pPr marL="1600200" indent="-228600">
                <a:spcBef>
                  <a:spcPct val="20000"/>
                </a:spcBef>
                <a:buClr>
                  <a:srgbClr val="135BA6"/>
                </a:buClr>
                <a:buChar char="–"/>
                <a:defRPr>
                  <a:solidFill>
                    <a:schemeClr val="tx1"/>
                  </a:solidFill>
                  <a:latin typeface="Arial" panose="020B0604020202020204" pitchFamily="34" charset="0"/>
                </a:defRPr>
              </a:lvl4pPr>
              <a:lvl5pPr marL="2057400" indent="-228600">
                <a:spcBef>
                  <a:spcPct val="20000"/>
                </a:spcBef>
                <a:buClr>
                  <a:srgbClr val="135BA6"/>
                </a:buClr>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9pPr>
            </a:lstStyle>
            <a:p>
              <a:pPr>
                <a:spcBef>
                  <a:spcPct val="50000"/>
                </a:spcBef>
                <a:buClrTx/>
                <a:buFontTx/>
                <a:buNone/>
              </a:pPr>
              <a:endParaRPr lang="da-DK" altLang="da-DK" sz="1600"/>
            </a:p>
          </p:txBody>
        </p:sp>
        <p:sp>
          <p:nvSpPr>
            <p:cNvPr id="9245" name="Line 43"/>
            <p:cNvSpPr>
              <a:spLocks noChangeShapeType="1"/>
            </p:cNvSpPr>
            <p:nvPr/>
          </p:nvSpPr>
          <p:spPr bwMode="auto">
            <a:xfrm flipH="1" flipV="1">
              <a:off x="3061" y="2886"/>
              <a:ext cx="227" cy="1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grpSp>
      <p:grpSp>
        <p:nvGrpSpPr>
          <p:cNvPr id="480305" name="Group 49"/>
          <p:cNvGrpSpPr>
            <a:grpSpLocks/>
          </p:cNvGrpSpPr>
          <p:nvPr/>
        </p:nvGrpSpPr>
        <p:grpSpPr bwMode="auto">
          <a:xfrm>
            <a:off x="3750593" y="2601348"/>
            <a:ext cx="1441450" cy="647700"/>
            <a:chOff x="2925" y="3158"/>
            <a:chExt cx="908" cy="408"/>
          </a:xfrm>
        </p:grpSpPr>
        <p:sp>
          <p:nvSpPr>
            <p:cNvPr id="480302" name="Text Box 46"/>
            <p:cNvSpPr txBox="1">
              <a:spLocks noChangeArrowheads="1"/>
            </p:cNvSpPr>
            <p:nvPr/>
          </p:nvSpPr>
          <p:spPr bwMode="auto">
            <a:xfrm>
              <a:off x="3288" y="3339"/>
              <a:ext cx="453" cy="1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lang="da-DK" altLang="da-DK" sz="1200" dirty="0">
                  <a:effectLst>
                    <a:outerShdw blurRad="38100" dist="38100" dir="2700000" algn="tl">
                      <a:srgbClr val="C0C0C0"/>
                    </a:outerShdw>
                  </a:effectLst>
                  <a:latin typeface="Arial" charset="0"/>
                </a:rPr>
                <a:t>Hydro</a:t>
              </a:r>
              <a:endParaRPr lang="en-US" altLang="da-DK" sz="1200" dirty="0">
                <a:effectLst>
                  <a:outerShdw blurRad="38100" dist="38100" dir="2700000" algn="tl">
                    <a:srgbClr val="C0C0C0"/>
                  </a:outerShdw>
                </a:effectLst>
                <a:latin typeface="Arial" charset="0"/>
              </a:endParaRPr>
            </a:p>
          </p:txBody>
        </p:sp>
        <p:sp>
          <p:nvSpPr>
            <p:cNvPr id="9241" name="Oval 47"/>
            <p:cNvSpPr>
              <a:spLocks noChangeArrowheads="1"/>
            </p:cNvSpPr>
            <p:nvPr/>
          </p:nvSpPr>
          <p:spPr bwMode="auto">
            <a:xfrm>
              <a:off x="3152" y="3203"/>
              <a:ext cx="681" cy="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Clr>
                  <a:srgbClr val="135BA6"/>
                </a:buClr>
                <a:buChar char="•"/>
                <a:defRPr sz="2000">
                  <a:solidFill>
                    <a:schemeClr val="tx1"/>
                  </a:solidFill>
                  <a:latin typeface="Arial" panose="020B0604020202020204" pitchFamily="34" charset="0"/>
                </a:defRPr>
              </a:lvl1pPr>
              <a:lvl2pPr marL="742950" indent="-285750">
                <a:spcBef>
                  <a:spcPct val="20000"/>
                </a:spcBef>
                <a:buClr>
                  <a:srgbClr val="135BA6"/>
                </a:buClr>
                <a:buChar char="–"/>
                <a:defRPr>
                  <a:solidFill>
                    <a:schemeClr val="tx1"/>
                  </a:solidFill>
                  <a:latin typeface="Arial" panose="020B0604020202020204" pitchFamily="34" charset="0"/>
                </a:defRPr>
              </a:lvl2pPr>
              <a:lvl3pPr marL="1143000" indent="-228600">
                <a:spcBef>
                  <a:spcPct val="20000"/>
                </a:spcBef>
                <a:buClr>
                  <a:srgbClr val="135BA6"/>
                </a:buClr>
                <a:buChar char="•"/>
                <a:defRPr>
                  <a:solidFill>
                    <a:schemeClr val="tx1"/>
                  </a:solidFill>
                  <a:latin typeface="Arial" panose="020B0604020202020204" pitchFamily="34" charset="0"/>
                </a:defRPr>
              </a:lvl3pPr>
              <a:lvl4pPr marL="1600200" indent="-228600">
                <a:spcBef>
                  <a:spcPct val="20000"/>
                </a:spcBef>
                <a:buClr>
                  <a:srgbClr val="135BA6"/>
                </a:buClr>
                <a:buChar char="–"/>
                <a:defRPr>
                  <a:solidFill>
                    <a:schemeClr val="tx1"/>
                  </a:solidFill>
                  <a:latin typeface="Arial" panose="020B0604020202020204" pitchFamily="34" charset="0"/>
                </a:defRPr>
              </a:lvl4pPr>
              <a:lvl5pPr marL="2057400" indent="-228600">
                <a:spcBef>
                  <a:spcPct val="20000"/>
                </a:spcBef>
                <a:buClr>
                  <a:srgbClr val="135BA6"/>
                </a:buClr>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135BA6"/>
                </a:buClr>
                <a:buChar char="»"/>
                <a:defRPr>
                  <a:solidFill>
                    <a:schemeClr val="tx1"/>
                  </a:solidFill>
                  <a:latin typeface="Arial" panose="020B0604020202020204" pitchFamily="34" charset="0"/>
                </a:defRPr>
              </a:lvl9pPr>
            </a:lstStyle>
            <a:p>
              <a:pPr>
                <a:spcBef>
                  <a:spcPct val="50000"/>
                </a:spcBef>
                <a:buClrTx/>
                <a:buFontTx/>
                <a:buNone/>
              </a:pPr>
              <a:endParaRPr lang="da-DK" altLang="da-DK" sz="1600"/>
            </a:p>
          </p:txBody>
        </p:sp>
        <p:sp>
          <p:nvSpPr>
            <p:cNvPr id="9242" name="Line 48"/>
            <p:cNvSpPr>
              <a:spLocks noChangeShapeType="1"/>
            </p:cNvSpPr>
            <p:nvPr/>
          </p:nvSpPr>
          <p:spPr bwMode="auto">
            <a:xfrm flipH="1" flipV="1">
              <a:off x="2925" y="3158"/>
              <a:ext cx="227"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da-DK"/>
            </a:p>
          </p:txBody>
        </p:sp>
      </p:grpSp>
    </p:spTree>
    <p:extLst>
      <p:ext uri="{BB962C8B-B14F-4D97-AF65-F5344CB8AC3E}">
        <p14:creationId xmlns:p14="http://schemas.microsoft.com/office/powerpoint/2010/main" val="2859369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02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029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nodeType="clickEffect">
                                  <p:stCondLst>
                                    <p:cond delay="0"/>
                                  </p:stCondLst>
                                  <p:childTnLst>
                                    <p:animMotion origin="layout" path="M 2.29167E-6 7.40741E-7 L -0.03164 0.39884 " pathEditMode="relative" rAng="0" ptsTypes="AA">
                                      <p:cBhvr>
                                        <p:cTn id="14" dur="2000" fill="hold"/>
                                        <p:tgtEl>
                                          <p:spTgt spid="480292"/>
                                        </p:tgtEl>
                                        <p:attrNameLst>
                                          <p:attrName>ppt_x</p:attrName>
                                          <p:attrName>ppt_y</p:attrName>
                                        </p:attrNameLst>
                                      </p:cBhvr>
                                      <p:rCtr x="-1589" y="19931"/>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803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nodeType="clickEffect">
                                  <p:stCondLst>
                                    <p:cond delay="0"/>
                                  </p:stCondLst>
                                  <p:childTnLst>
                                    <p:animMotion origin="layout" path="M 3.125E-6 -3.7037E-7 L 0.25976 0.39352 " pathEditMode="relative" rAng="0" ptsTypes="AA">
                                      <p:cBhvr>
                                        <p:cTn id="22" dur="2000" fill="hold"/>
                                        <p:tgtEl>
                                          <p:spTgt spid="480305"/>
                                        </p:tgtEl>
                                        <p:attrNameLst>
                                          <p:attrName>ppt_x</p:attrName>
                                          <p:attrName>ppt_y</p:attrName>
                                        </p:attrNameLst>
                                      </p:cBhvr>
                                      <p:rCtr x="12982" y="19676"/>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8030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0" presetClass="path" presetSubtype="0" accel="50000" decel="50000" fill="hold" nodeType="clickEffect">
                                  <p:stCondLst>
                                    <p:cond delay="0"/>
                                  </p:stCondLst>
                                  <p:childTnLst>
                                    <p:animMotion origin="layout" path="M 2.29167E-6 -3.7037E-6 L 0.42812 -0.00532 " pathEditMode="relative" rAng="0" ptsTypes="AA">
                                      <p:cBhvr>
                                        <p:cTn id="30" dur="2000" fill="hold"/>
                                        <p:tgtEl>
                                          <p:spTgt spid="480306"/>
                                        </p:tgtEl>
                                        <p:attrNameLst>
                                          <p:attrName>ppt_x</p:attrName>
                                          <p:attrName>ppt_y</p:attrName>
                                        </p:attrNameLst>
                                      </p:cBhvr>
                                      <p:rCtr x="21406" y="-278"/>
                                    </p:animMotion>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8029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0" presetClass="path" presetSubtype="0" accel="50000" decel="50000" fill="hold" nodeType="clickEffect">
                                  <p:stCondLst>
                                    <p:cond delay="0"/>
                                  </p:stCondLst>
                                  <p:childTnLst>
                                    <p:animMotion origin="layout" path="M 4.58333E-6 1.11111E-6 L 0.48815 0.14699 " pathEditMode="relative" rAng="0" ptsTypes="AA">
                                      <p:cBhvr>
                                        <p:cTn id="38" dur="2000" fill="hold"/>
                                        <p:tgtEl>
                                          <p:spTgt spid="480296"/>
                                        </p:tgtEl>
                                        <p:attrNameLst>
                                          <p:attrName>ppt_x</p:attrName>
                                          <p:attrName>ppt_y</p:attrName>
                                        </p:attrNameLst>
                                      </p:cBhvr>
                                      <p:rCtr x="24401" y="7338"/>
                                    </p:animMotion>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8029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0" presetClass="path" presetSubtype="0" accel="50000" decel="50000" fill="hold" nodeType="clickEffect">
                                  <p:stCondLst>
                                    <p:cond delay="0"/>
                                  </p:stCondLst>
                                  <p:childTnLst>
                                    <p:animMotion origin="layout" path="M -4.16667E-7 -3.7037E-6 L -0.03164 0.44074 " pathEditMode="relative" rAng="0" ptsTypes="AA">
                                      <p:cBhvr>
                                        <p:cTn id="46" dur="2000" fill="hold"/>
                                        <p:tgtEl>
                                          <p:spTgt spid="480293"/>
                                        </p:tgtEl>
                                        <p:attrNameLst>
                                          <p:attrName>ppt_x</p:attrName>
                                          <p:attrName>ppt_y</p:attrName>
                                        </p:attrNameLst>
                                      </p:cBhvr>
                                      <p:rCtr x="-1589" y="22037"/>
                                    </p:animMotion>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48030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0" presetClass="path" presetSubtype="0" accel="50000" decel="50000" fill="hold" nodeType="clickEffect">
                                  <p:stCondLst>
                                    <p:cond delay="0"/>
                                  </p:stCondLst>
                                  <p:childTnLst>
                                    <p:animMotion origin="layout" path="M 1.25E-6 -1.85185E-6 L 0.20482 0.11019 " pathEditMode="relative" rAng="0" ptsTypes="AA">
                                      <p:cBhvr>
                                        <p:cTn id="54" dur="2000" fill="hold"/>
                                        <p:tgtEl>
                                          <p:spTgt spid="480300"/>
                                        </p:tgtEl>
                                        <p:attrNameLst>
                                          <p:attrName>ppt_x</p:attrName>
                                          <p:attrName>ppt_y</p:attrName>
                                        </p:attrNameLst>
                                      </p:cBhvr>
                                      <p:rCtr x="10234" y="55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1F5EA-743C-4E75-9B98-6FD4D711CA76}"/>
              </a:ext>
            </a:extLst>
          </p:cNvPr>
          <p:cNvSpPr>
            <a:spLocks noGrp="1"/>
          </p:cNvSpPr>
          <p:nvPr>
            <p:ph type="title"/>
          </p:nvPr>
        </p:nvSpPr>
        <p:spPr/>
        <p:txBody>
          <a:bodyPr/>
          <a:lstStyle/>
          <a:p>
            <a:r>
              <a:rPr lang="en-US" dirty="0"/>
              <a:t>Discussion: How do hydro plants owners bid into the market? </a:t>
            </a:r>
          </a:p>
        </p:txBody>
      </p:sp>
      <p:sp>
        <p:nvSpPr>
          <p:cNvPr id="3" name="Text Placeholder 2">
            <a:extLst>
              <a:ext uri="{FF2B5EF4-FFF2-40B4-BE49-F238E27FC236}">
                <a16:creationId xmlns:a16="http://schemas.microsoft.com/office/drawing/2014/main" id="{43E1B11F-72CE-4302-83E2-441C3972C4EB}"/>
              </a:ext>
            </a:extLst>
          </p:cNvPr>
          <p:cNvSpPr>
            <a:spLocks noGrp="1"/>
          </p:cNvSpPr>
          <p:nvPr>
            <p:ph type="body" sz="half" idx="2"/>
          </p:nvPr>
        </p:nvSpPr>
        <p:spPr/>
        <p:txBody>
          <a:bodyPr>
            <a:normAutofit/>
          </a:bodyPr>
          <a:lstStyle/>
          <a:p>
            <a:r>
              <a:rPr lang="en-US" dirty="0"/>
              <a:t>What is the marginal price?</a:t>
            </a:r>
          </a:p>
          <a:p>
            <a:r>
              <a:rPr lang="en-US" dirty="0"/>
              <a:t>What is the right bidding price?</a:t>
            </a:r>
          </a:p>
          <a:p>
            <a:pPr marL="0" indent="0">
              <a:buNone/>
            </a:pPr>
            <a:endParaRPr lang="en-US" dirty="0"/>
          </a:p>
          <a:p>
            <a:pPr marL="0" indent="0">
              <a:buNone/>
            </a:pPr>
            <a:r>
              <a:rPr lang="en-US" dirty="0"/>
              <a:t>If reservoir is limited in size and no inflow is predicted?</a:t>
            </a:r>
          </a:p>
          <a:p>
            <a:pPr marL="0" indent="0">
              <a:buNone/>
            </a:pPr>
            <a:endParaRPr lang="en-US" dirty="0"/>
          </a:p>
          <a:p>
            <a:pPr marL="0" indent="0">
              <a:buNone/>
            </a:pPr>
            <a:r>
              <a:rPr lang="en-US" dirty="0"/>
              <a:t>How do you price a resource that is free but scarce?</a:t>
            </a:r>
          </a:p>
          <a:p>
            <a:pPr marL="0" indent="0">
              <a:buNone/>
            </a:pPr>
            <a:endParaRPr lang="en-US" dirty="0"/>
          </a:p>
          <a:p>
            <a:pPr marL="0" indent="0">
              <a:buNone/>
            </a:pPr>
            <a:r>
              <a:rPr lang="en-US" i="1" dirty="0"/>
              <a:t>New term: Water value </a:t>
            </a:r>
          </a:p>
        </p:txBody>
      </p:sp>
      <p:pic>
        <p:nvPicPr>
          <p:cNvPr id="1026" name="Picture 2" descr="Inside a hydropower plant | Hydro power plant, Power plant, Power">
            <a:extLst>
              <a:ext uri="{FF2B5EF4-FFF2-40B4-BE49-F238E27FC236}">
                <a16:creationId xmlns:a16="http://schemas.microsoft.com/office/drawing/2014/main" id="{4CCA65C5-884F-4DA2-BCEB-4D2786976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952" y="3588682"/>
            <a:ext cx="6238875"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658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rrow: Right 27">
            <a:extLst>
              <a:ext uri="{FF2B5EF4-FFF2-40B4-BE49-F238E27FC236}">
                <a16:creationId xmlns:a16="http://schemas.microsoft.com/office/drawing/2014/main" id="{F87F3390-3904-4E91-B3D4-B3B2D8455D6F}"/>
              </a:ext>
            </a:extLst>
          </p:cNvPr>
          <p:cNvSpPr/>
          <p:nvPr/>
        </p:nvSpPr>
        <p:spPr>
          <a:xfrm>
            <a:off x="790467" y="3197912"/>
            <a:ext cx="11107917" cy="7289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1" name="Rectangle 30">
            <a:extLst>
              <a:ext uri="{FF2B5EF4-FFF2-40B4-BE49-F238E27FC236}">
                <a16:creationId xmlns:a16="http://schemas.microsoft.com/office/drawing/2014/main" id="{A7ADD9AF-942B-456B-81BA-F40EE77DDB3B}"/>
              </a:ext>
            </a:extLst>
          </p:cNvPr>
          <p:cNvSpPr/>
          <p:nvPr/>
        </p:nvSpPr>
        <p:spPr>
          <a:xfrm>
            <a:off x="1507140" y="3060735"/>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Day-ahead spot market</a:t>
            </a:r>
          </a:p>
        </p:txBody>
      </p:sp>
      <p:sp>
        <p:nvSpPr>
          <p:cNvPr id="32" name="Rectangle 31">
            <a:extLst>
              <a:ext uri="{FF2B5EF4-FFF2-40B4-BE49-F238E27FC236}">
                <a16:creationId xmlns:a16="http://schemas.microsoft.com/office/drawing/2014/main" id="{D9A6ADE8-D8F9-470A-A8CD-558B5F53B97B}"/>
              </a:ext>
            </a:extLst>
          </p:cNvPr>
          <p:cNvSpPr/>
          <p:nvPr/>
        </p:nvSpPr>
        <p:spPr>
          <a:xfrm>
            <a:off x="3489785" y="3060735"/>
            <a:ext cx="1345721" cy="1069675"/>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Intraday market</a:t>
            </a:r>
          </a:p>
        </p:txBody>
      </p:sp>
      <p:sp>
        <p:nvSpPr>
          <p:cNvPr id="33" name="Rectangle 32">
            <a:extLst>
              <a:ext uri="{FF2B5EF4-FFF2-40B4-BE49-F238E27FC236}">
                <a16:creationId xmlns:a16="http://schemas.microsoft.com/office/drawing/2014/main" id="{14BF9987-FFB9-43D3-B8DE-23068DF34D5C}"/>
              </a:ext>
            </a:extLst>
          </p:cNvPr>
          <p:cNvSpPr/>
          <p:nvPr/>
        </p:nvSpPr>
        <p:spPr>
          <a:xfrm>
            <a:off x="5472430" y="3060734"/>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Balancing market</a:t>
            </a:r>
          </a:p>
        </p:txBody>
      </p:sp>
      <p:sp>
        <p:nvSpPr>
          <p:cNvPr id="34" name="Rectangle 33">
            <a:extLst>
              <a:ext uri="{FF2B5EF4-FFF2-40B4-BE49-F238E27FC236}">
                <a16:creationId xmlns:a16="http://schemas.microsoft.com/office/drawing/2014/main" id="{4578F244-7213-4431-A03F-167F346530A2}"/>
              </a:ext>
            </a:extLst>
          </p:cNvPr>
          <p:cNvSpPr/>
          <p:nvPr/>
        </p:nvSpPr>
        <p:spPr>
          <a:xfrm>
            <a:off x="7400420" y="3060734"/>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Physical exchange</a:t>
            </a:r>
          </a:p>
        </p:txBody>
      </p:sp>
      <p:cxnSp>
        <p:nvCxnSpPr>
          <p:cNvPr id="35" name="Straight Arrow Connector 34">
            <a:extLst>
              <a:ext uri="{FF2B5EF4-FFF2-40B4-BE49-F238E27FC236}">
                <a16:creationId xmlns:a16="http://schemas.microsoft.com/office/drawing/2014/main" id="{9EE08E09-48BC-48AC-9AC6-463A4CBC058C}"/>
              </a:ext>
            </a:extLst>
          </p:cNvPr>
          <p:cNvCxnSpPr>
            <a:cxnSpLocks/>
          </p:cNvCxnSpPr>
          <p:nvPr/>
        </p:nvCxnSpPr>
        <p:spPr>
          <a:xfrm>
            <a:off x="790467" y="4679254"/>
            <a:ext cx="10565886"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08AB2230-15EC-4417-8E28-EAF4BE157DA8}"/>
              </a:ext>
            </a:extLst>
          </p:cNvPr>
          <p:cNvSpPr/>
          <p:nvPr/>
        </p:nvSpPr>
        <p:spPr>
          <a:xfrm>
            <a:off x="9674202" y="3068291"/>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Settlement</a:t>
            </a:r>
          </a:p>
        </p:txBody>
      </p:sp>
      <p:cxnSp>
        <p:nvCxnSpPr>
          <p:cNvPr id="37" name="Straight Connector 36">
            <a:extLst>
              <a:ext uri="{FF2B5EF4-FFF2-40B4-BE49-F238E27FC236}">
                <a16:creationId xmlns:a16="http://schemas.microsoft.com/office/drawing/2014/main" id="{906A892A-9F16-4545-A5C7-AD13327477E1}"/>
              </a:ext>
            </a:extLst>
          </p:cNvPr>
          <p:cNvCxnSpPr>
            <a:cxnSpLocks/>
            <a:stCxn id="31" idx="2"/>
          </p:cNvCxnSpPr>
          <p:nvPr/>
        </p:nvCxnSpPr>
        <p:spPr>
          <a:xfrm flipH="1">
            <a:off x="2180000" y="4130410"/>
            <a:ext cx="1" cy="567869"/>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615FC2A-F1BA-4BEB-A95A-EF45CAC55470}"/>
              </a:ext>
            </a:extLst>
          </p:cNvPr>
          <p:cNvCxnSpPr>
            <a:cxnSpLocks/>
            <a:stCxn id="32" idx="2"/>
          </p:cNvCxnSpPr>
          <p:nvPr/>
        </p:nvCxnSpPr>
        <p:spPr>
          <a:xfrm flipH="1">
            <a:off x="4161030" y="4130410"/>
            <a:ext cx="1616"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B9683E2-EE3E-49C0-9934-88BA7D38F577}"/>
              </a:ext>
            </a:extLst>
          </p:cNvPr>
          <p:cNvCxnSpPr>
            <a:cxnSpLocks/>
            <a:stCxn id="33" idx="2"/>
          </p:cNvCxnSpPr>
          <p:nvPr/>
        </p:nvCxnSpPr>
        <p:spPr>
          <a:xfrm flipH="1">
            <a:off x="6142059" y="4130409"/>
            <a:ext cx="3232"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055D99A-B800-4D7A-8A6E-69E2008A0745}"/>
              </a:ext>
            </a:extLst>
          </p:cNvPr>
          <p:cNvCxnSpPr>
            <a:cxnSpLocks/>
          </p:cNvCxnSpPr>
          <p:nvPr/>
        </p:nvCxnSpPr>
        <p:spPr>
          <a:xfrm flipH="1">
            <a:off x="8079260" y="4130409"/>
            <a:ext cx="3078"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7DE9DAF-D5A6-4E17-B936-54EAD751E422}"/>
              </a:ext>
            </a:extLst>
          </p:cNvPr>
          <p:cNvCxnSpPr>
            <a:cxnSpLocks/>
            <a:stCxn id="36" idx="2"/>
          </p:cNvCxnSpPr>
          <p:nvPr/>
        </p:nvCxnSpPr>
        <p:spPr>
          <a:xfrm>
            <a:off x="10347063" y="4137966"/>
            <a:ext cx="0" cy="567868"/>
          </a:xfrm>
          <a:prstGeom prst="line">
            <a:avLst/>
          </a:prstGeom>
          <a:ln w="41275"/>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231FD516-B44B-4F7E-908E-FCF15B274627}"/>
              </a:ext>
            </a:extLst>
          </p:cNvPr>
          <p:cNvSpPr/>
          <p:nvPr/>
        </p:nvSpPr>
        <p:spPr>
          <a:xfrm>
            <a:off x="1507139"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12:00 Day-1</a:t>
            </a:r>
          </a:p>
        </p:txBody>
      </p:sp>
      <p:sp>
        <p:nvSpPr>
          <p:cNvPr id="46" name="Rectangle 45">
            <a:extLst>
              <a:ext uri="{FF2B5EF4-FFF2-40B4-BE49-F238E27FC236}">
                <a16:creationId xmlns:a16="http://schemas.microsoft.com/office/drawing/2014/main" id="{0EA86FDA-C25A-4F45-8166-E1A4C4C76C44}"/>
              </a:ext>
            </a:extLst>
          </p:cNvPr>
          <p:cNvSpPr/>
          <p:nvPr/>
        </p:nvSpPr>
        <p:spPr>
          <a:xfrm>
            <a:off x="3488169"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-1 Hour</a:t>
            </a:r>
          </a:p>
        </p:txBody>
      </p:sp>
      <p:sp>
        <p:nvSpPr>
          <p:cNvPr id="48" name="Rectangle 47">
            <a:extLst>
              <a:ext uri="{FF2B5EF4-FFF2-40B4-BE49-F238E27FC236}">
                <a16:creationId xmlns:a16="http://schemas.microsoft.com/office/drawing/2014/main" id="{14FCF2D4-397A-455F-A0EA-2FB713FB6653}"/>
              </a:ext>
            </a:extLst>
          </p:cNvPr>
          <p:cNvSpPr/>
          <p:nvPr/>
        </p:nvSpPr>
        <p:spPr>
          <a:xfrm>
            <a:off x="5444371"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-45 min</a:t>
            </a:r>
          </a:p>
        </p:txBody>
      </p:sp>
      <p:sp>
        <p:nvSpPr>
          <p:cNvPr id="51" name="Rectangle 50">
            <a:extLst>
              <a:ext uri="{FF2B5EF4-FFF2-40B4-BE49-F238E27FC236}">
                <a16:creationId xmlns:a16="http://schemas.microsoft.com/office/drawing/2014/main" id="{850AB5C0-9097-431C-AB29-406ED33B87D3}"/>
              </a:ext>
            </a:extLst>
          </p:cNvPr>
          <p:cNvSpPr/>
          <p:nvPr/>
        </p:nvSpPr>
        <p:spPr>
          <a:xfrm>
            <a:off x="7132106" y="4859278"/>
            <a:ext cx="1897387"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Hour of operation</a:t>
            </a:r>
          </a:p>
        </p:txBody>
      </p:sp>
      <p:sp>
        <p:nvSpPr>
          <p:cNvPr id="52" name="Rectangle 51">
            <a:extLst>
              <a:ext uri="{FF2B5EF4-FFF2-40B4-BE49-F238E27FC236}">
                <a16:creationId xmlns:a16="http://schemas.microsoft.com/office/drawing/2014/main" id="{33029F0F-F574-459C-BAD5-3ACAD25857FB}"/>
              </a:ext>
            </a:extLst>
          </p:cNvPr>
          <p:cNvSpPr/>
          <p:nvPr/>
        </p:nvSpPr>
        <p:spPr>
          <a:xfrm>
            <a:off x="9674201"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Day + (6) </a:t>
            </a:r>
          </a:p>
        </p:txBody>
      </p:sp>
      <p:cxnSp>
        <p:nvCxnSpPr>
          <p:cNvPr id="53" name="Straight Arrow Connector 52">
            <a:extLst>
              <a:ext uri="{FF2B5EF4-FFF2-40B4-BE49-F238E27FC236}">
                <a16:creationId xmlns:a16="http://schemas.microsoft.com/office/drawing/2014/main" id="{41520EF8-37E4-4F17-80D8-3BF190D47CB0}"/>
              </a:ext>
            </a:extLst>
          </p:cNvPr>
          <p:cNvCxnSpPr>
            <a:cxnSpLocks/>
          </p:cNvCxnSpPr>
          <p:nvPr/>
        </p:nvCxnSpPr>
        <p:spPr>
          <a:xfrm>
            <a:off x="1507139" y="2538397"/>
            <a:ext cx="2653891" cy="0"/>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2123D9ED-4CA4-4BF2-9602-68FDA4820AD3}"/>
              </a:ext>
            </a:extLst>
          </p:cNvPr>
          <p:cNvSpPr/>
          <p:nvPr/>
        </p:nvSpPr>
        <p:spPr>
          <a:xfrm>
            <a:off x="1767414" y="2106966"/>
            <a:ext cx="2162628"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Planning</a:t>
            </a:r>
          </a:p>
        </p:txBody>
      </p:sp>
      <p:cxnSp>
        <p:nvCxnSpPr>
          <p:cNvPr id="58" name="Straight Arrow Connector 57">
            <a:extLst>
              <a:ext uri="{FF2B5EF4-FFF2-40B4-BE49-F238E27FC236}">
                <a16:creationId xmlns:a16="http://schemas.microsoft.com/office/drawing/2014/main" id="{AF080748-1938-4CB0-B7EA-335F33A03984}"/>
              </a:ext>
            </a:extLst>
          </p:cNvPr>
          <p:cNvCxnSpPr>
            <a:cxnSpLocks/>
          </p:cNvCxnSpPr>
          <p:nvPr/>
        </p:nvCxnSpPr>
        <p:spPr>
          <a:xfrm>
            <a:off x="4161030" y="2538397"/>
            <a:ext cx="4491392" cy="0"/>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D02891E6-2AFF-4B0D-9EAA-F5D35904057C}"/>
              </a:ext>
            </a:extLst>
          </p:cNvPr>
          <p:cNvSpPr/>
          <p:nvPr/>
        </p:nvSpPr>
        <p:spPr>
          <a:xfrm>
            <a:off x="4161030" y="2094265"/>
            <a:ext cx="4491392"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Operation</a:t>
            </a:r>
          </a:p>
        </p:txBody>
      </p:sp>
      <p:sp>
        <p:nvSpPr>
          <p:cNvPr id="63" name="Rectangle: Rounded Corners 62">
            <a:extLst>
              <a:ext uri="{FF2B5EF4-FFF2-40B4-BE49-F238E27FC236}">
                <a16:creationId xmlns:a16="http://schemas.microsoft.com/office/drawing/2014/main" id="{85AD59CC-726E-4795-A47A-EE59B27606E6}"/>
              </a:ext>
            </a:extLst>
          </p:cNvPr>
          <p:cNvSpPr/>
          <p:nvPr/>
        </p:nvSpPr>
        <p:spPr>
          <a:xfrm>
            <a:off x="5364986" y="2642506"/>
            <a:ext cx="3545672" cy="1621262"/>
          </a:xfrm>
          <a:prstGeom prst="round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Physical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4" name="Pentagon 40">
            <a:extLst>
              <a:ext uri="{FF2B5EF4-FFF2-40B4-BE49-F238E27FC236}">
                <a16:creationId xmlns:a16="http://schemas.microsoft.com/office/drawing/2014/main" id="{C5208F54-4540-438C-B27A-B8618F70D11C}"/>
              </a:ext>
            </a:extLst>
          </p:cNvPr>
          <p:cNvSpPr/>
          <p:nvPr/>
        </p:nvSpPr>
        <p:spPr>
          <a:xfrm rot="16200000">
            <a:off x="1676000"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Common marginal price market</a:t>
            </a:r>
          </a:p>
        </p:txBody>
      </p:sp>
      <p:sp>
        <p:nvSpPr>
          <p:cNvPr id="66" name="Pentagon 40">
            <a:extLst>
              <a:ext uri="{FF2B5EF4-FFF2-40B4-BE49-F238E27FC236}">
                <a16:creationId xmlns:a16="http://schemas.microsoft.com/office/drawing/2014/main" id="{5BAC738B-FC27-4EF3-BF4A-71D3B0F58A7B}"/>
              </a:ext>
            </a:extLst>
          </p:cNvPr>
          <p:cNvSpPr/>
          <p:nvPr/>
        </p:nvSpPr>
        <p:spPr>
          <a:xfrm rot="16200000">
            <a:off x="4635132" y="4096084"/>
            <a:ext cx="1008000" cy="3301920"/>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Management of short-term imblances</a:t>
            </a:r>
          </a:p>
        </p:txBody>
      </p:sp>
      <p:sp>
        <p:nvSpPr>
          <p:cNvPr id="67" name="Pentagon 40">
            <a:extLst>
              <a:ext uri="{FF2B5EF4-FFF2-40B4-BE49-F238E27FC236}">
                <a16:creationId xmlns:a16="http://schemas.microsoft.com/office/drawing/2014/main" id="{02E61F65-9464-4156-B4CD-BB1274B70A26}"/>
              </a:ext>
            </a:extLst>
          </p:cNvPr>
          <p:cNvSpPr/>
          <p:nvPr/>
        </p:nvSpPr>
        <p:spPr>
          <a:xfrm rot="16200000">
            <a:off x="7576799"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Security of supply</a:t>
            </a:r>
          </a:p>
        </p:txBody>
      </p:sp>
      <p:sp>
        <p:nvSpPr>
          <p:cNvPr id="68" name="Pentagon 40">
            <a:extLst>
              <a:ext uri="{FF2B5EF4-FFF2-40B4-BE49-F238E27FC236}">
                <a16:creationId xmlns:a16="http://schemas.microsoft.com/office/drawing/2014/main" id="{599E4355-B476-4C42-82A5-5C03A68C38A7}"/>
              </a:ext>
            </a:extLst>
          </p:cNvPr>
          <p:cNvSpPr/>
          <p:nvPr/>
        </p:nvSpPr>
        <p:spPr>
          <a:xfrm rot="16200000">
            <a:off x="9843060"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Settlement</a:t>
            </a:r>
          </a:p>
        </p:txBody>
      </p:sp>
      <p:sp>
        <p:nvSpPr>
          <p:cNvPr id="69" name="Rectangle 68">
            <a:extLst>
              <a:ext uri="{FF2B5EF4-FFF2-40B4-BE49-F238E27FC236}">
                <a16:creationId xmlns:a16="http://schemas.microsoft.com/office/drawing/2014/main" id="{698CE4D4-FC40-4582-AF89-C91E5F909DE1}"/>
              </a:ext>
            </a:extLst>
          </p:cNvPr>
          <p:cNvSpPr/>
          <p:nvPr/>
        </p:nvSpPr>
        <p:spPr>
          <a:xfrm>
            <a:off x="0" y="4145003"/>
            <a:ext cx="1032310" cy="1069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Gate Closure</a:t>
            </a:r>
          </a:p>
        </p:txBody>
      </p:sp>
      <p:sp>
        <p:nvSpPr>
          <p:cNvPr id="60" name="Rectangle: Rounded Corners 59">
            <a:extLst>
              <a:ext uri="{FF2B5EF4-FFF2-40B4-BE49-F238E27FC236}">
                <a16:creationId xmlns:a16="http://schemas.microsoft.com/office/drawing/2014/main" id="{F0B11081-FDD2-4A63-9444-585A38BCADF3}"/>
              </a:ext>
            </a:extLst>
          </p:cNvPr>
          <p:cNvSpPr/>
          <p:nvPr/>
        </p:nvSpPr>
        <p:spPr>
          <a:xfrm>
            <a:off x="1425812" y="2642506"/>
            <a:ext cx="3545672" cy="1621262"/>
          </a:xfrm>
          <a:prstGeom prst="round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Financial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cxnSp>
        <p:nvCxnSpPr>
          <p:cNvPr id="43" name="Straight Arrow Connector 42">
            <a:extLst>
              <a:ext uri="{FF2B5EF4-FFF2-40B4-BE49-F238E27FC236}">
                <a16:creationId xmlns:a16="http://schemas.microsoft.com/office/drawing/2014/main" id="{962D5959-A8EA-4864-B952-505A13331BA1}"/>
              </a:ext>
            </a:extLst>
          </p:cNvPr>
          <p:cNvCxnSpPr>
            <a:cxnSpLocks/>
          </p:cNvCxnSpPr>
          <p:nvPr/>
        </p:nvCxnSpPr>
        <p:spPr>
          <a:xfrm flipH="1" flipV="1">
            <a:off x="1631436" y="1997992"/>
            <a:ext cx="1867450" cy="1078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2B8DF0DB-1A7F-4B36-8839-DB5E16F28223}"/>
              </a:ext>
            </a:extLst>
          </p:cNvPr>
          <p:cNvSpPr/>
          <p:nvPr/>
        </p:nvSpPr>
        <p:spPr>
          <a:xfrm>
            <a:off x="508708" y="1238208"/>
            <a:ext cx="4749092" cy="693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400" dirty="0">
                <a:solidFill>
                  <a:schemeClr val="accent1"/>
                </a:solidFill>
              </a:rPr>
              <a:t>The auction primarily used for managing imbalances close to the of hour operation for example in case of forecast errors or outages</a:t>
            </a:r>
            <a:endParaRPr lang="en-US" sz="1400" dirty="0">
              <a:solidFill>
                <a:schemeClr val="accent1"/>
              </a:solidFill>
            </a:endParaRPr>
          </a:p>
        </p:txBody>
      </p:sp>
      <p:sp>
        <p:nvSpPr>
          <p:cNvPr id="6" name="Title 2">
            <a:extLst>
              <a:ext uri="{FF2B5EF4-FFF2-40B4-BE49-F238E27FC236}">
                <a16:creationId xmlns:a16="http://schemas.microsoft.com/office/drawing/2014/main" id="{CDEE585B-1E90-F09D-8CD3-2F2CA723E3B9}"/>
              </a:ext>
            </a:extLst>
          </p:cNvPr>
          <p:cNvSpPr txBox="1">
            <a:spLocks/>
          </p:cNvSpPr>
          <p:nvPr/>
        </p:nvSpPr>
        <p:spPr>
          <a:xfrm>
            <a:off x="683886" y="-48704"/>
            <a:ext cx="1091634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accent1"/>
                </a:solidFill>
                <a:latin typeface="Arial" panose="020B0604020202020204" pitchFamily="34" charset="0"/>
                <a:ea typeface="+mj-ea"/>
                <a:cs typeface="Arial" panose="020B0604020202020204" pitchFamily="34" charset="0"/>
              </a:defRPr>
            </a:lvl1pPr>
          </a:lstStyle>
          <a:p>
            <a:pPr algn="ctr"/>
            <a:r>
              <a:rPr lang="da-DK" dirty="0"/>
              <a:t>The Power System</a:t>
            </a:r>
          </a:p>
        </p:txBody>
      </p:sp>
      <p:sp>
        <p:nvSpPr>
          <p:cNvPr id="3" name="Text Placeholder 2">
            <a:extLst>
              <a:ext uri="{FF2B5EF4-FFF2-40B4-BE49-F238E27FC236}">
                <a16:creationId xmlns:a16="http://schemas.microsoft.com/office/drawing/2014/main" id="{502F0FB1-CF28-E3F5-D9E1-BDD5B00A393E}"/>
              </a:ext>
            </a:extLst>
          </p:cNvPr>
          <p:cNvSpPr>
            <a:spLocks noGrp="1"/>
          </p:cNvSpPr>
          <p:nvPr>
            <p:ph type="body" sz="half" idx="2"/>
          </p:nvPr>
        </p:nvSpPr>
        <p:spPr/>
        <p:txBody>
          <a:bodyPr/>
          <a:lstStyle/>
          <a:p>
            <a:endParaRPr lang="da-DK"/>
          </a:p>
        </p:txBody>
      </p:sp>
    </p:spTree>
    <p:extLst>
      <p:ext uri="{BB962C8B-B14F-4D97-AF65-F5344CB8AC3E}">
        <p14:creationId xmlns:p14="http://schemas.microsoft.com/office/powerpoint/2010/main" val="1964477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03B7C8-D83A-6848-882E-EAD0F0B8BE15}"/>
              </a:ext>
            </a:extLst>
          </p:cNvPr>
          <p:cNvSpPr>
            <a:spLocks noGrp="1"/>
          </p:cNvSpPr>
          <p:nvPr>
            <p:ph type="title"/>
          </p:nvPr>
        </p:nvSpPr>
        <p:spPr/>
        <p:txBody>
          <a:bodyPr/>
          <a:lstStyle/>
          <a:p>
            <a:pPr algn="ctr"/>
            <a:r>
              <a:rPr lang="da-DK" dirty="0"/>
              <a:t>The power system - Intraday</a:t>
            </a:r>
          </a:p>
        </p:txBody>
      </p:sp>
      <p:sp>
        <p:nvSpPr>
          <p:cNvPr id="22" name="Text Placeholder 7">
            <a:extLst>
              <a:ext uri="{FF2B5EF4-FFF2-40B4-BE49-F238E27FC236}">
                <a16:creationId xmlns:a16="http://schemas.microsoft.com/office/drawing/2014/main" id="{9939C6EC-C394-084C-A6BF-9901228342E4}"/>
              </a:ext>
            </a:extLst>
          </p:cNvPr>
          <p:cNvSpPr txBox="1">
            <a:spLocks/>
          </p:cNvSpPr>
          <p:nvPr/>
        </p:nvSpPr>
        <p:spPr>
          <a:xfrm>
            <a:off x="2896710" y="3239931"/>
            <a:ext cx="1896134" cy="297019"/>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da-DK" sz="1200" b="1" dirty="0">
                <a:solidFill>
                  <a:schemeClr val="bg1"/>
                </a:solidFill>
              </a:rPr>
              <a:t>ENERGY INSIGHT</a:t>
            </a:r>
          </a:p>
        </p:txBody>
      </p:sp>
      <p:sp>
        <p:nvSpPr>
          <p:cNvPr id="26" name="Text Placeholder 7">
            <a:extLst>
              <a:ext uri="{FF2B5EF4-FFF2-40B4-BE49-F238E27FC236}">
                <a16:creationId xmlns:a16="http://schemas.microsoft.com/office/drawing/2014/main" id="{2C3437AA-A70F-EA4C-B714-2196760C14C6}"/>
              </a:ext>
            </a:extLst>
          </p:cNvPr>
          <p:cNvSpPr txBox="1">
            <a:spLocks/>
          </p:cNvSpPr>
          <p:nvPr/>
        </p:nvSpPr>
        <p:spPr>
          <a:xfrm>
            <a:off x="7524306" y="3279160"/>
            <a:ext cx="1896134" cy="297019"/>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da-DK" sz="1200" b="1" dirty="0">
                <a:solidFill>
                  <a:schemeClr val="bg1"/>
                </a:solidFill>
              </a:rPr>
              <a:t>WHOLESALE ENERGY</a:t>
            </a:r>
          </a:p>
        </p:txBody>
      </p:sp>
      <p:sp>
        <p:nvSpPr>
          <p:cNvPr id="27" name="Tekstfelt 26">
            <a:extLst>
              <a:ext uri="{FF2B5EF4-FFF2-40B4-BE49-F238E27FC236}">
                <a16:creationId xmlns:a16="http://schemas.microsoft.com/office/drawing/2014/main" id="{A579A1B6-E68B-DC46-8F7F-1B6A6BB1420C}"/>
              </a:ext>
            </a:extLst>
          </p:cNvPr>
          <p:cNvSpPr txBox="1"/>
          <p:nvPr/>
        </p:nvSpPr>
        <p:spPr>
          <a:xfrm>
            <a:off x="8350102" y="1247553"/>
            <a:ext cx="0" cy="0"/>
          </a:xfrm>
          <a:prstGeom prst="rect">
            <a:avLst/>
          </a:prstGeom>
          <a:noFill/>
        </p:spPr>
        <p:txBody>
          <a:bodyPr wrap="none" bIns="0" rtlCol="0">
            <a:noAutofit/>
          </a:bodyPr>
          <a:lstStyle/>
          <a:p>
            <a:endParaRPr lang="da-DK" sz="1400" dirty="0" err="1">
              <a:latin typeface="Avenir Light"/>
              <a:cs typeface="Avenir Light"/>
            </a:endParaRPr>
          </a:p>
        </p:txBody>
      </p:sp>
      <p:sp>
        <p:nvSpPr>
          <p:cNvPr id="35" name="Text Placeholder 7">
            <a:extLst>
              <a:ext uri="{FF2B5EF4-FFF2-40B4-BE49-F238E27FC236}">
                <a16:creationId xmlns:a16="http://schemas.microsoft.com/office/drawing/2014/main" id="{DB01D237-9B91-A141-B841-5BB59B781B3B}"/>
              </a:ext>
            </a:extLst>
          </p:cNvPr>
          <p:cNvSpPr txBox="1">
            <a:spLocks/>
          </p:cNvSpPr>
          <p:nvPr/>
        </p:nvSpPr>
        <p:spPr>
          <a:xfrm>
            <a:off x="686697" y="1608575"/>
            <a:ext cx="8212294" cy="1078192"/>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endParaRPr lang="da-DK" sz="2000" dirty="0"/>
          </a:p>
          <a:p>
            <a:pPr>
              <a:lnSpc>
                <a:spcPct val="110000"/>
              </a:lnSpc>
              <a:buFontTx/>
              <a:buChar char="-"/>
            </a:pPr>
            <a:endParaRPr lang="da-DK" sz="2000" dirty="0"/>
          </a:p>
        </p:txBody>
      </p:sp>
      <p:sp>
        <p:nvSpPr>
          <p:cNvPr id="30" name="Text Placeholder 7">
            <a:extLst>
              <a:ext uri="{FF2B5EF4-FFF2-40B4-BE49-F238E27FC236}">
                <a16:creationId xmlns:a16="http://schemas.microsoft.com/office/drawing/2014/main" id="{AB523923-CBA7-4201-9BA7-97B8D79800D8}"/>
              </a:ext>
            </a:extLst>
          </p:cNvPr>
          <p:cNvSpPr txBox="1">
            <a:spLocks/>
          </p:cNvSpPr>
          <p:nvPr/>
        </p:nvSpPr>
        <p:spPr>
          <a:xfrm>
            <a:off x="514313" y="2642260"/>
            <a:ext cx="5581688" cy="3901043"/>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da-DK" sz="2000" b="1" dirty="0"/>
              <a:t>Quick Facts about intraday</a:t>
            </a:r>
          </a:p>
          <a:p>
            <a:pPr>
              <a:lnSpc>
                <a:spcPct val="110000"/>
              </a:lnSpc>
            </a:pPr>
            <a:r>
              <a:rPr lang="da-DK" sz="2000" dirty="0"/>
              <a:t>Gate open D-1 at 15.00</a:t>
            </a:r>
          </a:p>
          <a:p>
            <a:pPr>
              <a:lnSpc>
                <a:spcPct val="110000"/>
              </a:lnSpc>
            </a:pPr>
            <a:r>
              <a:rPr lang="da-DK" sz="2000" dirty="0"/>
              <a:t>Gate closure: H-1 (an hour before operation)</a:t>
            </a:r>
          </a:p>
          <a:p>
            <a:pPr>
              <a:lnSpc>
                <a:spcPct val="110000"/>
              </a:lnSpc>
            </a:pPr>
            <a:r>
              <a:rPr lang="da-DK" sz="2000" dirty="0"/>
              <a:t>Auction type is PAP = Pay-as-bid</a:t>
            </a:r>
          </a:p>
          <a:p>
            <a:pPr>
              <a:lnSpc>
                <a:spcPct val="110000"/>
              </a:lnSpc>
            </a:pPr>
            <a:r>
              <a:rPr lang="da-DK" sz="2000" dirty="0"/>
              <a:t>Multible prices for the same hour</a:t>
            </a:r>
          </a:p>
        </p:txBody>
      </p:sp>
    </p:spTree>
    <p:extLst>
      <p:ext uri="{BB962C8B-B14F-4D97-AF65-F5344CB8AC3E}">
        <p14:creationId xmlns:p14="http://schemas.microsoft.com/office/powerpoint/2010/main" val="3415177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755BE0D-CACA-B86B-2E38-098905FB9B83}"/>
              </a:ext>
            </a:extLst>
          </p:cNvPr>
          <p:cNvSpPr>
            <a:spLocks noGrp="1"/>
          </p:cNvSpPr>
          <p:nvPr>
            <p:ph type="body" sz="half" idx="2"/>
          </p:nvPr>
        </p:nvSpPr>
        <p:spPr/>
        <p:txBody>
          <a:bodyPr/>
          <a:lstStyle/>
          <a:p>
            <a:endParaRPr lang="da-DK" dirty="0"/>
          </a:p>
        </p:txBody>
      </p:sp>
      <p:pic>
        <p:nvPicPr>
          <p:cNvPr id="5" name="Content Placeholder 4">
            <a:extLst>
              <a:ext uri="{FF2B5EF4-FFF2-40B4-BE49-F238E27FC236}">
                <a16:creationId xmlns:a16="http://schemas.microsoft.com/office/drawing/2014/main" id="{3EC8C0D3-ACBE-46B7-8FE4-E6DB4881A623}"/>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a:stretch/>
        </p:blipFill>
        <p:spPr>
          <a:xfrm>
            <a:off x="1836492" y="1763057"/>
            <a:ext cx="8391525" cy="4830762"/>
          </a:xfrm>
          <a:prstGeom prst="rect">
            <a:avLst/>
          </a:prstGeom>
        </p:spPr>
      </p:pic>
      <p:sp>
        <p:nvSpPr>
          <p:cNvPr id="6" name="Titel 1">
            <a:extLst>
              <a:ext uri="{FF2B5EF4-FFF2-40B4-BE49-F238E27FC236}">
                <a16:creationId xmlns:a16="http://schemas.microsoft.com/office/drawing/2014/main" id="{942EFF54-0EB4-47F3-8C96-0CA061FF7F93}"/>
              </a:ext>
            </a:extLst>
          </p:cNvPr>
          <p:cNvSpPr txBox="1">
            <a:spLocks/>
          </p:cNvSpPr>
          <p:nvPr/>
        </p:nvSpPr>
        <p:spPr>
          <a:xfrm>
            <a:off x="0" y="324428"/>
            <a:ext cx="12192000" cy="934356"/>
          </a:xfrm>
          <a:prstGeom prst="rect">
            <a:avLst/>
          </a:prstGeom>
        </p:spPr>
        <p:txBody>
          <a:bodyPr vert="horz" lIns="0" tIns="0" rIns="0" bIns="0" rtlCol="0" anchor="ctr">
            <a:noAutofit/>
          </a:bodyPr>
          <a:lstStyle>
            <a:lvl1pPr algn="l" defTabSz="609585" rtl="0" eaLnBrk="1" latinLnBrk="0" hangingPunct="1">
              <a:spcBef>
                <a:spcPct val="0"/>
              </a:spcBef>
              <a:buNone/>
              <a:defRPr sz="2400" b="0" i="0" kern="1200">
                <a:solidFill>
                  <a:schemeClr val="tx1"/>
                </a:solidFill>
                <a:latin typeface="Avenir Heavy"/>
                <a:ea typeface="+mj-ea"/>
                <a:cs typeface="Avenir Heavy"/>
              </a:defRPr>
            </a:lvl1pPr>
          </a:lstStyle>
          <a:p>
            <a:pPr marL="0" marR="0" lvl="0" indent="0" algn="ctr" defTabSz="609585" rtl="0" eaLnBrk="1" fontAlgn="auto" latinLnBrk="0" hangingPunct="1">
              <a:lnSpc>
                <a:spcPct val="100000"/>
              </a:lnSpc>
              <a:spcBef>
                <a:spcPct val="0"/>
              </a:spcBef>
              <a:spcAft>
                <a:spcPts val="0"/>
              </a:spcAft>
              <a:buClrTx/>
              <a:buSzTx/>
              <a:buFontTx/>
              <a:buNone/>
              <a:tabLst/>
              <a:defRPr/>
            </a:pPr>
            <a:r>
              <a:rPr kumimoji="0" lang="da-DK" sz="4000" b="0" i="0" u="none" strike="noStrike" kern="1200" cap="none" spc="0" normalizeH="0" baseline="0" noProof="1">
                <a:ln>
                  <a:noFill/>
                </a:ln>
                <a:solidFill>
                  <a:srgbClr val="0D3DFB"/>
                </a:solidFill>
                <a:effectLst/>
                <a:uLnTx/>
                <a:uFillTx/>
                <a:latin typeface="Avenir Light"/>
                <a:ea typeface="+mj-ea"/>
              </a:rPr>
              <a:t>Akin to stocktrade with a time dimension </a:t>
            </a:r>
          </a:p>
        </p:txBody>
      </p:sp>
      <p:cxnSp>
        <p:nvCxnSpPr>
          <p:cNvPr id="8" name="Straight Arrow Connector 7">
            <a:extLst>
              <a:ext uri="{FF2B5EF4-FFF2-40B4-BE49-F238E27FC236}">
                <a16:creationId xmlns:a16="http://schemas.microsoft.com/office/drawing/2014/main" id="{D81E1A57-E7A6-4B0C-B715-FFDA3C99D17E}"/>
              </a:ext>
            </a:extLst>
          </p:cNvPr>
          <p:cNvCxnSpPr>
            <a:cxnSpLocks/>
          </p:cNvCxnSpPr>
          <p:nvPr/>
        </p:nvCxnSpPr>
        <p:spPr>
          <a:xfrm>
            <a:off x="7220606" y="1804643"/>
            <a:ext cx="1095704" cy="1860331"/>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1CDFA44-58EE-4AEE-B8C5-04CF6E90F22F}"/>
              </a:ext>
            </a:extLst>
          </p:cNvPr>
          <p:cNvSpPr txBox="1"/>
          <p:nvPr/>
        </p:nvSpPr>
        <p:spPr>
          <a:xfrm>
            <a:off x="6861940" y="1506655"/>
            <a:ext cx="717331" cy="247072"/>
          </a:xfrm>
          <a:prstGeom prst="rect">
            <a:avLst/>
          </a:prstGeom>
          <a:noFill/>
        </p:spPr>
        <p:txBody>
          <a:bodyPr wrap="square"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venir Light"/>
                <a:ea typeface="+mn-ea"/>
                <a:cs typeface="Avenir Light"/>
              </a:rPr>
              <a:t>Bid</a:t>
            </a:r>
          </a:p>
        </p:txBody>
      </p:sp>
      <p:cxnSp>
        <p:nvCxnSpPr>
          <p:cNvPr id="11" name="Straight Arrow Connector 10">
            <a:extLst>
              <a:ext uri="{FF2B5EF4-FFF2-40B4-BE49-F238E27FC236}">
                <a16:creationId xmlns:a16="http://schemas.microsoft.com/office/drawing/2014/main" id="{ECCBA787-34E1-44D0-87F6-2F94AC7796C3}"/>
              </a:ext>
            </a:extLst>
          </p:cNvPr>
          <p:cNvCxnSpPr>
            <a:cxnSpLocks/>
          </p:cNvCxnSpPr>
          <p:nvPr/>
        </p:nvCxnSpPr>
        <p:spPr>
          <a:xfrm flipH="1">
            <a:off x="9601391" y="1917481"/>
            <a:ext cx="754117" cy="1926049"/>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3633BFD-70A5-430B-87DB-3D01FBA9A417}"/>
              </a:ext>
            </a:extLst>
          </p:cNvPr>
          <p:cNvSpPr txBox="1"/>
          <p:nvPr/>
        </p:nvSpPr>
        <p:spPr>
          <a:xfrm>
            <a:off x="10254018" y="1557571"/>
            <a:ext cx="717331" cy="247072"/>
          </a:xfrm>
          <a:prstGeom prst="rect">
            <a:avLst/>
          </a:prstGeom>
          <a:noFill/>
        </p:spPr>
        <p:txBody>
          <a:bodyPr wrap="square"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venir Light"/>
                <a:ea typeface="+mn-ea"/>
                <a:cs typeface="Avenir Light"/>
              </a:rPr>
              <a:t>Ask</a:t>
            </a:r>
          </a:p>
        </p:txBody>
      </p:sp>
      <p:sp>
        <p:nvSpPr>
          <p:cNvPr id="2" name="TextBox 1">
            <a:extLst>
              <a:ext uri="{FF2B5EF4-FFF2-40B4-BE49-F238E27FC236}">
                <a16:creationId xmlns:a16="http://schemas.microsoft.com/office/drawing/2014/main" id="{AE3364E5-0668-3017-ACC7-0F82E39C3586}"/>
              </a:ext>
            </a:extLst>
          </p:cNvPr>
          <p:cNvSpPr txBox="1"/>
          <p:nvPr/>
        </p:nvSpPr>
        <p:spPr>
          <a:xfrm>
            <a:off x="1773794" y="6606616"/>
            <a:ext cx="1183337" cy="246221"/>
          </a:xfrm>
          <a:prstGeom prst="rect">
            <a:avLst/>
          </a:prstGeom>
          <a:noFill/>
        </p:spPr>
        <p:txBody>
          <a:bodyPr wrap="none" rtlCol="0">
            <a:spAutoFit/>
          </a:bodyPr>
          <a:lstStyle/>
          <a:p>
            <a:r>
              <a:rPr lang="da-DK" sz="1000" dirty="0"/>
              <a:t>Source: nordnet.dk</a:t>
            </a:r>
          </a:p>
        </p:txBody>
      </p:sp>
    </p:spTree>
    <p:extLst>
      <p:ext uri="{BB962C8B-B14F-4D97-AF65-F5344CB8AC3E}">
        <p14:creationId xmlns:p14="http://schemas.microsoft.com/office/powerpoint/2010/main" val="2458819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rrow: Right 27">
            <a:extLst>
              <a:ext uri="{FF2B5EF4-FFF2-40B4-BE49-F238E27FC236}">
                <a16:creationId xmlns:a16="http://schemas.microsoft.com/office/drawing/2014/main" id="{F87F3390-3904-4E91-B3D4-B3B2D8455D6F}"/>
              </a:ext>
            </a:extLst>
          </p:cNvPr>
          <p:cNvSpPr/>
          <p:nvPr/>
        </p:nvSpPr>
        <p:spPr>
          <a:xfrm>
            <a:off x="790467" y="3197912"/>
            <a:ext cx="11107917" cy="7289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1" name="Rectangle 30">
            <a:extLst>
              <a:ext uri="{FF2B5EF4-FFF2-40B4-BE49-F238E27FC236}">
                <a16:creationId xmlns:a16="http://schemas.microsoft.com/office/drawing/2014/main" id="{A7ADD9AF-942B-456B-81BA-F40EE77DDB3B}"/>
              </a:ext>
            </a:extLst>
          </p:cNvPr>
          <p:cNvSpPr/>
          <p:nvPr/>
        </p:nvSpPr>
        <p:spPr>
          <a:xfrm>
            <a:off x="1507140" y="3060735"/>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Day-ahead spot market</a:t>
            </a:r>
          </a:p>
        </p:txBody>
      </p:sp>
      <p:sp>
        <p:nvSpPr>
          <p:cNvPr id="32" name="Rectangle 31">
            <a:extLst>
              <a:ext uri="{FF2B5EF4-FFF2-40B4-BE49-F238E27FC236}">
                <a16:creationId xmlns:a16="http://schemas.microsoft.com/office/drawing/2014/main" id="{D9A6ADE8-D8F9-470A-A8CD-558B5F53B97B}"/>
              </a:ext>
            </a:extLst>
          </p:cNvPr>
          <p:cNvSpPr/>
          <p:nvPr/>
        </p:nvSpPr>
        <p:spPr>
          <a:xfrm>
            <a:off x="3489785" y="3060735"/>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Intraday market</a:t>
            </a:r>
          </a:p>
        </p:txBody>
      </p:sp>
      <p:sp>
        <p:nvSpPr>
          <p:cNvPr id="33" name="Rectangle 32">
            <a:extLst>
              <a:ext uri="{FF2B5EF4-FFF2-40B4-BE49-F238E27FC236}">
                <a16:creationId xmlns:a16="http://schemas.microsoft.com/office/drawing/2014/main" id="{14BF9987-FFB9-43D3-B8DE-23068DF34D5C}"/>
              </a:ext>
            </a:extLst>
          </p:cNvPr>
          <p:cNvSpPr/>
          <p:nvPr/>
        </p:nvSpPr>
        <p:spPr>
          <a:xfrm>
            <a:off x="5472430" y="3060734"/>
            <a:ext cx="1345721" cy="1069675"/>
          </a:xfrm>
          <a:prstGeom prst="rect">
            <a:avLst/>
          </a:prstGeom>
          <a:solidFill>
            <a:schemeClr val="accent1">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Balancing market</a:t>
            </a:r>
          </a:p>
        </p:txBody>
      </p:sp>
      <p:sp>
        <p:nvSpPr>
          <p:cNvPr id="34" name="Rectangle 33">
            <a:extLst>
              <a:ext uri="{FF2B5EF4-FFF2-40B4-BE49-F238E27FC236}">
                <a16:creationId xmlns:a16="http://schemas.microsoft.com/office/drawing/2014/main" id="{4578F244-7213-4431-A03F-167F346530A2}"/>
              </a:ext>
            </a:extLst>
          </p:cNvPr>
          <p:cNvSpPr/>
          <p:nvPr/>
        </p:nvSpPr>
        <p:spPr>
          <a:xfrm>
            <a:off x="7400420" y="3060734"/>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Physical exchange</a:t>
            </a:r>
          </a:p>
        </p:txBody>
      </p:sp>
      <p:cxnSp>
        <p:nvCxnSpPr>
          <p:cNvPr id="35" name="Straight Arrow Connector 34">
            <a:extLst>
              <a:ext uri="{FF2B5EF4-FFF2-40B4-BE49-F238E27FC236}">
                <a16:creationId xmlns:a16="http://schemas.microsoft.com/office/drawing/2014/main" id="{9EE08E09-48BC-48AC-9AC6-463A4CBC058C}"/>
              </a:ext>
            </a:extLst>
          </p:cNvPr>
          <p:cNvCxnSpPr>
            <a:cxnSpLocks/>
          </p:cNvCxnSpPr>
          <p:nvPr/>
        </p:nvCxnSpPr>
        <p:spPr>
          <a:xfrm>
            <a:off x="790467" y="4679254"/>
            <a:ext cx="10565886" cy="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08AB2230-15EC-4417-8E28-EAF4BE157DA8}"/>
              </a:ext>
            </a:extLst>
          </p:cNvPr>
          <p:cNvSpPr/>
          <p:nvPr/>
        </p:nvSpPr>
        <p:spPr>
          <a:xfrm>
            <a:off x="9674202" y="3068291"/>
            <a:ext cx="1345721" cy="106967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Settlement</a:t>
            </a:r>
          </a:p>
        </p:txBody>
      </p:sp>
      <p:cxnSp>
        <p:nvCxnSpPr>
          <p:cNvPr id="37" name="Straight Connector 36">
            <a:extLst>
              <a:ext uri="{FF2B5EF4-FFF2-40B4-BE49-F238E27FC236}">
                <a16:creationId xmlns:a16="http://schemas.microsoft.com/office/drawing/2014/main" id="{906A892A-9F16-4545-A5C7-AD13327477E1}"/>
              </a:ext>
            </a:extLst>
          </p:cNvPr>
          <p:cNvCxnSpPr>
            <a:cxnSpLocks/>
            <a:stCxn id="31" idx="2"/>
          </p:cNvCxnSpPr>
          <p:nvPr/>
        </p:nvCxnSpPr>
        <p:spPr>
          <a:xfrm flipH="1">
            <a:off x="2180000" y="4130410"/>
            <a:ext cx="1" cy="567869"/>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615FC2A-F1BA-4BEB-A95A-EF45CAC55470}"/>
              </a:ext>
            </a:extLst>
          </p:cNvPr>
          <p:cNvCxnSpPr>
            <a:cxnSpLocks/>
            <a:stCxn id="32" idx="2"/>
          </p:cNvCxnSpPr>
          <p:nvPr/>
        </p:nvCxnSpPr>
        <p:spPr>
          <a:xfrm flipH="1">
            <a:off x="4161030" y="4130410"/>
            <a:ext cx="1616"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B9683E2-EE3E-49C0-9934-88BA7D38F577}"/>
              </a:ext>
            </a:extLst>
          </p:cNvPr>
          <p:cNvCxnSpPr>
            <a:cxnSpLocks/>
            <a:stCxn id="33" idx="2"/>
          </p:cNvCxnSpPr>
          <p:nvPr/>
        </p:nvCxnSpPr>
        <p:spPr>
          <a:xfrm flipH="1">
            <a:off x="6142059" y="4130409"/>
            <a:ext cx="3232"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055D99A-B800-4D7A-8A6E-69E2008A0745}"/>
              </a:ext>
            </a:extLst>
          </p:cNvPr>
          <p:cNvCxnSpPr>
            <a:cxnSpLocks/>
          </p:cNvCxnSpPr>
          <p:nvPr/>
        </p:nvCxnSpPr>
        <p:spPr>
          <a:xfrm flipH="1">
            <a:off x="8079260" y="4130409"/>
            <a:ext cx="3078" cy="567868"/>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7DE9DAF-D5A6-4E17-B936-54EAD751E422}"/>
              </a:ext>
            </a:extLst>
          </p:cNvPr>
          <p:cNvCxnSpPr>
            <a:cxnSpLocks/>
            <a:stCxn id="36" idx="2"/>
          </p:cNvCxnSpPr>
          <p:nvPr/>
        </p:nvCxnSpPr>
        <p:spPr>
          <a:xfrm>
            <a:off x="10347063" y="4137966"/>
            <a:ext cx="0" cy="567868"/>
          </a:xfrm>
          <a:prstGeom prst="line">
            <a:avLst/>
          </a:prstGeom>
          <a:ln w="41275"/>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231FD516-B44B-4F7E-908E-FCF15B274627}"/>
              </a:ext>
            </a:extLst>
          </p:cNvPr>
          <p:cNvSpPr/>
          <p:nvPr/>
        </p:nvSpPr>
        <p:spPr>
          <a:xfrm>
            <a:off x="1507139"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12:00 Day-1</a:t>
            </a:r>
          </a:p>
        </p:txBody>
      </p:sp>
      <p:sp>
        <p:nvSpPr>
          <p:cNvPr id="46" name="Rectangle 45">
            <a:extLst>
              <a:ext uri="{FF2B5EF4-FFF2-40B4-BE49-F238E27FC236}">
                <a16:creationId xmlns:a16="http://schemas.microsoft.com/office/drawing/2014/main" id="{0EA86FDA-C25A-4F45-8166-E1A4C4C76C44}"/>
              </a:ext>
            </a:extLst>
          </p:cNvPr>
          <p:cNvSpPr/>
          <p:nvPr/>
        </p:nvSpPr>
        <p:spPr>
          <a:xfrm>
            <a:off x="3488169"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-1 Hour</a:t>
            </a:r>
          </a:p>
        </p:txBody>
      </p:sp>
      <p:sp>
        <p:nvSpPr>
          <p:cNvPr id="48" name="Rectangle 47">
            <a:extLst>
              <a:ext uri="{FF2B5EF4-FFF2-40B4-BE49-F238E27FC236}">
                <a16:creationId xmlns:a16="http://schemas.microsoft.com/office/drawing/2014/main" id="{14FCF2D4-397A-455F-A0EA-2FB713FB6653}"/>
              </a:ext>
            </a:extLst>
          </p:cNvPr>
          <p:cNvSpPr/>
          <p:nvPr/>
        </p:nvSpPr>
        <p:spPr>
          <a:xfrm>
            <a:off x="5444371"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-45 min</a:t>
            </a:r>
          </a:p>
        </p:txBody>
      </p:sp>
      <p:sp>
        <p:nvSpPr>
          <p:cNvPr id="51" name="Rectangle 50">
            <a:extLst>
              <a:ext uri="{FF2B5EF4-FFF2-40B4-BE49-F238E27FC236}">
                <a16:creationId xmlns:a16="http://schemas.microsoft.com/office/drawing/2014/main" id="{850AB5C0-9097-431C-AB29-406ED33B87D3}"/>
              </a:ext>
            </a:extLst>
          </p:cNvPr>
          <p:cNvSpPr/>
          <p:nvPr/>
        </p:nvSpPr>
        <p:spPr>
          <a:xfrm>
            <a:off x="7132106" y="4859278"/>
            <a:ext cx="1897387"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Hour of operation</a:t>
            </a:r>
          </a:p>
        </p:txBody>
      </p:sp>
      <p:sp>
        <p:nvSpPr>
          <p:cNvPr id="52" name="Rectangle 51">
            <a:extLst>
              <a:ext uri="{FF2B5EF4-FFF2-40B4-BE49-F238E27FC236}">
                <a16:creationId xmlns:a16="http://schemas.microsoft.com/office/drawing/2014/main" id="{33029F0F-F574-459C-BAD5-3ACAD25857FB}"/>
              </a:ext>
            </a:extLst>
          </p:cNvPr>
          <p:cNvSpPr/>
          <p:nvPr/>
        </p:nvSpPr>
        <p:spPr>
          <a:xfrm>
            <a:off x="9674201" y="4859278"/>
            <a:ext cx="1345721"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Day + (6) </a:t>
            </a:r>
          </a:p>
        </p:txBody>
      </p:sp>
      <p:cxnSp>
        <p:nvCxnSpPr>
          <p:cNvPr id="53" name="Straight Arrow Connector 52">
            <a:extLst>
              <a:ext uri="{FF2B5EF4-FFF2-40B4-BE49-F238E27FC236}">
                <a16:creationId xmlns:a16="http://schemas.microsoft.com/office/drawing/2014/main" id="{41520EF8-37E4-4F17-80D8-3BF190D47CB0}"/>
              </a:ext>
            </a:extLst>
          </p:cNvPr>
          <p:cNvCxnSpPr>
            <a:cxnSpLocks/>
          </p:cNvCxnSpPr>
          <p:nvPr/>
        </p:nvCxnSpPr>
        <p:spPr>
          <a:xfrm>
            <a:off x="1507139" y="2538397"/>
            <a:ext cx="2653891" cy="0"/>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2123D9ED-4CA4-4BF2-9602-68FDA4820AD3}"/>
              </a:ext>
            </a:extLst>
          </p:cNvPr>
          <p:cNvSpPr/>
          <p:nvPr/>
        </p:nvSpPr>
        <p:spPr>
          <a:xfrm>
            <a:off x="1767414" y="2106966"/>
            <a:ext cx="2162628"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Planning</a:t>
            </a:r>
          </a:p>
        </p:txBody>
      </p:sp>
      <p:cxnSp>
        <p:nvCxnSpPr>
          <p:cNvPr id="58" name="Straight Arrow Connector 57">
            <a:extLst>
              <a:ext uri="{FF2B5EF4-FFF2-40B4-BE49-F238E27FC236}">
                <a16:creationId xmlns:a16="http://schemas.microsoft.com/office/drawing/2014/main" id="{AF080748-1938-4CB0-B7EA-335F33A03984}"/>
              </a:ext>
            </a:extLst>
          </p:cNvPr>
          <p:cNvCxnSpPr>
            <a:cxnSpLocks/>
          </p:cNvCxnSpPr>
          <p:nvPr/>
        </p:nvCxnSpPr>
        <p:spPr>
          <a:xfrm>
            <a:off x="4161030" y="2538397"/>
            <a:ext cx="4491392" cy="0"/>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D02891E6-2AFF-4B0D-9EAA-F5D35904057C}"/>
              </a:ext>
            </a:extLst>
          </p:cNvPr>
          <p:cNvSpPr/>
          <p:nvPr/>
        </p:nvSpPr>
        <p:spPr>
          <a:xfrm>
            <a:off x="4161030" y="2094265"/>
            <a:ext cx="4491392" cy="38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Operation</a:t>
            </a:r>
          </a:p>
        </p:txBody>
      </p:sp>
      <p:sp>
        <p:nvSpPr>
          <p:cNvPr id="60" name="Rectangle: Rounded Corners 59">
            <a:extLst>
              <a:ext uri="{FF2B5EF4-FFF2-40B4-BE49-F238E27FC236}">
                <a16:creationId xmlns:a16="http://schemas.microsoft.com/office/drawing/2014/main" id="{F0B11081-FDD2-4A63-9444-585A38BCADF3}"/>
              </a:ext>
            </a:extLst>
          </p:cNvPr>
          <p:cNvSpPr/>
          <p:nvPr/>
        </p:nvSpPr>
        <p:spPr>
          <a:xfrm>
            <a:off x="1425812" y="2642506"/>
            <a:ext cx="3545672" cy="1621262"/>
          </a:xfrm>
          <a:prstGeom prst="round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Financial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4" name="Pentagon 40">
            <a:extLst>
              <a:ext uri="{FF2B5EF4-FFF2-40B4-BE49-F238E27FC236}">
                <a16:creationId xmlns:a16="http://schemas.microsoft.com/office/drawing/2014/main" id="{C5208F54-4540-438C-B27A-B8618F70D11C}"/>
              </a:ext>
            </a:extLst>
          </p:cNvPr>
          <p:cNvSpPr/>
          <p:nvPr/>
        </p:nvSpPr>
        <p:spPr>
          <a:xfrm rot="16200000">
            <a:off x="1676000"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Common marginal price market</a:t>
            </a:r>
          </a:p>
        </p:txBody>
      </p:sp>
      <p:sp>
        <p:nvSpPr>
          <p:cNvPr id="66" name="Pentagon 40">
            <a:extLst>
              <a:ext uri="{FF2B5EF4-FFF2-40B4-BE49-F238E27FC236}">
                <a16:creationId xmlns:a16="http://schemas.microsoft.com/office/drawing/2014/main" id="{5BAC738B-FC27-4EF3-BF4A-71D3B0F58A7B}"/>
              </a:ext>
            </a:extLst>
          </p:cNvPr>
          <p:cNvSpPr/>
          <p:nvPr/>
        </p:nvSpPr>
        <p:spPr>
          <a:xfrm rot="16200000">
            <a:off x="4635132" y="4096084"/>
            <a:ext cx="1008000" cy="3301920"/>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Management of short-term imblances</a:t>
            </a:r>
          </a:p>
        </p:txBody>
      </p:sp>
      <p:sp>
        <p:nvSpPr>
          <p:cNvPr id="67" name="Pentagon 40">
            <a:extLst>
              <a:ext uri="{FF2B5EF4-FFF2-40B4-BE49-F238E27FC236}">
                <a16:creationId xmlns:a16="http://schemas.microsoft.com/office/drawing/2014/main" id="{02E61F65-9464-4156-B4CD-BB1274B70A26}"/>
              </a:ext>
            </a:extLst>
          </p:cNvPr>
          <p:cNvSpPr/>
          <p:nvPr/>
        </p:nvSpPr>
        <p:spPr>
          <a:xfrm rot="16200000">
            <a:off x="7576799"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Security of supply</a:t>
            </a:r>
          </a:p>
        </p:txBody>
      </p:sp>
      <p:sp>
        <p:nvSpPr>
          <p:cNvPr id="68" name="Pentagon 40">
            <a:extLst>
              <a:ext uri="{FF2B5EF4-FFF2-40B4-BE49-F238E27FC236}">
                <a16:creationId xmlns:a16="http://schemas.microsoft.com/office/drawing/2014/main" id="{599E4355-B476-4C42-82A5-5C03A68C38A7}"/>
              </a:ext>
            </a:extLst>
          </p:cNvPr>
          <p:cNvSpPr/>
          <p:nvPr/>
        </p:nvSpPr>
        <p:spPr>
          <a:xfrm rot="16200000">
            <a:off x="9843060" y="5126667"/>
            <a:ext cx="1008000" cy="1240753"/>
          </a:xfrm>
          <a:prstGeom prst="homePlate">
            <a:avLst>
              <a:gd name="adj" fmla="val 17021"/>
            </a:avLst>
          </a:prstGeom>
          <a:solidFill>
            <a:srgbClr val="78AED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dirty="0">
                <a:ln>
                  <a:noFill/>
                </a:ln>
                <a:solidFill>
                  <a:srgbClr val="FFFFFF"/>
                </a:solidFill>
                <a:effectLst/>
                <a:uLnTx/>
                <a:uFillTx/>
                <a:latin typeface="Times New Roman" panose="02020603050405020304" pitchFamily="18" charset="0"/>
                <a:ea typeface="Arial Unicode MS" panose="020B0604020202020204" pitchFamily="34" charset="-128"/>
                <a:cs typeface="Times New Roman" panose="02020603050405020304" pitchFamily="18" charset="0"/>
              </a:rPr>
              <a:t>Settlement </a:t>
            </a:r>
          </a:p>
        </p:txBody>
      </p:sp>
      <p:sp>
        <p:nvSpPr>
          <p:cNvPr id="69" name="Rectangle 68">
            <a:extLst>
              <a:ext uri="{FF2B5EF4-FFF2-40B4-BE49-F238E27FC236}">
                <a16:creationId xmlns:a16="http://schemas.microsoft.com/office/drawing/2014/main" id="{698CE4D4-FC40-4582-AF89-C91E5F909DE1}"/>
              </a:ext>
            </a:extLst>
          </p:cNvPr>
          <p:cNvSpPr/>
          <p:nvPr/>
        </p:nvSpPr>
        <p:spPr>
          <a:xfrm>
            <a:off x="0" y="4145003"/>
            <a:ext cx="1032310" cy="1069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Gate Closure</a:t>
            </a:r>
          </a:p>
        </p:txBody>
      </p:sp>
      <p:sp>
        <p:nvSpPr>
          <p:cNvPr id="63" name="Rectangle: Rounded Corners 62">
            <a:extLst>
              <a:ext uri="{FF2B5EF4-FFF2-40B4-BE49-F238E27FC236}">
                <a16:creationId xmlns:a16="http://schemas.microsoft.com/office/drawing/2014/main" id="{85AD59CC-726E-4795-A47A-EE59B27606E6}"/>
              </a:ext>
            </a:extLst>
          </p:cNvPr>
          <p:cNvSpPr/>
          <p:nvPr/>
        </p:nvSpPr>
        <p:spPr>
          <a:xfrm>
            <a:off x="5364986" y="2642506"/>
            <a:ext cx="3545672" cy="1621262"/>
          </a:xfrm>
          <a:prstGeom prst="round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Physical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cxnSp>
        <p:nvCxnSpPr>
          <p:cNvPr id="43" name="Straight Arrow Connector 42">
            <a:extLst>
              <a:ext uri="{FF2B5EF4-FFF2-40B4-BE49-F238E27FC236}">
                <a16:creationId xmlns:a16="http://schemas.microsoft.com/office/drawing/2014/main" id="{22ECDC45-2856-4B85-8EEF-4E42FBFD2FDB}"/>
              </a:ext>
            </a:extLst>
          </p:cNvPr>
          <p:cNvCxnSpPr>
            <a:cxnSpLocks/>
          </p:cNvCxnSpPr>
          <p:nvPr/>
        </p:nvCxnSpPr>
        <p:spPr>
          <a:xfrm flipH="1" flipV="1">
            <a:off x="3849624" y="2010462"/>
            <a:ext cx="1638633" cy="1066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E00A889-D600-439A-A17A-80277AA5CE51}"/>
              </a:ext>
            </a:extLst>
          </p:cNvPr>
          <p:cNvSpPr/>
          <p:nvPr/>
        </p:nvSpPr>
        <p:spPr>
          <a:xfrm>
            <a:off x="508708" y="1238208"/>
            <a:ext cx="4749092" cy="693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400" dirty="0">
                <a:solidFill>
                  <a:schemeClr val="accent1"/>
                </a:solidFill>
              </a:rPr>
              <a:t>The market ensuring security of supply and unmanaged imbalances = The ”insurance” of the power system</a:t>
            </a:r>
            <a:endParaRPr lang="en-US" sz="1400" dirty="0">
              <a:solidFill>
                <a:schemeClr val="accent1"/>
              </a:solidFill>
            </a:endParaRPr>
          </a:p>
        </p:txBody>
      </p:sp>
      <p:sp>
        <p:nvSpPr>
          <p:cNvPr id="6" name="Title 2">
            <a:extLst>
              <a:ext uri="{FF2B5EF4-FFF2-40B4-BE49-F238E27FC236}">
                <a16:creationId xmlns:a16="http://schemas.microsoft.com/office/drawing/2014/main" id="{271344A1-E3D5-3EB4-03CA-98D82DCC2666}"/>
              </a:ext>
            </a:extLst>
          </p:cNvPr>
          <p:cNvSpPr>
            <a:spLocks noGrp="1"/>
          </p:cNvSpPr>
          <p:nvPr>
            <p:ph type="title"/>
          </p:nvPr>
        </p:nvSpPr>
        <p:spPr/>
        <p:txBody>
          <a:bodyPr/>
          <a:lstStyle/>
          <a:p>
            <a:pPr algn="ctr"/>
            <a:r>
              <a:rPr lang="da-DK" dirty="0"/>
              <a:t>The Power System</a:t>
            </a:r>
          </a:p>
        </p:txBody>
      </p:sp>
    </p:spTree>
    <p:extLst>
      <p:ext uri="{BB962C8B-B14F-4D97-AF65-F5344CB8AC3E}">
        <p14:creationId xmlns:p14="http://schemas.microsoft.com/office/powerpoint/2010/main" val="4139588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03B7C8-D83A-6848-882E-EAD0F0B8BE15}"/>
              </a:ext>
            </a:extLst>
          </p:cNvPr>
          <p:cNvSpPr>
            <a:spLocks noGrp="1"/>
          </p:cNvSpPr>
          <p:nvPr>
            <p:ph type="title"/>
          </p:nvPr>
        </p:nvSpPr>
        <p:spPr/>
        <p:txBody>
          <a:bodyPr/>
          <a:lstStyle/>
          <a:p>
            <a:pPr algn="ctr"/>
            <a:r>
              <a:rPr lang="da-DK" dirty="0"/>
              <a:t>Balancing Market</a:t>
            </a:r>
          </a:p>
        </p:txBody>
      </p:sp>
      <p:sp>
        <p:nvSpPr>
          <p:cNvPr id="22" name="Text Placeholder 7">
            <a:extLst>
              <a:ext uri="{FF2B5EF4-FFF2-40B4-BE49-F238E27FC236}">
                <a16:creationId xmlns:a16="http://schemas.microsoft.com/office/drawing/2014/main" id="{9939C6EC-C394-084C-A6BF-9901228342E4}"/>
              </a:ext>
            </a:extLst>
          </p:cNvPr>
          <p:cNvSpPr txBox="1">
            <a:spLocks/>
          </p:cNvSpPr>
          <p:nvPr/>
        </p:nvSpPr>
        <p:spPr>
          <a:xfrm>
            <a:off x="2896710" y="3239931"/>
            <a:ext cx="1896134" cy="297019"/>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da-DK" sz="1200" b="1" dirty="0">
                <a:solidFill>
                  <a:schemeClr val="bg1"/>
                </a:solidFill>
              </a:rPr>
              <a:t>ENERGY INSIGHT</a:t>
            </a:r>
          </a:p>
        </p:txBody>
      </p:sp>
      <p:sp>
        <p:nvSpPr>
          <p:cNvPr id="26" name="Text Placeholder 7">
            <a:extLst>
              <a:ext uri="{FF2B5EF4-FFF2-40B4-BE49-F238E27FC236}">
                <a16:creationId xmlns:a16="http://schemas.microsoft.com/office/drawing/2014/main" id="{2C3437AA-A70F-EA4C-B714-2196760C14C6}"/>
              </a:ext>
            </a:extLst>
          </p:cNvPr>
          <p:cNvSpPr txBox="1">
            <a:spLocks/>
          </p:cNvSpPr>
          <p:nvPr/>
        </p:nvSpPr>
        <p:spPr>
          <a:xfrm>
            <a:off x="7524306" y="3279160"/>
            <a:ext cx="1896134" cy="297019"/>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da-DK" sz="1200" b="1" dirty="0">
                <a:solidFill>
                  <a:schemeClr val="bg1"/>
                </a:solidFill>
              </a:rPr>
              <a:t>WHOLESALE ENERGY</a:t>
            </a:r>
          </a:p>
        </p:txBody>
      </p:sp>
      <p:sp>
        <p:nvSpPr>
          <p:cNvPr id="27" name="Tekstfelt 26">
            <a:extLst>
              <a:ext uri="{FF2B5EF4-FFF2-40B4-BE49-F238E27FC236}">
                <a16:creationId xmlns:a16="http://schemas.microsoft.com/office/drawing/2014/main" id="{A579A1B6-E68B-DC46-8F7F-1B6A6BB1420C}"/>
              </a:ext>
            </a:extLst>
          </p:cNvPr>
          <p:cNvSpPr txBox="1"/>
          <p:nvPr/>
        </p:nvSpPr>
        <p:spPr>
          <a:xfrm>
            <a:off x="8350102" y="1247553"/>
            <a:ext cx="0" cy="0"/>
          </a:xfrm>
          <a:prstGeom prst="rect">
            <a:avLst/>
          </a:prstGeom>
          <a:noFill/>
        </p:spPr>
        <p:txBody>
          <a:bodyPr wrap="none" bIns="0" rtlCol="0">
            <a:noAutofit/>
          </a:bodyPr>
          <a:lstStyle/>
          <a:p>
            <a:endParaRPr lang="da-DK" sz="1400" dirty="0" err="1">
              <a:latin typeface="Avenir Light"/>
              <a:cs typeface="Avenir Light"/>
            </a:endParaRPr>
          </a:p>
        </p:txBody>
      </p:sp>
      <p:sp>
        <p:nvSpPr>
          <p:cNvPr id="35" name="Text Placeholder 7">
            <a:extLst>
              <a:ext uri="{FF2B5EF4-FFF2-40B4-BE49-F238E27FC236}">
                <a16:creationId xmlns:a16="http://schemas.microsoft.com/office/drawing/2014/main" id="{DB01D237-9B91-A141-B841-5BB59B781B3B}"/>
              </a:ext>
            </a:extLst>
          </p:cNvPr>
          <p:cNvSpPr txBox="1">
            <a:spLocks/>
          </p:cNvSpPr>
          <p:nvPr/>
        </p:nvSpPr>
        <p:spPr>
          <a:xfrm>
            <a:off x="702214" y="1635844"/>
            <a:ext cx="8212294" cy="1078192"/>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endParaRPr lang="da-DK" sz="2000" dirty="0"/>
          </a:p>
          <a:p>
            <a:pPr>
              <a:lnSpc>
                <a:spcPct val="110000"/>
              </a:lnSpc>
              <a:buFontTx/>
              <a:buChar char="-"/>
            </a:pPr>
            <a:endParaRPr lang="da-DK" sz="2000" dirty="0"/>
          </a:p>
        </p:txBody>
      </p:sp>
      <p:sp>
        <p:nvSpPr>
          <p:cNvPr id="30" name="Text Placeholder 7">
            <a:extLst>
              <a:ext uri="{FF2B5EF4-FFF2-40B4-BE49-F238E27FC236}">
                <a16:creationId xmlns:a16="http://schemas.microsoft.com/office/drawing/2014/main" id="{AB523923-CBA7-4201-9BA7-97B8D79800D8}"/>
              </a:ext>
            </a:extLst>
          </p:cNvPr>
          <p:cNvSpPr txBox="1">
            <a:spLocks/>
          </p:cNvSpPr>
          <p:nvPr/>
        </p:nvSpPr>
        <p:spPr>
          <a:xfrm>
            <a:off x="1040458" y="1813563"/>
            <a:ext cx="5608637" cy="2487374"/>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en-US" sz="2000" dirty="0">
                <a:latin typeface="Calibri" panose="020F0502020204030204" pitchFamily="34" charset="0"/>
                <a:cs typeface="Calibri" panose="020F0502020204030204" pitchFamily="34" charset="0"/>
              </a:rPr>
              <a:t>The power system needs to balanced all the time: </a:t>
            </a:r>
          </a:p>
          <a:p>
            <a:pPr marL="0" indent="0">
              <a:lnSpc>
                <a:spcPct val="110000"/>
              </a:lnSpc>
              <a:buNone/>
            </a:pPr>
            <a:r>
              <a:rPr lang="en-US" sz="2000" b="1" dirty="0">
                <a:latin typeface="Calibri" panose="020F0502020204030204" pitchFamily="34" charset="0"/>
                <a:cs typeface="Calibri" panose="020F0502020204030204" pitchFamily="34" charset="0"/>
              </a:rPr>
              <a:t>Consumption = Production</a:t>
            </a:r>
          </a:p>
          <a:p>
            <a:pPr marL="0" indent="0">
              <a:lnSpc>
                <a:spcPct val="110000"/>
              </a:lnSpc>
              <a:buNone/>
            </a:pPr>
            <a:r>
              <a:rPr lang="en-US" sz="2000" dirty="0">
                <a:latin typeface="Calibri" panose="020F0502020204030204" pitchFamily="34" charset="0"/>
                <a:cs typeface="Calibri" panose="020F0502020204030204" pitchFamily="34" charset="0"/>
              </a:rPr>
              <a:t>But if something unexpected happens or it is past the intraday gate closure?</a:t>
            </a:r>
          </a:p>
          <a:p>
            <a:pPr marL="0" indent="0">
              <a:lnSpc>
                <a:spcPct val="110000"/>
              </a:lnSpc>
              <a:buNone/>
            </a:pPr>
            <a:endParaRPr lang="en-US" sz="2000" b="1" dirty="0">
              <a:latin typeface="Calibri" panose="020F0502020204030204" pitchFamily="34" charset="0"/>
              <a:cs typeface="Calibri" panose="020F0502020204030204" pitchFamily="34" charset="0"/>
            </a:endParaRPr>
          </a:p>
          <a:p>
            <a:pPr marL="0" indent="0">
              <a:lnSpc>
                <a:spcPct val="110000"/>
              </a:lnSpc>
              <a:buNone/>
            </a:pPr>
            <a:endParaRPr lang="en-US" sz="2000" b="1" dirty="0">
              <a:latin typeface="Calibri" panose="020F0502020204030204" pitchFamily="34" charset="0"/>
              <a:cs typeface="Calibri" panose="020F0502020204030204" pitchFamily="34" charset="0"/>
            </a:endParaRPr>
          </a:p>
          <a:p>
            <a:pPr>
              <a:lnSpc>
                <a:spcPct val="110000"/>
              </a:lnSpc>
              <a:buFontTx/>
              <a:buChar char="-"/>
            </a:pPr>
            <a:endParaRPr lang="da-DK" sz="2000" dirty="0"/>
          </a:p>
        </p:txBody>
      </p:sp>
      <p:pic>
        <p:nvPicPr>
          <p:cNvPr id="3" name="Picture 2" descr="Diagram&#10;&#10;Description automatically generated">
            <a:extLst>
              <a:ext uri="{FF2B5EF4-FFF2-40B4-BE49-F238E27FC236}">
                <a16:creationId xmlns:a16="http://schemas.microsoft.com/office/drawing/2014/main" id="{F12CAB15-2D59-AB47-B777-78EE96C1F5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9207" y="3949245"/>
            <a:ext cx="8077914" cy="2828278"/>
          </a:xfrm>
          <a:prstGeom prst="rect">
            <a:avLst/>
          </a:prstGeom>
        </p:spPr>
      </p:pic>
      <p:sp>
        <p:nvSpPr>
          <p:cNvPr id="9" name="Oval 8">
            <a:extLst>
              <a:ext uri="{FF2B5EF4-FFF2-40B4-BE49-F238E27FC236}">
                <a16:creationId xmlns:a16="http://schemas.microsoft.com/office/drawing/2014/main" id="{9EAA896A-B956-5258-40B6-DB7CB7E3D2D0}"/>
              </a:ext>
            </a:extLst>
          </p:cNvPr>
          <p:cNvSpPr/>
          <p:nvPr/>
        </p:nvSpPr>
        <p:spPr>
          <a:xfrm>
            <a:off x="5028937" y="4487470"/>
            <a:ext cx="1067063" cy="908355"/>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err="1">
              <a:solidFill>
                <a:schemeClr val="bg1"/>
              </a:solidFill>
              <a:latin typeface="Avenir Light"/>
              <a:cs typeface="Avenir Light"/>
            </a:endParaRPr>
          </a:p>
        </p:txBody>
      </p:sp>
    </p:spTree>
    <p:extLst>
      <p:ext uri="{BB962C8B-B14F-4D97-AF65-F5344CB8AC3E}">
        <p14:creationId xmlns:p14="http://schemas.microsoft.com/office/powerpoint/2010/main" val="230837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kstfelt 26">
            <a:extLst>
              <a:ext uri="{FF2B5EF4-FFF2-40B4-BE49-F238E27FC236}">
                <a16:creationId xmlns:a16="http://schemas.microsoft.com/office/drawing/2014/main" id="{A579A1B6-E68B-DC46-8F7F-1B6A6BB1420C}"/>
              </a:ext>
            </a:extLst>
          </p:cNvPr>
          <p:cNvSpPr txBox="1"/>
          <p:nvPr/>
        </p:nvSpPr>
        <p:spPr>
          <a:xfrm>
            <a:off x="8350102" y="1247553"/>
            <a:ext cx="0" cy="0"/>
          </a:xfrm>
          <a:prstGeom prst="rect">
            <a:avLst/>
          </a:prstGeom>
          <a:noFill/>
        </p:spPr>
        <p:txBody>
          <a:bodyPr wrap="none"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400" b="0" i="0" u="none" strike="noStrike" kern="1200" cap="none" spc="0" normalizeH="0" baseline="0" noProof="0" dirty="0" err="1">
              <a:ln>
                <a:noFill/>
              </a:ln>
              <a:solidFill>
                <a:srgbClr val="000000"/>
              </a:solidFill>
              <a:effectLst/>
              <a:uLnTx/>
              <a:uFillTx/>
              <a:latin typeface="Avenir Light"/>
              <a:ea typeface="+mn-ea"/>
              <a:cs typeface="Avenir Light"/>
            </a:endParaRPr>
          </a:p>
        </p:txBody>
      </p:sp>
      <p:sp>
        <p:nvSpPr>
          <p:cNvPr id="10" name="Rectangle 9">
            <a:extLst>
              <a:ext uri="{FF2B5EF4-FFF2-40B4-BE49-F238E27FC236}">
                <a16:creationId xmlns:a16="http://schemas.microsoft.com/office/drawing/2014/main" id="{9BFFBBAF-3694-BEB2-F9C1-51C56F94D2E2}"/>
              </a:ext>
            </a:extLst>
          </p:cNvPr>
          <p:cNvSpPr/>
          <p:nvPr/>
        </p:nvSpPr>
        <p:spPr>
          <a:xfrm>
            <a:off x="1169789" y="2386259"/>
            <a:ext cx="2200275" cy="664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2000" dirty="0">
                <a:solidFill>
                  <a:srgbClr val="0D3DFB"/>
                </a:solidFill>
                <a:latin typeface="Calibri" panose="020F0502020204030204"/>
              </a:rPr>
              <a:t>What happens then</a:t>
            </a:r>
            <a:r>
              <a:rPr kumimoji="0" lang="da-DK" sz="2000" b="0" i="0" u="none" strike="noStrike" kern="1200" cap="none" spc="0" normalizeH="0" baseline="0" noProof="0" dirty="0">
                <a:ln>
                  <a:noFill/>
                </a:ln>
                <a:solidFill>
                  <a:srgbClr val="0D3DFB"/>
                </a:solidFill>
                <a:effectLst/>
                <a:uLnTx/>
                <a:uFillTx/>
                <a:latin typeface="Calibri" panose="020F0502020204030204"/>
                <a:ea typeface="+mn-ea"/>
                <a:cs typeface="+mn-cs"/>
              </a:rPr>
              <a:t>?</a:t>
            </a:r>
            <a:endParaRPr kumimoji="0" lang="en-US" sz="2000" b="0" i="0" u="none" strike="noStrike" kern="1200" cap="none" spc="0" normalizeH="0" baseline="0" noProof="0" dirty="0">
              <a:ln>
                <a:noFill/>
              </a:ln>
              <a:solidFill>
                <a:srgbClr val="0D3DFB"/>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6CD172C-E1EC-72DC-D83C-02473FF59697}"/>
              </a:ext>
            </a:extLst>
          </p:cNvPr>
          <p:cNvSpPr/>
          <p:nvPr/>
        </p:nvSpPr>
        <p:spPr>
          <a:xfrm>
            <a:off x="962620" y="3314899"/>
            <a:ext cx="2614612" cy="664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2000" dirty="0">
                <a:solidFill>
                  <a:srgbClr val="0D3DFB"/>
                </a:solidFill>
                <a:latin typeface="Calibri" panose="020F0502020204030204"/>
              </a:rPr>
              <a:t>I</a:t>
            </a:r>
            <a:r>
              <a:rPr kumimoji="0" lang="da-DK" sz="2000" b="0" i="0" u="none" strike="noStrike" kern="1200" cap="none" spc="0" normalizeH="0" baseline="0" noProof="0" dirty="0">
                <a:ln>
                  <a:noFill/>
                </a:ln>
                <a:solidFill>
                  <a:srgbClr val="0D3DFB"/>
                </a:solidFill>
                <a:effectLst/>
                <a:uLnTx/>
                <a:uFillTx/>
                <a:latin typeface="Calibri" panose="020F0502020204030204"/>
                <a:ea typeface="+mn-ea"/>
                <a:cs typeface="+mn-cs"/>
              </a:rPr>
              <a:t>mbalance occurs</a:t>
            </a:r>
            <a:endParaRPr kumimoji="0" lang="en-US" sz="2000" b="0" i="0" u="none" strike="noStrike" kern="1200" cap="none" spc="0" normalizeH="0" baseline="0" noProof="0" dirty="0">
              <a:ln>
                <a:noFill/>
              </a:ln>
              <a:solidFill>
                <a:srgbClr val="0D3DFB"/>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F11A1DAA-C79D-07E8-2707-840A1453EE9C}"/>
              </a:ext>
            </a:extLst>
          </p:cNvPr>
          <p:cNvCxnSpPr>
            <a:cxnSpLocks/>
            <a:stCxn id="10" idx="2"/>
          </p:cNvCxnSpPr>
          <p:nvPr/>
        </p:nvCxnSpPr>
        <p:spPr>
          <a:xfrm flipH="1">
            <a:off x="2269926" y="3050538"/>
            <a:ext cx="1" cy="224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1AEF317-05F6-D866-9367-62733CBE2C8E}"/>
              </a:ext>
            </a:extLst>
          </p:cNvPr>
          <p:cNvSpPr/>
          <p:nvPr/>
        </p:nvSpPr>
        <p:spPr>
          <a:xfrm>
            <a:off x="4611149" y="2330392"/>
            <a:ext cx="2550600" cy="9161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2000" dirty="0">
                <a:solidFill>
                  <a:srgbClr val="0D3DFB"/>
                </a:solidFill>
                <a:latin typeface="Calibri" panose="020F0502020204030204"/>
              </a:rPr>
              <a:t>Who has the responsability</a:t>
            </a:r>
            <a:r>
              <a:rPr kumimoji="0" lang="da-DK" sz="2000" b="0" i="0" u="none" strike="noStrike" kern="1200" cap="none" spc="0" normalizeH="0" baseline="0" noProof="0" dirty="0">
                <a:ln>
                  <a:noFill/>
                </a:ln>
                <a:solidFill>
                  <a:srgbClr val="0D3DFB"/>
                </a:solidFill>
                <a:effectLst/>
                <a:uLnTx/>
                <a:uFillTx/>
                <a:latin typeface="Calibri" panose="020F0502020204030204"/>
                <a:ea typeface="+mn-ea"/>
                <a:cs typeface="+mn-cs"/>
              </a:rPr>
              <a:t>?</a:t>
            </a:r>
            <a:endParaRPr kumimoji="0" lang="en-US" sz="2000" b="0" i="0" u="none" strike="noStrike" kern="1200" cap="none" spc="0" normalizeH="0" baseline="0" noProof="0" dirty="0">
              <a:ln>
                <a:noFill/>
              </a:ln>
              <a:solidFill>
                <a:srgbClr val="0D3DFB"/>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90F5499D-9850-FFB5-13C7-8C49BD8BE738}"/>
              </a:ext>
            </a:extLst>
          </p:cNvPr>
          <p:cNvSpPr txBox="1">
            <a:spLocks/>
          </p:cNvSpPr>
          <p:nvPr/>
        </p:nvSpPr>
        <p:spPr>
          <a:xfrm>
            <a:off x="0" y="388938"/>
            <a:ext cx="12192000" cy="4794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t>Balancing</a:t>
            </a:r>
            <a:r>
              <a:rPr kumimoji="0" lang="da-DK" b="1" i="0" u="none" strike="noStrike" kern="1200" cap="none" spc="0" normalizeH="0" noProof="0" dirty="0">
                <a:ln>
                  <a:noFill/>
                </a:ln>
                <a:solidFill>
                  <a:srgbClr val="0D3DFB"/>
                </a:solidFill>
                <a:effectLst/>
                <a:uLnTx/>
                <a:uFillTx/>
                <a:latin typeface="Calibri Light" panose="020F0302020204030204"/>
                <a:ea typeface="+mj-ea"/>
                <a:cs typeface="+mj-cs"/>
              </a:rPr>
              <a:t> Market</a:t>
            </a:r>
            <a:endPar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endParaRPr>
          </a:p>
        </p:txBody>
      </p:sp>
      <p:sp>
        <p:nvSpPr>
          <p:cNvPr id="3" name="Text Placeholder 7">
            <a:extLst>
              <a:ext uri="{FF2B5EF4-FFF2-40B4-BE49-F238E27FC236}">
                <a16:creationId xmlns:a16="http://schemas.microsoft.com/office/drawing/2014/main" id="{07F2E9AE-F1B6-B733-AC2F-6A95AE3A9878}"/>
              </a:ext>
            </a:extLst>
          </p:cNvPr>
          <p:cNvSpPr txBox="1">
            <a:spLocks/>
          </p:cNvSpPr>
          <p:nvPr/>
        </p:nvSpPr>
        <p:spPr>
          <a:xfrm>
            <a:off x="498184" y="1110456"/>
            <a:ext cx="9817204" cy="1143679"/>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en-US" sz="2000" dirty="0">
                <a:latin typeface="Calibri" panose="020F0502020204030204" pitchFamily="34" charset="0"/>
                <a:cs typeface="Calibri" panose="020F0502020204030204" pitchFamily="34" charset="0"/>
              </a:rPr>
              <a:t>The power system needs to balanced all the time: </a:t>
            </a:r>
          </a:p>
          <a:p>
            <a:pPr marL="0" indent="0">
              <a:lnSpc>
                <a:spcPct val="110000"/>
              </a:lnSpc>
              <a:buNone/>
            </a:pPr>
            <a:r>
              <a:rPr lang="en-US" sz="2000" b="1" dirty="0">
                <a:latin typeface="Calibri" panose="020F0502020204030204" pitchFamily="34" charset="0"/>
                <a:cs typeface="Calibri" panose="020F0502020204030204" pitchFamily="34" charset="0"/>
              </a:rPr>
              <a:t>Consumption = Production</a:t>
            </a:r>
          </a:p>
          <a:p>
            <a:pPr marL="0" indent="0">
              <a:lnSpc>
                <a:spcPct val="110000"/>
              </a:lnSpc>
              <a:buNone/>
            </a:pPr>
            <a:r>
              <a:rPr lang="en-US" sz="2000" dirty="0">
                <a:latin typeface="Calibri" panose="020F0502020204030204" pitchFamily="34" charset="0"/>
                <a:cs typeface="Calibri" panose="020F0502020204030204" pitchFamily="34" charset="0"/>
              </a:rPr>
              <a:t>But if something unexpected happens or it is past the intraday gate closure?</a:t>
            </a:r>
            <a:endParaRPr lang="en-US" sz="2000" b="1" dirty="0">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65B0058F-8A5C-B73B-7FF2-3DB01F2D2A3E}"/>
              </a:ext>
            </a:extLst>
          </p:cNvPr>
          <p:cNvSpPr/>
          <p:nvPr/>
        </p:nvSpPr>
        <p:spPr>
          <a:xfrm>
            <a:off x="8148637" y="2254134"/>
            <a:ext cx="3348038" cy="664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2000" dirty="0">
                <a:solidFill>
                  <a:schemeClr val="accent1"/>
                </a:solidFill>
              </a:rPr>
              <a:t>How do they secure the balance?</a:t>
            </a:r>
            <a:endParaRPr lang="en-US" sz="2000" dirty="0">
              <a:solidFill>
                <a:schemeClr val="accent1"/>
              </a:solidFill>
            </a:endParaRPr>
          </a:p>
        </p:txBody>
      </p:sp>
      <p:sp>
        <p:nvSpPr>
          <p:cNvPr id="9" name="Rectangle 8">
            <a:extLst>
              <a:ext uri="{FF2B5EF4-FFF2-40B4-BE49-F238E27FC236}">
                <a16:creationId xmlns:a16="http://schemas.microsoft.com/office/drawing/2014/main" id="{62D51391-D982-870D-C4F9-D99EA351B030}"/>
              </a:ext>
            </a:extLst>
          </p:cNvPr>
          <p:cNvSpPr/>
          <p:nvPr/>
        </p:nvSpPr>
        <p:spPr>
          <a:xfrm>
            <a:off x="8722518" y="3354819"/>
            <a:ext cx="2200275" cy="664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2000" dirty="0">
                <a:solidFill>
                  <a:schemeClr val="accent1"/>
                </a:solidFill>
              </a:rPr>
              <a:t>Ancillary services / Reserves</a:t>
            </a:r>
            <a:endParaRPr lang="en-US" sz="2000" dirty="0">
              <a:solidFill>
                <a:schemeClr val="accent1"/>
              </a:solidFill>
            </a:endParaRPr>
          </a:p>
        </p:txBody>
      </p:sp>
      <p:cxnSp>
        <p:nvCxnSpPr>
          <p:cNvPr id="13" name="Straight Arrow Connector 12">
            <a:extLst>
              <a:ext uri="{FF2B5EF4-FFF2-40B4-BE49-F238E27FC236}">
                <a16:creationId xmlns:a16="http://schemas.microsoft.com/office/drawing/2014/main" id="{E8548F5F-7826-E108-6607-68A208C0CBD4}"/>
              </a:ext>
            </a:extLst>
          </p:cNvPr>
          <p:cNvCxnSpPr>
            <a:cxnSpLocks/>
            <a:stCxn id="8" idx="2"/>
            <a:endCxn id="9" idx="0"/>
          </p:cNvCxnSpPr>
          <p:nvPr/>
        </p:nvCxnSpPr>
        <p:spPr>
          <a:xfrm>
            <a:off x="9822656" y="2918413"/>
            <a:ext cx="0" cy="436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A1CA829-E0EC-ABF1-1C03-1DB21F91A179}"/>
              </a:ext>
            </a:extLst>
          </p:cNvPr>
          <p:cNvSpPr/>
          <p:nvPr/>
        </p:nvSpPr>
        <p:spPr>
          <a:xfrm>
            <a:off x="4611149" y="3457302"/>
            <a:ext cx="2614612" cy="369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D3DFB"/>
                </a:solidFill>
                <a:effectLst/>
                <a:uLnTx/>
                <a:uFillTx/>
                <a:latin typeface="Calibri" panose="020F0502020204030204"/>
                <a:ea typeface="+mn-ea"/>
                <a:cs typeface="+mn-cs"/>
              </a:rPr>
              <a:t>TSO</a:t>
            </a:r>
          </a:p>
        </p:txBody>
      </p:sp>
      <p:cxnSp>
        <p:nvCxnSpPr>
          <p:cNvPr id="15" name="Straight Arrow Connector 14">
            <a:extLst>
              <a:ext uri="{FF2B5EF4-FFF2-40B4-BE49-F238E27FC236}">
                <a16:creationId xmlns:a16="http://schemas.microsoft.com/office/drawing/2014/main" id="{0A65B703-A6A4-7CEF-F118-825D958B2AD2}"/>
              </a:ext>
            </a:extLst>
          </p:cNvPr>
          <p:cNvCxnSpPr>
            <a:cxnSpLocks/>
          </p:cNvCxnSpPr>
          <p:nvPr/>
        </p:nvCxnSpPr>
        <p:spPr>
          <a:xfrm flipH="1">
            <a:off x="5918454" y="3229099"/>
            <a:ext cx="1" cy="1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Picture 19" descr="Diagram&#10;&#10;Description automatically generated">
            <a:extLst>
              <a:ext uri="{FF2B5EF4-FFF2-40B4-BE49-F238E27FC236}">
                <a16:creationId xmlns:a16="http://schemas.microsoft.com/office/drawing/2014/main" id="{817B4F64-E44C-BAF6-23B0-6FF1C1B608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9207" y="3949245"/>
            <a:ext cx="8077914" cy="2828278"/>
          </a:xfrm>
          <a:prstGeom prst="rect">
            <a:avLst/>
          </a:prstGeom>
        </p:spPr>
      </p:pic>
      <p:sp>
        <p:nvSpPr>
          <p:cNvPr id="21" name="Oval 20">
            <a:extLst>
              <a:ext uri="{FF2B5EF4-FFF2-40B4-BE49-F238E27FC236}">
                <a16:creationId xmlns:a16="http://schemas.microsoft.com/office/drawing/2014/main" id="{6386D2E8-74D2-D97A-0AEE-EDE16C3836E2}"/>
              </a:ext>
            </a:extLst>
          </p:cNvPr>
          <p:cNvSpPr/>
          <p:nvPr/>
        </p:nvSpPr>
        <p:spPr>
          <a:xfrm>
            <a:off x="5028937" y="4487470"/>
            <a:ext cx="1067063" cy="908355"/>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err="1">
              <a:solidFill>
                <a:schemeClr val="bg1"/>
              </a:solidFill>
              <a:latin typeface="Avenir Light"/>
              <a:cs typeface="Avenir Light"/>
            </a:endParaRPr>
          </a:p>
        </p:txBody>
      </p:sp>
    </p:spTree>
    <p:extLst>
      <p:ext uri="{BB962C8B-B14F-4D97-AF65-F5344CB8AC3E}">
        <p14:creationId xmlns:p14="http://schemas.microsoft.com/office/powerpoint/2010/main" val="178575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iagram&#10;&#10;Description automatically generated">
            <a:extLst>
              <a:ext uri="{FF2B5EF4-FFF2-40B4-BE49-F238E27FC236}">
                <a16:creationId xmlns:a16="http://schemas.microsoft.com/office/drawing/2014/main" id="{2D7457C9-4259-45B3-B562-5432D26BFF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4600" y="3609651"/>
            <a:ext cx="9277690" cy="3248349"/>
          </a:xfrm>
          <a:prstGeom prst="rect">
            <a:avLst/>
          </a:prstGeom>
        </p:spPr>
      </p:pic>
      <p:sp>
        <p:nvSpPr>
          <p:cNvPr id="2" name="Title 1">
            <a:extLst>
              <a:ext uri="{FF2B5EF4-FFF2-40B4-BE49-F238E27FC236}">
                <a16:creationId xmlns:a16="http://schemas.microsoft.com/office/drawing/2014/main" id="{2DA813B3-700A-6350-F6E5-2670E3676B06}"/>
              </a:ext>
            </a:extLst>
          </p:cNvPr>
          <p:cNvSpPr>
            <a:spLocks noGrp="1"/>
          </p:cNvSpPr>
          <p:nvPr>
            <p:ph type="title"/>
          </p:nvPr>
        </p:nvSpPr>
        <p:spPr/>
        <p:txBody>
          <a:bodyPr/>
          <a:lstStyle/>
          <a:p>
            <a:endParaRPr lang="da-DK"/>
          </a:p>
        </p:txBody>
      </p:sp>
      <p:sp>
        <p:nvSpPr>
          <p:cNvPr id="20" name="Text Placeholder 7">
            <a:extLst>
              <a:ext uri="{FF2B5EF4-FFF2-40B4-BE49-F238E27FC236}">
                <a16:creationId xmlns:a16="http://schemas.microsoft.com/office/drawing/2014/main" id="{0B001FFF-894A-3641-BA1D-842FD2D17970}"/>
              </a:ext>
            </a:extLst>
          </p:cNvPr>
          <p:cNvSpPr>
            <a:spLocks noGrp="1"/>
          </p:cNvSpPr>
          <p:nvPr>
            <p:ph type="body" sz="half" idx="2"/>
          </p:nvPr>
        </p:nvSpPr>
        <p:spPr/>
        <p:txBody>
          <a:bodyPr/>
          <a:lstStyle/>
          <a:p>
            <a:pPr marL="0" indent="0">
              <a:lnSpc>
                <a:spcPct val="110000"/>
              </a:lnSpc>
              <a:buNone/>
            </a:pPr>
            <a:r>
              <a:rPr lang="da-DK" sz="1200" b="1" dirty="0">
                <a:solidFill>
                  <a:schemeClr val="bg1"/>
                </a:solidFill>
              </a:rPr>
              <a:t>ENERGY OPTIMISATION</a:t>
            </a:r>
          </a:p>
        </p:txBody>
      </p:sp>
      <p:sp>
        <p:nvSpPr>
          <p:cNvPr id="22" name="Text Placeholder 7">
            <a:extLst>
              <a:ext uri="{FF2B5EF4-FFF2-40B4-BE49-F238E27FC236}">
                <a16:creationId xmlns:a16="http://schemas.microsoft.com/office/drawing/2014/main" id="{9939C6EC-C394-084C-A6BF-9901228342E4}"/>
              </a:ext>
            </a:extLst>
          </p:cNvPr>
          <p:cNvSpPr txBox="1">
            <a:spLocks/>
          </p:cNvSpPr>
          <p:nvPr/>
        </p:nvSpPr>
        <p:spPr>
          <a:xfrm>
            <a:off x="2896710" y="3239931"/>
            <a:ext cx="1896134" cy="297019"/>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da-DK" sz="1200" b="1" dirty="0">
                <a:solidFill>
                  <a:schemeClr val="bg1"/>
                </a:solidFill>
              </a:rPr>
              <a:t>ENERGY INSIGHT</a:t>
            </a:r>
          </a:p>
        </p:txBody>
      </p:sp>
      <p:sp>
        <p:nvSpPr>
          <p:cNvPr id="26" name="Text Placeholder 7">
            <a:extLst>
              <a:ext uri="{FF2B5EF4-FFF2-40B4-BE49-F238E27FC236}">
                <a16:creationId xmlns:a16="http://schemas.microsoft.com/office/drawing/2014/main" id="{2C3437AA-A70F-EA4C-B714-2196760C14C6}"/>
              </a:ext>
            </a:extLst>
          </p:cNvPr>
          <p:cNvSpPr txBox="1">
            <a:spLocks/>
          </p:cNvSpPr>
          <p:nvPr/>
        </p:nvSpPr>
        <p:spPr>
          <a:xfrm>
            <a:off x="7524306" y="3279160"/>
            <a:ext cx="1896134" cy="297019"/>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da-DK" sz="1200" b="1" dirty="0">
                <a:solidFill>
                  <a:schemeClr val="bg1"/>
                </a:solidFill>
              </a:rPr>
              <a:t>WHOLESALE ENERGY</a:t>
            </a:r>
          </a:p>
        </p:txBody>
      </p:sp>
      <p:sp>
        <p:nvSpPr>
          <p:cNvPr id="27" name="Tekstfelt 26">
            <a:extLst>
              <a:ext uri="{FF2B5EF4-FFF2-40B4-BE49-F238E27FC236}">
                <a16:creationId xmlns:a16="http://schemas.microsoft.com/office/drawing/2014/main" id="{A579A1B6-E68B-DC46-8F7F-1B6A6BB1420C}"/>
              </a:ext>
            </a:extLst>
          </p:cNvPr>
          <p:cNvSpPr txBox="1"/>
          <p:nvPr/>
        </p:nvSpPr>
        <p:spPr>
          <a:xfrm>
            <a:off x="8350102" y="1247553"/>
            <a:ext cx="0" cy="0"/>
          </a:xfrm>
          <a:prstGeom prst="rect">
            <a:avLst/>
          </a:prstGeom>
          <a:noFill/>
        </p:spPr>
        <p:txBody>
          <a:bodyPr wrap="none" bIns="0" rtlCol="0">
            <a:noAutofit/>
          </a:bodyPr>
          <a:lstStyle/>
          <a:p>
            <a:endParaRPr lang="da-DK" sz="1400" dirty="0" err="1">
              <a:latin typeface="Avenir Light"/>
              <a:cs typeface="Avenir Light"/>
            </a:endParaRPr>
          </a:p>
        </p:txBody>
      </p:sp>
      <p:sp>
        <p:nvSpPr>
          <p:cNvPr id="35" name="Text Placeholder 7">
            <a:extLst>
              <a:ext uri="{FF2B5EF4-FFF2-40B4-BE49-F238E27FC236}">
                <a16:creationId xmlns:a16="http://schemas.microsoft.com/office/drawing/2014/main" id="{DB01D237-9B91-A141-B841-5BB59B781B3B}"/>
              </a:ext>
            </a:extLst>
          </p:cNvPr>
          <p:cNvSpPr txBox="1">
            <a:spLocks/>
          </p:cNvSpPr>
          <p:nvPr/>
        </p:nvSpPr>
        <p:spPr>
          <a:xfrm>
            <a:off x="702214" y="1635844"/>
            <a:ext cx="8212294" cy="1078192"/>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endParaRPr lang="da-DK" sz="2000" dirty="0"/>
          </a:p>
          <a:p>
            <a:pPr>
              <a:lnSpc>
                <a:spcPct val="110000"/>
              </a:lnSpc>
              <a:buFontTx/>
              <a:buChar char="-"/>
            </a:pPr>
            <a:endParaRPr lang="da-DK" sz="2000" dirty="0"/>
          </a:p>
        </p:txBody>
      </p:sp>
      <p:sp>
        <p:nvSpPr>
          <p:cNvPr id="30" name="Text Placeholder 7">
            <a:extLst>
              <a:ext uri="{FF2B5EF4-FFF2-40B4-BE49-F238E27FC236}">
                <a16:creationId xmlns:a16="http://schemas.microsoft.com/office/drawing/2014/main" id="{AB523923-CBA7-4201-9BA7-97B8D79800D8}"/>
              </a:ext>
            </a:extLst>
          </p:cNvPr>
          <p:cNvSpPr txBox="1">
            <a:spLocks/>
          </p:cNvSpPr>
          <p:nvPr/>
        </p:nvSpPr>
        <p:spPr>
          <a:xfrm>
            <a:off x="549938" y="1608575"/>
            <a:ext cx="2466531" cy="1820425"/>
          </a:xfrm>
          <a:prstGeom prst="rect">
            <a:avLst/>
          </a:prstGeom>
        </p:spPr>
        <p:txBody>
          <a:bodyPr vert="horz" lIns="0" tIns="45720" rIns="91440" bIns="0" rtlCol="0">
            <a:noAutofit/>
          </a:bodyPr>
          <a:lstStyle>
            <a:lvl1pPr marL="239994" indent="-239994" algn="l" defTabSz="609585" rtl="0" eaLnBrk="1" latinLnBrk="0" hangingPunct="1">
              <a:spcBef>
                <a:spcPts val="0"/>
              </a:spcBef>
              <a:spcAft>
                <a:spcPts val="800"/>
              </a:spcAft>
              <a:buSzPct val="130000"/>
              <a:buFont typeface="Arial"/>
              <a:buChar char="•"/>
              <a:defRPr sz="2133" kern="1200">
                <a:solidFill>
                  <a:schemeClr val="tx1"/>
                </a:solidFill>
                <a:latin typeface="Avenir Light"/>
                <a:ea typeface="+mn-ea"/>
                <a:cs typeface="Avenir Light"/>
              </a:defRPr>
            </a:lvl1pPr>
            <a:lvl2pPr marL="958827" marR="0" indent="-349242" algn="l" defTabSz="609585" rtl="0" eaLnBrk="1" fontAlgn="auto" latinLnBrk="0" hangingPunct="1">
              <a:lnSpc>
                <a:spcPct val="100000"/>
              </a:lnSpc>
              <a:spcBef>
                <a:spcPts val="0"/>
              </a:spcBef>
              <a:spcAft>
                <a:spcPts val="800"/>
              </a:spcAft>
              <a:buClrTx/>
              <a:buSzTx/>
              <a:buFont typeface="Lucida Grande"/>
              <a:buChar char="-"/>
              <a:tabLst>
                <a:tab pos="1073124" algn="l"/>
              </a:tabLst>
              <a:defRPr sz="2133" kern="1200">
                <a:solidFill>
                  <a:schemeClr val="tx1"/>
                </a:solidFill>
                <a:latin typeface="Avenir Light"/>
                <a:ea typeface="+mn-ea"/>
                <a:cs typeface="Avenir Light"/>
              </a:defRPr>
            </a:lvl2pPr>
            <a:lvl3pPr marL="1676358" indent="-457189" algn="l" defTabSz="609585" rtl="0" eaLnBrk="1" latinLnBrk="0" hangingPunct="1">
              <a:spcBef>
                <a:spcPct val="20000"/>
              </a:spcBef>
              <a:buFont typeface="Arial"/>
              <a:buChar char="•"/>
              <a:defRPr sz="3200" kern="1200">
                <a:solidFill>
                  <a:schemeClr val="tx1"/>
                </a:solidFill>
                <a:latin typeface="Avenir Light"/>
                <a:ea typeface="+mn-ea"/>
                <a:cs typeface="Avenir Light"/>
              </a:defRPr>
            </a:lvl3pPr>
            <a:lvl4pPr marL="2285943"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4pPr>
            <a:lvl5pPr marL="2895528" indent="-457189" algn="l" defTabSz="609585" rtl="0" eaLnBrk="1" latinLnBrk="0" hangingPunct="1">
              <a:spcBef>
                <a:spcPct val="20000"/>
              </a:spcBef>
              <a:buFont typeface="Arial"/>
              <a:buChar char="•"/>
              <a:defRPr sz="2667" kern="1200">
                <a:solidFill>
                  <a:schemeClr val="tx1"/>
                </a:solidFill>
                <a:latin typeface="Avenir Light"/>
                <a:ea typeface="+mn-ea"/>
                <a:cs typeface="Avenir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nSpc>
                <a:spcPct val="110000"/>
              </a:lnSpc>
              <a:buNone/>
            </a:pPr>
            <a:r>
              <a:rPr lang="en-US" sz="2000" b="1" dirty="0">
                <a:latin typeface="Calibri" panose="020F0502020204030204" pitchFamily="34" charset="0"/>
                <a:cs typeface="Calibri" panose="020F0502020204030204" pitchFamily="34" charset="0"/>
              </a:rPr>
              <a:t>New term!</a:t>
            </a:r>
          </a:p>
          <a:p>
            <a:pPr>
              <a:lnSpc>
                <a:spcPct val="110000"/>
              </a:lnSpc>
            </a:pPr>
            <a:r>
              <a:rPr lang="en-US" sz="2000" b="1" dirty="0">
                <a:latin typeface="Calibri" panose="020F0502020204030204" pitchFamily="34" charset="0"/>
                <a:cs typeface="Calibri" panose="020F0502020204030204" pitchFamily="34" charset="0"/>
              </a:rPr>
              <a:t>Up-regulation</a:t>
            </a:r>
          </a:p>
          <a:p>
            <a:pPr>
              <a:lnSpc>
                <a:spcPct val="110000"/>
              </a:lnSpc>
            </a:pPr>
            <a:r>
              <a:rPr lang="en-US" sz="2000" b="1" dirty="0">
                <a:latin typeface="Calibri" panose="020F0502020204030204" pitchFamily="34" charset="0"/>
                <a:cs typeface="Calibri" panose="020F0502020204030204" pitchFamily="34" charset="0"/>
              </a:rPr>
              <a:t>Down-regulation</a:t>
            </a:r>
          </a:p>
          <a:p>
            <a:pPr marL="0" indent="0">
              <a:lnSpc>
                <a:spcPct val="110000"/>
              </a:lnSpc>
              <a:buNone/>
            </a:pPr>
            <a:endParaRPr lang="en-US" sz="2000" b="1" dirty="0">
              <a:latin typeface="Calibri" panose="020F0502020204030204" pitchFamily="34" charset="0"/>
              <a:cs typeface="Calibri" panose="020F0502020204030204" pitchFamily="34" charset="0"/>
            </a:endParaRPr>
          </a:p>
          <a:p>
            <a:pPr>
              <a:lnSpc>
                <a:spcPct val="110000"/>
              </a:lnSpc>
              <a:buFontTx/>
              <a:buChar char="-"/>
            </a:pPr>
            <a:endParaRPr lang="da-DK" sz="2000" dirty="0"/>
          </a:p>
        </p:txBody>
      </p:sp>
      <p:sp>
        <p:nvSpPr>
          <p:cNvPr id="5" name="Oval 4">
            <a:extLst>
              <a:ext uri="{FF2B5EF4-FFF2-40B4-BE49-F238E27FC236}">
                <a16:creationId xmlns:a16="http://schemas.microsoft.com/office/drawing/2014/main" id="{DBF6ADE1-6CA9-4FD8-AECC-6DE2D4893A02}"/>
              </a:ext>
            </a:extLst>
          </p:cNvPr>
          <p:cNvSpPr/>
          <p:nvPr/>
        </p:nvSpPr>
        <p:spPr>
          <a:xfrm>
            <a:off x="5588000" y="4273463"/>
            <a:ext cx="1225549" cy="1074255"/>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err="1">
              <a:solidFill>
                <a:schemeClr val="bg1"/>
              </a:solidFill>
              <a:latin typeface="Avenir Light"/>
              <a:cs typeface="Avenir Light"/>
            </a:endParaRPr>
          </a:p>
        </p:txBody>
      </p:sp>
      <p:grpSp>
        <p:nvGrpSpPr>
          <p:cNvPr id="7" name="Group 6">
            <a:extLst>
              <a:ext uri="{FF2B5EF4-FFF2-40B4-BE49-F238E27FC236}">
                <a16:creationId xmlns:a16="http://schemas.microsoft.com/office/drawing/2014/main" id="{AE0DCE84-FF7D-46D5-8C04-CF0EB6BD32D8}"/>
              </a:ext>
            </a:extLst>
          </p:cNvPr>
          <p:cNvGrpSpPr/>
          <p:nvPr/>
        </p:nvGrpSpPr>
        <p:grpSpPr>
          <a:xfrm>
            <a:off x="6387118" y="961938"/>
            <a:ext cx="5773827" cy="2705640"/>
            <a:chOff x="6250220" y="914786"/>
            <a:chExt cx="5169098" cy="2422258"/>
          </a:xfrm>
        </p:grpSpPr>
        <p:pic>
          <p:nvPicPr>
            <p:cNvPr id="4" name="Picture 3">
              <a:extLst>
                <a:ext uri="{FF2B5EF4-FFF2-40B4-BE49-F238E27FC236}">
                  <a16:creationId xmlns:a16="http://schemas.microsoft.com/office/drawing/2014/main" id="{9AC4CF3C-35C4-4E89-A7C7-75A3782A99C5}"/>
                </a:ext>
              </a:extLst>
            </p:cNvPr>
            <p:cNvPicPr>
              <a:picLocks noChangeAspect="1"/>
            </p:cNvPicPr>
            <p:nvPr/>
          </p:nvPicPr>
          <p:blipFill>
            <a:blip r:embed="rId4"/>
            <a:stretch>
              <a:fillRect/>
            </a:stretch>
          </p:blipFill>
          <p:spPr>
            <a:xfrm>
              <a:off x="6250220" y="1088094"/>
              <a:ext cx="5169098" cy="2248950"/>
            </a:xfrm>
            <a:prstGeom prst="rect">
              <a:avLst/>
            </a:prstGeom>
          </p:spPr>
        </p:pic>
        <p:sp>
          <p:nvSpPr>
            <p:cNvPr id="6" name="Rectangle 5">
              <a:extLst>
                <a:ext uri="{FF2B5EF4-FFF2-40B4-BE49-F238E27FC236}">
                  <a16:creationId xmlns:a16="http://schemas.microsoft.com/office/drawing/2014/main" id="{FB16B473-6488-4E0D-A6C5-98F821EE5DA5}"/>
                </a:ext>
              </a:extLst>
            </p:cNvPr>
            <p:cNvSpPr/>
            <p:nvPr/>
          </p:nvSpPr>
          <p:spPr>
            <a:xfrm>
              <a:off x="8863587" y="914786"/>
              <a:ext cx="2389767" cy="79036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err="1">
                <a:solidFill>
                  <a:schemeClr val="bg1"/>
                </a:solidFill>
                <a:latin typeface="Avenir Light"/>
                <a:cs typeface="Avenir Light"/>
              </a:endParaRPr>
            </a:p>
          </p:txBody>
        </p:sp>
      </p:grpSp>
      <p:sp>
        <p:nvSpPr>
          <p:cNvPr id="10" name="Titel 1">
            <a:extLst>
              <a:ext uri="{FF2B5EF4-FFF2-40B4-BE49-F238E27FC236}">
                <a16:creationId xmlns:a16="http://schemas.microsoft.com/office/drawing/2014/main" id="{7302868B-224F-ABE7-6FF2-DA29B03143DF}"/>
              </a:ext>
            </a:extLst>
          </p:cNvPr>
          <p:cNvSpPr txBox="1">
            <a:spLocks/>
          </p:cNvSpPr>
          <p:nvPr/>
        </p:nvSpPr>
        <p:spPr>
          <a:xfrm>
            <a:off x="0" y="388938"/>
            <a:ext cx="12192000" cy="4794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t>Balancing</a:t>
            </a:r>
            <a:r>
              <a:rPr kumimoji="0" lang="da-DK" b="1" i="0" u="none" strike="noStrike" kern="1200" cap="none" spc="0" normalizeH="0" noProof="0" dirty="0">
                <a:ln>
                  <a:noFill/>
                </a:ln>
                <a:solidFill>
                  <a:srgbClr val="0D3DFB"/>
                </a:solidFill>
                <a:effectLst/>
                <a:uLnTx/>
                <a:uFillTx/>
                <a:latin typeface="Calibri Light" panose="020F0302020204030204"/>
                <a:ea typeface="+mj-ea"/>
                <a:cs typeface="+mj-cs"/>
              </a:rPr>
              <a:t> Market</a:t>
            </a:r>
            <a:endPar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3407051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abel 25">
            <a:extLst>
              <a:ext uri="{FF2B5EF4-FFF2-40B4-BE49-F238E27FC236}">
                <a16:creationId xmlns:a16="http://schemas.microsoft.com/office/drawing/2014/main" id="{25D70056-B168-0311-990E-FE17B2D9F3B2}"/>
              </a:ext>
            </a:extLst>
          </p:cNvPr>
          <p:cNvGraphicFramePr>
            <a:graphicFrameLocks noGrp="1"/>
          </p:cNvGraphicFramePr>
          <p:nvPr/>
        </p:nvGraphicFramePr>
        <p:xfrm>
          <a:off x="2980190" y="0"/>
          <a:ext cx="7431397" cy="6998672"/>
        </p:xfrm>
        <a:graphic>
          <a:graphicData uri="http://schemas.openxmlformats.org/drawingml/2006/table">
            <a:tbl>
              <a:tblPr firstRow="1" bandRow="1">
                <a:tableStyleId>{0505E3EF-67EA-436B-97B2-0124C06EBD24}</a:tableStyleId>
              </a:tblPr>
              <a:tblGrid>
                <a:gridCol w="1986499">
                  <a:extLst>
                    <a:ext uri="{9D8B030D-6E8A-4147-A177-3AD203B41FA5}">
                      <a16:colId xmlns:a16="http://schemas.microsoft.com/office/drawing/2014/main" val="3092061039"/>
                    </a:ext>
                  </a:extLst>
                </a:gridCol>
                <a:gridCol w="1672236">
                  <a:extLst>
                    <a:ext uri="{9D8B030D-6E8A-4147-A177-3AD203B41FA5}">
                      <a16:colId xmlns:a16="http://schemas.microsoft.com/office/drawing/2014/main" val="1339294017"/>
                    </a:ext>
                  </a:extLst>
                </a:gridCol>
                <a:gridCol w="1835142">
                  <a:extLst>
                    <a:ext uri="{9D8B030D-6E8A-4147-A177-3AD203B41FA5}">
                      <a16:colId xmlns:a16="http://schemas.microsoft.com/office/drawing/2014/main" val="3144907557"/>
                    </a:ext>
                  </a:extLst>
                </a:gridCol>
                <a:gridCol w="1937520">
                  <a:extLst>
                    <a:ext uri="{9D8B030D-6E8A-4147-A177-3AD203B41FA5}">
                      <a16:colId xmlns:a16="http://schemas.microsoft.com/office/drawing/2014/main" val="280792089"/>
                    </a:ext>
                  </a:extLst>
                </a:gridCol>
              </a:tblGrid>
              <a:tr h="1226278">
                <a:tc>
                  <a:txBody>
                    <a:bodyPr/>
                    <a:lstStyle/>
                    <a:p>
                      <a:pPr algn="ctr"/>
                      <a:r>
                        <a:rPr lang="en-GB" sz="2400" dirty="0">
                          <a:ln>
                            <a:noFill/>
                          </a:ln>
                          <a:solidFill>
                            <a:schemeClr val="accent1">
                              <a:lumMod val="75000"/>
                            </a:schemeClr>
                          </a:solidFill>
                          <a:latin typeface="Arial Nova Cond Light" panose="020B0306020202020204" pitchFamily="34" charset="0"/>
                        </a:rPr>
                        <a:t>Response time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400" dirty="0">
                          <a:ln>
                            <a:noFill/>
                          </a:ln>
                          <a:solidFill>
                            <a:schemeClr val="accent1">
                              <a:lumMod val="75000"/>
                            </a:schemeClr>
                          </a:solidFill>
                          <a:latin typeface="Arial Nova Cond Light" panose="020B0306020202020204" pitchFamily="34" charset="0"/>
                        </a:rPr>
                        <a:t>Duration</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400" dirty="0">
                          <a:ln>
                            <a:noFill/>
                          </a:ln>
                          <a:solidFill>
                            <a:schemeClr val="accent1">
                              <a:lumMod val="75000"/>
                            </a:schemeClr>
                          </a:solidFill>
                          <a:latin typeface="Arial Nova Cond Light" panose="020B0306020202020204" pitchFamily="34" charset="0"/>
                        </a:rPr>
                        <a:t>Minimum bid</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400" dirty="0">
                          <a:ln>
                            <a:noFill/>
                          </a:ln>
                          <a:solidFill>
                            <a:schemeClr val="accent1">
                              <a:lumMod val="75000"/>
                            </a:schemeClr>
                          </a:solidFill>
                          <a:latin typeface="Arial Nova Cond Light" panose="020B0306020202020204" pitchFamily="34" charset="0"/>
                        </a:rPr>
                        <a:t>Direction</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042751"/>
                  </a:ext>
                </a:extLst>
              </a:tr>
              <a:tr h="1084473">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0,7 - 1,3 sec</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10 sec</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0,3 MW</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Up</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7763960"/>
                  </a:ext>
                </a:extLst>
              </a:tr>
              <a:tr h="1226008">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50% in 5 sec</a:t>
                      </a:r>
                    </a:p>
                    <a:p>
                      <a:pPr algn="ctr"/>
                      <a:r>
                        <a:rPr lang="en-GB" sz="2400" dirty="0">
                          <a:ln>
                            <a:noFill/>
                          </a:ln>
                          <a:solidFill>
                            <a:schemeClr val="accent1">
                              <a:lumMod val="75000"/>
                            </a:schemeClr>
                          </a:solidFill>
                          <a:latin typeface="Arial Nova Cond Light" panose="020B0306020202020204" pitchFamily="34" charset="0"/>
                        </a:rPr>
                        <a:t>100% in 30 sec</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15 min.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0,3 MW</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Asymmetric</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9899684"/>
                  </a:ext>
                </a:extLst>
              </a:tr>
              <a:tr h="1084473">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150 sec</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60 min.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0,3 MW</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Symmetric</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482998"/>
                  </a:ext>
                </a:extLst>
              </a:tr>
              <a:tr h="1084473">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lang="en-GB" sz="2400" dirty="0">
                        <a:ln>
                          <a:noFill/>
                        </a:ln>
                        <a:solidFill>
                          <a:schemeClr val="accent1">
                            <a:lumMod val="75000"/>
                          </a:schemeClr>
                        </a:solidFill>
                        <a:latin typeface="Arial Nova Cond Light" panose="020B0306020202020204" pitchFamily="34" charset="0"/>
                      </a:endParaRPr>
                    </a:p>
                    <a:p>
                      <a:pPr marL="0" marR="0" lvl="0" indent="0" algn="ctr" defTabSz="609585" rtl="0" eaLnBrk="1" fontAlgn="auto" latinLnBrk="0" hangingPunct="1">
                        <a:lnSpc>
                          <a:spcPct val="100000"/>
                        </a:lnSpc>
                        <a:spcBef>
                          <a:spcPts val="0"/>
                        </a:spcBef>
                        <a:spcAft>
                          <a:spcPts val="0"/>
                        </a:spcAft>
                        <a:buClrTx/>
                        <a:buSzTx/>
                        <a:buFontTx/>
                        <a:buNone/>
                        <a:tabLst/>
                        <a:defRPr/>
                      </a:pPr>
                      <a:r>
                        <a:rPr lang="en-GB" sz="2400" dirty="0">
                          <a:ln>
                            <a:noFill/>
                          </a:ln>
                          <a:solidFill>
                            <a:schemeClr val="accent1">
                              <a:lumMod val="75000"/>
                            </a:schemeClr>
                          </a:solidFill>
                          <a:latin typeface="Arial Nova Cond Light" panose="020B0306020202020204" pitchFamily="34" charset="0"/>
                        </a:rPr>
                        <a:t>5 min</a:t>
                      </a:r>
                    </a:p>
                    <a:p>
                      <a:pPr algn="ctr"/>
                      <a:endParaRPr lang="en-GB" sz="2400" dirty="0">
                        <a:ln>
                          <a:noFill/>
                        </a:ln>
                        <a:solidFill>
                          <a:schemeClr val="accent1">
                            <a:lumMod val="75000"/>
                          </a:schemeClr>
                        </a:solidFill>
                        <a:latin typeface="Arial Nova Cond Light" panose="020B0306020202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60 min.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lang="en-GB" sz="2400" dirty="0">
                        <a:ln>
                          <a:noFill/>
                        </a:ln>
                        <a:solidFill>
                          <a:schemeClr val="accent1">
                            <a:lumMod val="75000"/>
                          </a:schemeClr>
                        </a:solidFill>
                        <a:latin typeface="Arial Nova Cond Light" panose="020B0306020202020204" pitchFamily="34" charset="0"/>
                      </a:endParaRPr>
                    </a:p>
                    <a:p>
                      <a:pPr marL="0" marR="0" lvl="0" indent="0" algn="ctr" defTabSz="609585" rtl="0" eaLnBrk="1" fontAlgn="auto" latinLnBrk="0" hangingPunct="1">
                        <a:lnSpc>
                          <a:spcPct val="100000"/>
                        </a:lnSpc>
                        <a:spcBef>
                          <a:spcPts val="0"/>
                        </a:spcBef>
                        <a:spcAft>
                          <a:spcPts val="0"/>
                        </a:spcAft>
                        <a:buClrTx/>
                        <a:buSzTx/>
                        <a:buFontTx/>
                        <a:buNone/>
                        <a:tabLst/>
                        <a:defRPr/>
                      </a:pPr>
                      <a:r>
                        <a:rPr lang="en-GB" sz="2400" dirty="0">
                          <a:ln>
                            <a:noFill/>
                          </a:ln>
                          <a:solidFill>
                            <a:schemeClr val="accent1">
                              <a:lumMod val="75000"/>
                            </a:schemeClr>
                          </a:solidFill>
                          <a:latin typeface="Arial Nova Cond Light" panose="020B0306020202020204" pitchFamily="34" charset="0"/>
                        </a:rPr>
                        <a:t>1 MW</a:t>
                      </a:r>
                    </a:p>
                    <a:p>
                      <a:pPr algn="ctr"/>
                      <a:endParaRPr lang="en-GB" sz="2400" dirty="0">
                        <a:ln>
                          <a:noFill/>
                        </a:ln>
                        <a:solidFill>
                          <a:schemeClr val="accent1">
                            <a:lumMod val="75000"/>
                          </a:schemeClr>
                        </a:solidFill>
                        <a:latin typeface="Arial Nova Cond Light" panose="020B0306020202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Asymmetric</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134397"/>
                  </a:ext>
                </a:extLst>
              </a:tr>
              <a:tr h="896176">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12 min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60 min. </a:t>
                      </a:r>
                    </a:p>
                    <a:p>
                      <a:pPr algn="ctr"/>
                      <a:endParaRPr lang="en-GB" sz="2400" dirty="0">
                        <a:ln>
                          <a:noFill/>
                        </a:ln>
                        <a:solidFill>
                          <a:schemeClr val="accent1">
                            <a:lumMod val="75000"/>
                          </a:schemeClr>
                        </a:solidFill>
                        <a:latin typeface="Arial Nova Cond Light" panose="020B0306020202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5 MW</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2400" dirty="0">
                        <a:ln>
                          <a:noFill/>
                        </a:ln>
                        <a:solidFill>
                          <a:schemeClr val="accent1">
                            <a:lumMod val="75000"/>
                          </a:schemeClr>
                        </a:solidFill>
                        <a:latin typeface="Arial Nova Cond Light" panose="020B0306020202020204" pitchFamily="34" charset="0"/>
                      </a:endParaRPr>
                    </a:p>
                    <a:p>
                      <a:pPr algn="ctr"/>
                      <a:r>
                        <a:rPr lang="en-GB" sz="2400" dirty="0">
                          <a:ln>
                            <a:noFill/>
                          </a:ln>
                          <a:solidFill>
                            <a:schemeClr val="accent1">
                              <a:lumMod val="75000"/>
                            </a:schemeClr>
                          </a:solidFill>
                          <a:latin typeface="Arial Nova Cond Light" panose="020B0306020202020204" pitchFamily="34" charset="0"/>
                        </a:rPr>
                        <a:t>Asymmetric</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5613374"/>
                  </a:ext>
                </a:extLst>
              </a:tr>
            </a:tbl>
          </a:graphicData>
        </a:graphic>
      </p:graphicFrame>
      <p:pic>
        <p:nvPicPr>
          <p:cNvPr id="28" name="Grafik 27" descr="Cabriolet kontur">
            <a:extLst>
              <a:ext uri="{FF2B5EF4-FFF2-40B4-BE49-F238E27FC236}">
                <a16:creationId xmlns:a16="http://schemas.microsoft.com/office/drawing/2014/main" id="{757BC8B3-BD18-83F2-907D-E62674E72AC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54050" y="2302910"/>
            <a:ext cx="914400" cy="914400"/>
          </a:xfrm>
          <a:prstGeom prst="rect">
            <a:avLst/>
          </a:prstGeom>
        </p:spPr>
      </p:pic>
      <p:pic>
        <p:nvPicPr>
          <p:cNvPr id="32" name="Grafik 31" descr="Racerbil kontur">
            <a:extLst>
              <a:ext uri="{FF2B5EF4-FFF2-40B4-BE49-F238E27FC236}">
                <a16:creationId xmlns:a16="http://schemas.microsoft.com/office/drawing/2014/main" id="{95916223-BB6C-6C97-105B-7A58898F243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83886" y="1290584"/>
            <a:ext cx="914400" cy="914400"/>
          </a:xfrm>
          <a:prstGeom prst="rect">
            <a:avLst/>
          </a:prstGeom>
        </p:spPr>
      </p:pic>
      <p:pic>
        <p:nvPicPr>
          <p:cNvPr id="34" name="Grafik 33" descr="Bil kontur">
            <a:extLst>
              <a:ext uri="{FF2B5EF4-FFF2-40B4-BE49-F238E27FC236}">
                <a16:creationId xmlns:a16="http://schemas.microsoft.com/office/drawing/2014/main" id="{0F30088E-05BC-9BF7-50CE-5E7038AE2E9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12775" y="3564043"/>
            <a:ext cx="914400" cy="914400"/>
          </a:xfrm>
          <a:prstGeom prst="rect">
            <a:avLst/>
          </a:prstGeom>
        </p:spPr>
      </p:pic>
      <p:sp>
        <p:nvSpPr>
          <p:cNvPr id="35" name="Rektangel 34">
            <a:extLst>
              <a:ext uri="{FF2B5EF4-FFF2-40B4-BE49-F238E27FC236}">
                <a16:creationId xmlns:a16="http://schemas.microsoft.com/office/drawing/2014/main" id="{2BB4706F-244F-E426-107E-845E5DD0FF2D}"/>
              </a:ext>
            </a:extLst>
          </p:cNvPr>
          <p:cNvSpPr/>
          <p:nvPr/>
        </p:nvSpPr>
        <p:spPr>
          <a:xfrm>
            <a:off x="1087646" y="1956177"/>
            <a:ext cx="1590039" cy="3985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Nova Cond Light" panose="020B0306020202020204" pitchFamily="34" charset="0"/>
                <a:ea typeface="+mn-ea"/>
                <a:cs typeface="+mn-cs"/>
              </a:rPr>
              <a:t>FFR</a:t>
            </a:r>
          </a:p>
        </p:txBody>
      </p:sp>
      <p:sp>
        <p:nvSpPr>
          <p:cNvPr id="36" name="Rektangel 35">
            <a:extLst>
              <a:ext uri="{FF2B5EF4-FFF2-40B4-BE49-F238E27FC236}">
                <a16:creationId xmlns:a16="http://schemas.microsoft.com/office/drawing/2014/main" id="{88AD89A8-02C8-6DB2-C62D-2A8C5F233A4E}"/>
              </a:ext>
            </a:extLst>
          </p:cNvPr>
          <p:cNvSpPr/>
          <p:nvPr/>
        </p:nvSpPr>
        <p:spPr>
          <a:xfrm>
            <a:off x="1057810" y="2964760"/>
            <a:ext cx="1590039" cy="5640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Nova Cond Light" panose="020B0306020202020204" pitchFamily="34" charset="0"/>
                <a:ea typeface="+mn-ea"/>
                <a:cs typeface="+mn-cs"/>
              </a:rPr>
              <a:t>FCR-D </a:t>
            </a:r>
          </a:p>
        </p:txBody>
      </p:sp>
      <p:sp>
        <p:nvSpPr>
          <p:cNvPr id="37" name="Rektangel 36">
            <a:extLst>
              <a:ext uri="{FF2B5EF4-FFF2-40B4-BE49-F238E27FC236}">
                <a16:creationId xmlns:a16="http://schemas.microsoft.com/office/drawing/2014/main" id="{119E4B44-ED7C-75AD-D406-3A369C6F5EB5}"/>
              </a:ext>
            </a:extLst>
          </p:cNvPr>
          <p:cNvSpPr/>
          <p:nvPr/>
        </p:nvSpPr>
        <p:spPr>
          <a:xfrm>
            <a:off x="1074955" y="4230660"/>
            <a:ext cx="1590039" cy="3985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Nova Cond Light" panose="020B0306020202020204" pitchFamily="34" charset="0"/>
                <a:ea typeface="+mn-ea"/>
                <a:cs typeface="+mn-cs"/>
              </a:rPr>
              <a:t>FCR-N</a:t>
            </a:r>
          </a:p>
        </p:txBody>
      </p:sp>
      <p:pic>
        <p:nvPicPr>
          <p:cNvPr id="43" name="Grafik 42" descr="Stopur 25% kontur">
            <a:extLst>
              <a:ext uri="{FF2B5EF4-FFF2-40B4-BE49-F238E27FC236}">
                <a16:creationId xmlns:a16="http://schemas.microsoft.com/office/drawing/2014/main" id="{D0B775B7-A9F3-FFC8-36EC-2862CC183A9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535940" y="309044"/>
            <a:ext cx="914400" cy="914400"/>
          </a:xfrm>
          <a:prstGeom prst="rect">
            <a:avLst/>
          </a:prstGeom>
        </p:spPr>
      </p:pic>
      <p:pic>
        <p:nvPicPr>
          <p:cNvPr id="45" name="Grafik 44" descr="Timeglas 30% kontur">
            <a:extLst>
              <a:ext uri="{FF2B5EF4-FFF2-40B4-BE49-F238E27FC236}">
                <a16:creationId xmlns:a16="http://schemas.microsoft.com/office/drawing/2014/main" id="{2A7192C6-FEE0-CEAF-D0F9-9B3B1416009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312084" y="324042"/>
            <a:ext cx="914400" cy="914400"/>
          </a:xfrm>
          <a:prstGeom prst="rect">
            <a:avLst/>
          </a:prstGeom>
        </p:spPr>
      </p:pic>
      <p:pic>
        <p:nvPicPr>
          <p:cNvPr id="47" name="Grafik 46" descr="Lyn kontur">
            <a:extLst>
              <a:ext uri="{FF2B5EF4-FFF2-40B4-BE49-F238E27FC236}">
                <a16:creationId xmlns:a16="http://schemas.microsoft.com/office/drawing/2014/main" id="{132A22BC-BE99-B7E1-4A9A-AC82E868F89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088229" y="353369"/>
            <a:ext cx="914400" cy="914400"/>
          </a:xfrm>
          <a:prstGeom prst="rect">
            <a:avLst/>
          </a:prstGeom>
        </p:spPr>
      </p:pic>
      <p:pic>
        <p:nvPicPr>
          <p:cNvPr id="14" name="Graphic 13" descr="Sort outline">
            <a:extLst>
              <a:ext uri="{FF2B5EF4-FFF2-40B4-BE49-F238E27FC236}">
                <a16:creationId xmlns:a16="http://schemas.microsoft.com/office/drawing/2014/main" id="{4C58AFE7-7DB3-41E5-B822-D7C3BBB5B96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011413" y="353369"/>
            <a:ext cx="914400" cy="914400"/>
          </a:xfrm>
          <a:prstGeom prst="rect">
            <a:avLst/>
          </a:prstGeom>
        </p:spPr>
      </p:pic>
      <p:sp>
        <p:nvSpPr>
          <p:cNvPr id="15" name="Rektangel 36">
            <a:extLst>
              <a:ext uri="{FF2B5EF4-FFF2-40B4-BE49-F238E27FC236}">
                <a16:creationId xmlns:a16="http://schemas.microsoft.com/office/drawing/2014/main" id="{F794262D-0350-4F22-9B00-D08CBF41CD8D}"/>
              </a:ext>
            </a:extLst>
          </p:cNvPr>
          <p:cNvSpPr/>
          <p:nvPr/>
        </p:nvSpPr>
        <p:spPr>
          <a:xfrm>
            <a:off x="675527" y="5364062"/>
            <a:ext cx="2304663" cy="3985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Nova Cond Light" panose="020B0306020202020204" pitchFamily="34" charset="0"/>
                <a:ea typeface="+mn-ea"/>
                <a:cs typeface="+mn-cs"/>
              </a:rPr>
              <a:t>aFRR</a:t>
            </a:r>
          </a:p>
        </p:txBody>
      </p:sp>
      <p:pic>
        <p:nvPicPr>
          <p:cNvPr id="16" name="Graphic 15" descr="Truck outline">
            <a:extLst>
              <a:ext uri="{FF2B5EF4-FFF2-40B4-BE49-F238E27FC236}">
                <a16:creationId xmlns:a16="http://schemas.microsoft.com/office/drawing/2014/main" id="{9D503CBA-243E-4980-9B10-5DF71EBBA19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395629" y="4636092"/>
            <a:ext cx="914400" cy="914400"/>
          </a:xfrm>
          <a:prstGeom prst="rect">
            <a:avLst/>
          </a:prstGeom>
        </p:spPr>
      </p:pic>
      <p:pic>
        <p:nvPicPr>
          <p:cNvPr id="3" name="Graphic 2" descr="Tractor outline">
            <a:extLst>
              <a:ext uri="{FF2B5EF4-FFF2-40B4-BE49-F238E27FC236}">
                <a16:creationId xmlns:a16="http://schemas.microsoft.com/office/drawing/2014/main" id="{F9BBE65D-ECF2-C39D-410C-507F11474C0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6606" y="5769494"/>
            <a:ext cx="914400" cy="914400"/>
          </a:xfrm>
          <a:prstGeom prst="rect">
            <a:avLst/>
          </a:prstGeom>
        </p:spPr>
      </p:pic>
      <p:sp>
        <p:nvSpPr>
          <p:cNvPr id="4" name="Rektangel 36">
            <a:extLst>
              <a:ext uri="{FF2B5EF4-FFF2-40B4-BE49-F238E27FC236}">
                <a16:creationId xmlns:a16="http://schemas.microsoft.com/office/drawing/2014/main" id="{E89CB64E-A9E1-8B0D-BA9B-01C938295906}"/>
              </a:ext>
            </a:extLst>
          </p:cNvPr>
          <p:cNvSpPr/>
          <p:nvPr/>
        </p:nvSpPr>
        <p:spPr>
          <a:xfrm>
            <a:off x="675527" y="6452409"/>
            <a:ext cx="2304663" cy="3985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Nova Cond Light" panose="020B0306020202020204" pitchFamily="34" charset="0"/>
                <a:ea typeface="+mn-ea"/>
                <a:cs typeface="+mn-cs"/>
              </a:rPr>
              <a:t>mFRR</a:t>
            </a:r>
          </a:p>
        </p:txBody>
      </p:sp>
      <p:sp>
        <p:nvSpPr>
          <p:cNvPr id="2" name="Rectangle: Rounded Corners 1">
            <a:extLst>
              <a:ext uri="{FF2B5EF4-FFF2-40B4-BE49-F238E27FC236}">
                <a16:creationId xmlns:a16="http://schemas.microsoft.com/office/drawing/2014/main" id="{55A3C0A1-ED3D-BB5F-C352-44056986B1A3}"/>
              </a:ext>
            </a:extLst>
          </p:cNvPr>
          <p:cNvSpPr/>
          <p:nvPr/>
        </p:nvSpPr>
        <p:spPr>
          <a:xfrm>
            <a:off x="1290415" y="145279"/>
            <a:ext cx="1590039" cy="1093163"/>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400" dirty="0">
                <a:solidFill>
                  <a:schemeClr val="bg1"/>
                </a:solidFill>
                <a:latin typeface="Avenir Light"/>
                <a:cs typeface="Avenir Light"/>
              </a:rPr>
              <a:t>Reserves in DK2, FI, NO and SE</a:t>
            </a:r>
          </a:p>
        </p:txBody>
      </p:sp>
    </p:spTree>
    <p:extLst>
      <p:ext uri="{BB962C8B-B14F-4D97-AF65-F5344CB8AC3E}">
        <p14:creationId xmlns:p14="http://schemas.microsoft.com/office/powerpoint/2010/main" val="3139243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AB369F-B18B-3946-2E11-A5267E571BC8}"/>
              </a:ext>
            </a:extLst>
          </p:cNvPr>
          <p:cNvSpPr>
            <a:spLocks noGrp="1"/>
          </p:cNvSpPr>
          <p:nvPr>
            <p:ph type="body" sz="half" idx="2"/>
          </p:nvPr>
        </p:nvSpPr>
        <p:spPr/>
        <p:txBody>
          <a:bodyPr/>
          <a:lstStyle/>
          <a:p>
            <a:r>
              <a:rPr lang="da-DK" sz="2000" dirty="0"/>
              <a:t>New Model:</a:t>
            </a:r>
            <a:r>
              <a:rPr lang="da-DK" dirty="0"/>
              <a:t>	</a:t>
            </a:r>
          </a:p>
          <a:p>
            <a:endParaRPr lang="da-DK" dirty="0"/>
          </a:p>
          <a:p>
            <a:endParaRPr lang="da-DK" dirty="0"/>
          </a:p>
          <a:p>
            <a:endParaRPr lang="da-DK" dirty="0"/>
          </a:p>
          <a:p>
            <a:r>
              <a:rPr lang="da-DK" sz="2000" dirty="0"/>
              <a:t>Old model:</a:t>
            </a:r>
          </a:p>
          <a:p>
            <a:r>
              <a:rPr lang="da-DK" sz="2000" dirty="0">
                <a:latin typeface="+mn-lt"/>
              </a:rPr>
              <a:t>Regulation = mFRR</a:t>
            </a:r>
          </a:p>
          <a:p>
            <a:endParaRPr lang="da-DK" dirty="0"/>
          </a:p>
          <a:p>
            <a:endParaRPr lang="da-DK" dirty="0"/>
          </a:p>
        </p:txBody>
      </p:sp>
      <p:sp>
        <p:nvSpPr>
          <p:cNvPr id="4" name="Titel 1">
            <a:extLst>
              <a:ext uri="{FF2B5EF4-FFF2-40B4-BE49-F238E27FC236}">
                <a16:creationId xmlns:a16="http://schemas.microsoft.com/office/drawing/2014/main" id="{59A2734F-0F48-2D36-49F0-7FC1AD87500F}"/>
              </a:ext>
            </a:extLst>
          </p:cNvPr>
          <p:cNvSpPr txBox="1">
            <a:spLocks/>
          </p:cNvSpPr>
          <p:nvPr/>
        </p:nvSpPr>
        <p:spPr>
          <a:xfrm>
            <a:off x="0" y="388938"/>
            <a:ext cx="12192000" cy="4794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t>Regulation Price Finland</a:t>
            </a:r>
          </a:p>
        </p:txBody>
      </p:sp>
      <p:graphicFrame>
        <p:nvGraphicFramePr>
          <p:cNvPr id="5" name="Table 4">
            <a:extLst>
              <a:ext uri="{FF2B5EF4-FFF2-40B4-BE49-F238E27FC236}">
                <a16:creationId xmlns:a16="http://schemas.microsoft.com/office/drawing/2014/main" id="{08F2B80A-C750-D9BE-A87E-D4423794C5C6}"/>
              </a:ext>
            </a:extLst>
          </p:cNvPr>
          <p:cNvGraphicFramePr>
            <a:graphicFrameLocks noGrp="1"/>
          </p:cNvGraphicFramePr>
          <p:nvPr>
            <p:extLst>
              <p:ext uri="{D42A27DB-BD31-4B8C-83A1-F6EECF244321}">
                <p14:modId xmlns:p14="http://schemas.microsoft.com/office/powerpoint/2010/main" val="2939204367"/>
              </p:ext>
            </p:extLst>
          </p:nvPr>
        </p:nvGraphicFramePr>
        <p:xfrm>
          <a:off x="662382" y="2588560"/>
          <a:ext cx="6219264" cy="840440"/>
        </p:xfrm>
        <a:graphic>
          <a:graphicData uri="http://schemas.openxmlformats.org/drawingml/2006/table">
            <a:tbl>
              <a:tblPr>
                <a:tableStyleId>{5C22544A-7EE6-4342-B048-85BDC9FD1C3A}</a:tableStyleId>
              </a:tblPr>
              <a:tblGrid>
                <a:gridCol w="3109632">
                  <a:extLst>
                    <a:ext uri="{9D8B030D-6E8A-4147-A177-3AD203B41FA5}">
                      <a16:colId xmlns:a16="http://schemas.microsoft.com/office/drawing/2014/main" val="2367398451"/>
                    </a:ext>
                  </a:extLst>
                </a:gridCol>
                <a:gridCol w="3109632">
                  <a:extLst>
                    <a:ext uri="{9D8B030D-6E8A-4147-A177-3AD203B41FA5}">
                      <a16:colId xmlns:a16="http://schemas.microsoft.com/office/drawing/2014/main" val="1727426374"/>
                    </a:ext>
                  </a:extLst>
                </a:gridCol>
              </a:tblGrid>
              <a:tr h="420220">
                <a:tc>
                  <a:txBody>
                    <a:bodyPr/>
                    <a:lstStyle/>
                    <a:p>
                      <a:pPr algn="l" fontAlgn="b"/>
                      <a:r>
                        <a:rPr lang="da-DK" sz="2000" u="none" strike="noStrike" dirty="0">
                          <a:effectLst/>
                        </a:rPr>
                        <a:t>Up-regulation</a:t>
                      </a:r>
                      <a:endParaRPr lang="da-DK" sz="2000" b="0" i="0" u="none" strike="noStrike" dirty="0">
                        <a:solidFill>
                          <a:srgbClr val="000000"/>
                        </a:solidFill>
                        <a:effectLst/>
                        <a:latin typeface="Aptos Narrow" panose="020B0004020202020204" pitchFamily="34" charset="0"/>
                      </a:endParaRPr>
                    </a:p>
                  </a:txBody>
                  <a:tcPr marL="21011" marR="21011" marT="21011" marB="0" anchor="b"/>
                </a:tc>
                <a:tc>
                  <a:txBody>
                    <a:bodyPr/>
                    <a:lstStyle/>
                    <a:p>
                      <a:pPr algn="l" fontAlgn="b"/>
                      <a:r>
                        <a:rPr lang="da-DK" sz="2000" u="none" strike="noStrike" dirty="0">
                          <a:effectLst/>
                        </a:rPr>
                        <a:t>Down-regulation</a:t>
                      </a:r>
                      <a:endParaRPr lang="da-DK" sz="2000" b="0" i="0" u="none" strike="noStrike" dirty="0">
                        <a:solidFill>
                          <a:srgbClr val="000000"/>
                        </a:solidFill>
                        <a:effectLst/>
                        <a:latin typeface="Aptos Narrow" panose="020B0004020202020204" pitchFamily="34" charset="0"/>
                      </a:endParaRPr>
                    </a:p>
                  </a:txBody>
                  <a:tcPr marL="21011" marR="21011" marT="21011" marB="0" anchor="b"/>
                </a:tc>
                <a:extLst>
                  <a:ext uri="{0D108BD9-81ED-4DB2-BD59-A6C34878D82A}">
                    <a16:rowId xmlns:a16="http://schemas.microsoft.com/office/drawing/2014/main" val="4238175372"/>
                  </a:ext>
                </a:extLst>
              </a:tr>
              <a:tr h="420220">
                <a:tc>
                  <a:txBody>
                    <a:bodyPr/>
                    <a:lstStyle/>
                    <a:p>
                      <a:pPr algn="l" fontAlgn="b"/>
                      <a:r>
                        <a:rPr lang="da-DK" sz="2000" u="none" strike="noStrike" dirty="0">
                          <a:effectLst/>
                        </a:rPr>
                        <a:t>Max(mFRR, AVG(aFRR))</a:t>
                      </a:r>
                      <a:endParaRPr lang="da-DK" sz="2000" b="0" i="0" u="none" strike="noStrike" dirty="0">
                        <a:solidFill>
                          <a:srgbClr val="000000"/>
                        </a:solidFill>
                        <a:effectLst/>
                        <a:latin typeface="Aptos Narrow" panose="020B0004020202020204" pitchFamily="34" charset="0"/>
                      </a:endParaRPr>
                    </a:p>
                  </a:txBody>
                  <a:tcPr marL="21011" marR="21011" marT="21011" marB="0" anchor="b"/>
                </a:tc>
                <a:tc>
                  <a:txBody>
                    <a:bodyPr/>
                    <a:lstStyle/>
                    <a:p>
                      <a:pPr algn="l" fontAlgn="b"/>
                      <a:r>
                        <a:rPr lang="da-DK" sz="2000" u="none" strike="noStrike" dirty="0">
                          <a:effectLst/>
                        </a:rPr>
                        <a:t>Min(mFRR, AVG(aFRR))</a:t>
                      </a:r>
                      <a:endParaRPr lang="da-DK" sz="2000" b="0" i="0" u="none" strike="noStrike" dirty="0">
                        <a:solidFill>
                          <a:srgbClr val="000000"/>
                        </a:solidFill>
                        <a:effectLst/>
                        <a:latin typeface="Aptos Narrow" panose="020B0004020202020204" pitchFamily="34" charset="0"/>
                      </a:endParaRPr>
                    </a:p>
                  </a:txBody>
                  <a:tcPr marL="21011" marR="21011" marT="21011" marB="0" anchor="b"/>
                </a:tc>
                <a:extLst>
                  <a:ext uri="{0D108BD9-81ED-4DB2-BD59-A6C34878D82A}">
                    <a16:rowId xmlns:a16="http://schemas.microsoft.com/office/drawing/2014/main" val="4192893351"/>
                  </a:ext>
                </a:extLst>
              </a:tr>
            </a:tbl>
          </a:graphicData>
        </a:graphic>
      </p:graphicFrame>
    </p:spTree>
    <p:extLst>
      <p:ext uri="{BB962C8B-B14F-4D97-AF65-F5344CB8AC3E}">
        <p14:creationId xmlns:p14="http://schemas.microsoft.com/office/powerpoint/2010/main" val="1122812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554F14-1C25-C109-7EC6-33BAEEF5D626}"/>
              </a:ext>
            </a:extLst>
          </p:cNvPr>
          <p:cNvPicPr>
            <a:picLocks noGrp="1" noChangeAspect="1"/>
          </p:cNvPicPr>
          <p:nvPr>
            <p:ph idx="4294967295"/>
          </p:nvPr>
        </p:nvPicPr>
        <p:blipFill>
          <a:blip r:embed="rId2"/>
          <a:stretch>
            <a:fillRect/>
          </a:stretch>
        </p:blipFill>
        <p:spPr>
          <a:xfrm>
            <a:off x="1023938" y="1711325"/>
            <a:ext cx="11168062" cy="4060825"/>
          </a:xfrm>
          <a:prstGeom prst="rect">
            <a:avLst/>
          </a:prstGeom>
        </p:spPr>
      </p:pic>
      <p:sp>
        <p:nvSpPr>
          <p:cNvPr id="6" name="Titel 1">
            <a:extLst>
              <a:ext uri="{FF2B5EF4-FFF2-40B4-BE49-F238E27FC236}">
                <a16:creationId xmlns:a16="http://schemas.microsoft.com/office/drawing/2014/main" id="{18F73733-D531-5471-DCBD-0C98F5A6B7FB}"/>
              </a:ext>
            </a:extLst>
          </p:cNvPr>
          <p:cNvSpPr txBox="1">
            <a:spLocks/>
          </p:cNvSpPr>
          <p:nvPr/>
        </p:nvSpPr>
        <p:spPr>
          <a:xfrm>
            <a:off x="0" y="388938"/>
            <a:ext cx="12192000" cy="4794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t>mFRR Bid Curve</a:t>
            </a:r>
          </a:p>
        </p:txBody>
      </p:sp>
      <p:sp>
        <p:nvSpPr>
          <p:cNvPr id="4" name="TextBox 3">
            <a:extLst>
              <a:ext uri="{FF2B5EF4-FFF2-40B4-BE49-F238E27FC236}">
                <a16:creationId xmlns:a16="http://schemas.microsoft.com/office/drawing/2014/main" id="{328C5A46-8C5A-C3F8-F6D2-B000ED375EFB}"/>
              </a:ext>
            </a:extLst>
          </p:cNvPr>
          <p:cNvSpPr txBox="1"/>
          <p:nvPr/>
        </p:nvSpPr>
        <p:spPr>
          <a:xfrm>
            <a:off x="-60982" y="6615112"/>
            <a:ext cx="1888659" cy="246221"/>
          </a:xfrm>
          <a:prstGeom prst="rect">
            <a:avLst/>
          </a:prstGeom>
          <a:noFill/>
        </p:spPr>
        <p:txBody>
          <a:bodyPr wrap="none" rtlCol="0">
            <a:spAutoFit/>
          </a:bodyPr>
          <a:lstStyle/>
          <a:p>
            <a:r>
              <a:rPr lang="da-DK" sz="1000" dirty="0"/>
              <a:t>Source: transparency.entsoe.eu</a:t>
            </a:r>
          </a:p>
        </p:txBody>
      </p:sp>
    </p:spTree>
    <p:extLst>
      <p:ext uri="{BB962C8B-B14F-4D97-AF65-F5344CB8AC3E}">
        <p14:creationId xmlns:p14="http://schemas.microsoft.com/office/powerpoint/2010/main" val="2070153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6E780-FD5A-00FC-56F1-6F752F67CFC2}"/>
            </a:ext>
          </a:extLst>
        </p:cNvPr>
        <p:cNvGrpSpPr/>
        <p:nvPr/>
      </p:nvGrpSpPr>
      <p:grpSpPr>
        <a:xfrm>
          <a:off x="0" y="0"/>
          <a:ext cx="0" cy="0"/>
          <a:chOff x="0" y="0"/>
          <a:chExt cx="0" cy="0"/>
        </a:xfrm>
      </p:grpSpPr>
      <p:sp>
        <p:nvSpPr>
          <p:cNvPr id="6" name="Titel 1">
            <a:extLst>
              <a:ext uri="{FF2B5EF4-FFF2-40B4-BE49-F238E27FC236}">
                <a16:creationId xmlns:a16="http://schemas.microsoft.com/office/drawing/2014/main" id="{3680C6AF-7C9E-0ACD-D75D-CE527B344B11}"/>
              </a:ext>
            </a:extLst>
          </p:cNvPr>
          <p:cNvSpPr txBox="1">
            <a:spLocks/>
          </p:cNvSpPr>
          <p:nvPr/>
        </p:nvSpPr>
        <p:spPr>
          <a:xfrm>
            <a:off x="0" y="388938"/>
            <a:ext cx="12192000" cy="4794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t>mFRR Bid Curve</a:t>
            </a:r>
          </a:p>
        </p:txBody>
      </p:sp>
      <p:pic>
        <p:nvPicPr>
          <p:cNvPr id="8" name="Picture 7">
            <a:extLst>
              <a:ext uri="{FF2B5EF4-FFF2-40B4-BE49-F238E27FC236}">
                <a16:creationId xmlns:a16="http://schemas.microsoft.com/office/drawing/2014/main" id="{15E23EEA-7F3A-CE43-5080-BDA6A4587A11}"/>
              </a:ext>
            </a:extLst>
          </p:cNvPr>
          <p:cNvPicPr>
            <a:picLocks noChangeAspect="1"/>
          </p:cNvPicPr>
          <p:nvPr/>
        </p:nvPicPr>
        <p:blipFill>
          <a:blip r:embed="rId2"/>
          <a:stretch>
            <a:fillRect/>
          </a:stretch>
        </p:blipFill>
        <p:spPr>
          <a:xfrm>
            <a:off x="641492" y="1426319"/>
            <a:ext cx="10925735" cy="4005361"/>
          </a:xfrm>
          <a:prstGeom prst="rect">
            <a:avLst/>
          </a:prstGeom>
        </p:spPr>
      </p:pic>
      <p:sp>
        <p:nvSpPr>
          <p:cNvPr id="4" name="TextBox 3">
            <a:extLst>
              <a:ext uri="{FF2B5EF4-FFF2-40B4-BE49-F238E27FC236}">
                <a16:creationId xmlns:a16="http://schemas.microsoft.com/office/drawing/2014/main" id="{0C43032C-A882-FDD1-C14C-967879ABDED1}"/>
              </a:ext>
            </a:extLst>
          </p:cNvPr>
          <p:cNvSpPr txBox="1"/>
          <p:nvPr/>
        </p:nvSpPr>
        <p:spPr>
          <a:xfrm>
            <a:off x="-60982" y="6615112"/>
            <a:ext cx="1888659" cy="246221"/>
          </a:xfrm>
          <a:prstGeom prst="rect">
            <a:avLst/>
          </a:prstGeom>
          <a:noFill/>
        </p:spPr>
        <p:txBody>
          <a:bodyPr wrap="none" rtlCol="0">
            <a:spAutoFit/>
          </a:bodyPr>
          <a:lstStyle/>
          <a:p>
            <a:r>
              <a:rPr lang="da-DK" sz="1000" dirty="0"/>
              <a:t>Source: transparency.entsoe.eu</a:t>
            </a:r>
          </a:p>
        </p:txBody>
      </p:sp>
    </p:spTree>
    <p:extLst>
      <p:ext uri="{BB962C8B-B14F-4D97-AF65-F5344CB8AC3E}">
        <p14:creationId xmlns:p14="http://schemas.microsoft.com/office/powerpoint/2010/main" val="3213018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FC42-235C-6668-0C74-6C37FCB7C30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1795488-1C2A-545E-9B97-9DF5E54D83B2}"/>
              </a:ext>
            </a:extLst>
          </p:cNvPr>
          <p:cNvPicPr>
            <a:picLocks noChangeAspect="1"/>
          </p:cNvPicPr>
          <p:nvPr/>
        </p:nvPicPr>
        <p:blipFill>
          <a:blip r:embed="rId2"/>
          <a:stretch>
            <a:fillRect/>
          </a:stretch>
        </p:blipFill>
        <p:spPr>
          <a:xfrm>
            <a:off x="2496271" y="1046231"/>
            <a:ext cx="7287212" cy="4765537"/>
          </a:xfrm>
          <a:prstGeom prst="rect">
            <a:avLst/>
          </a:prstGeom>
        </p:spPr>
      </p:pic>
      <p:sp>
        <p:nvSpPr>
          <p:cNvPr id="2" name="Title 1">
            <a:extLst>
              <a:ext uri="{FF2B5EF4-FFF2-40B4-BE49-F238E27FC236}">
                <a16:creationId xmlns:a16="http://schemas.microsoft.com/office/drawing/2014/main" id="{06229AC1-FDE9-B8BF-B639-AC0621F7F27A}"/>
              </a:ext>
            </a:extLst>
          </p:cNvPr>
          <p:cNvSpPr>
            <a:spLocks noGrp="1"/>
          </p:cNvSpPr>
          <p:nvPr>
            <p:ph type="title"/>
          </p:nvPr>
        </p:nvSpPr>
        <p:spPr>
          <a:xfrm>
            <a:off x="0" y="6623529"/>
            <a:ext cx="10916345" cy="1325563"/>
          </a:xfrm>
        </p:spPr>
        <p:txBody>
          <a:bodyPr>
            <a:normAutofit/>
          </a:bodyPr>
          <a:lstStyle/>
          <a:p>
            <a:r>
              <a:rPr lang="da-DK" sz="1000" b="0" dirty="0">
                <a:solidFill>
                  <a:schemeClr val="tx1"/>
                </a:solidFill>
              </a:rPr>
              <a:t>Fingrid Wind </a:t>
            </a:r>
            <a:r>
              <a:rPr lang="da-DK" sz="1000" b="0">
                <a:solidFill>
                  <a:schemeClr val="tx1"/>
                </a:solidFill>
              </a:rPr>
              <a:t>DAH forecast, FI Windproduction and market prices on </a:t>
            </a:r>
            <a:r>
              <a:rPr lang="da-DK" sz="1000" b="0" dirty="0">
                <a:solidFill>
                  <a:schemeClr val="tx1"/>
                </a:solidFill>
              </a:rPr>
              <a:t>2024-09-02. Source: fingrid.fi &amp; data.nordpoolgroup.com </a:t>
            </a:r>
          </a:p>
        </p:txBody>
      </p:sp>
      <p:sp>
        <p:nvSpPr>
          <p:cNvPr id="4" name="Titel 1">
            <a:extLst>
              <a:ext uri="{FF2B5EF4-FFF2-40B4-BE49-F238E27FC236}">
                <a16:creationId xmlns:a16="http://schemas.microsoft.com/office/drawing/2014/main" id="{2A3C791E-2C48-6C48-7C7D-24B481A0B723}"/>
              </a:ext>
            </a:extLst>
          </p:cNvPr>
          <p:cNvSpPr txBox="1">
            <a:spLocks/>
          </p:cNvSpPr>
          <p:nvPr/>
        </p:nvSpPr>
        <p:spPr>
          <a:xfrm>
            <a:off x="0" y="388938"/>
            <a:ext cx="12192000" cy="4794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t>Balance Costs</a:t>
            </a:r>
          </a:p>
        </p:txBody>
      </p:sp>
      <p:sp>
        <p:nvSpPr>
          <p:cNvPr id="15" name="TextBox 14">
            <a:extLst>
              <a:ext uri="{FF2B5EF4-FFF2-40B4-BE49-F238E27FC236}">
                <a16:creationId xmlns:a16="http://schemas.microsoft.com/office/drawing/2014/main" id="{85B33268-0552-A2EE-8DE6-11EB5D657724}"/>
              </a:ext>
            </a:extLst>
          </p:cNvPr>
          <p:cNvSpPr txBox="1"/>
          <p:nvPr/>
        </p:nvSpPr>
        <p:spPr>
          <a:xfrm>
            <a:off x="9377082" y="975970"/>
            <a:ext cx="561788" cy="45719"/>
          </a:xfrm>
          <a:prstGeom prst="rect">
            <a:avLst/>
          </a:prstGeom>
          <a:noFill/>
        </p:spPr>
        <p:txBody>
          <a:bodyPr wrap="square" bIns="0" rtlCol="0">
            <a:noAutofit/>
          </a:bodyPr>
          <a:lstStyle/>
          <a:p>
            <a:endParaRPr lang="da-DK" sz="1400" dirty="0">
              <a:latin typeface="Avenir Light"/>
              <a:cs typeface="Avenir Light"/>
            </a:endParaRPr>
          </a:p>
        </p:txBody>
      </p:sp>
      <p:sp>
        <p:nvSpPr>
          <p:cNvPr id="14" name="Rectangle 13">
            <a:extLst>
              <a:ext uri="{FF2B5EF4-FFF2-40B4-BE49-F238E27FC236}">
                <a16:creationId xmlns:a16="http://schemas.microsoft.com/office/drawing/2014/main" id="{A49BA76F-4FA8-E206-3AE0-5EBD32C65E38}"/>
              </a:ext>
            </a:extLst>
          </p:cNvPr>
          <p:cNvSpPr/>
          <p:nvPr/>
        </p:nvSpPr>
        <p:spPr>
          <a:xfrm>
            <a:off x="8859023" y="4058022"/>
            <a:ext cx="836706" cy="56178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400" dirty="0" err="1">
              <a:solidFill>
                <a:schemeClr val="bg1"/>
              </a:solidFill>
              <a:latin typeface="Avenir Light"/>
              <a:cs typeface="Avenir Light"/>
            </a:endParaRPr>
          </a:p>
        </p:txBody>
      </p:sp>
    </p:spTree>
    <p:extLst>
      <p:ext uri="{BB962C8B-B14F-4D97-AF65-F5344CB8AC3E}">
        <p14:creationId xmlns:p14="http://schemas.microsoft.com/office/powerpoint/2010/main" val="397118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grpId="0" nodeType="clickEffect">
                                  <p:stCondLst>
                                    <p:cond delay="0"/>
                                  </p:stCondLst>
                                  <p:childTnLst>
                                    <p:animEffect transition="out" filter="wipe(down)">
                                      <p:cBhvr>
                                        <p:cTn id="6" dur="180" accel="50000">
                                          <p:stCondLst>
                                            <p:cond delay="1820"/>
                                          </p:stCondLst>
                                        </p:cTn>
                                        <p:tgtEl>
                                          <p:spTgt spid="14"/>
                                        </p:tgtEl>
                                      </p:cBhvr>
                                    </p:animEffect>
                                    <p:anim calcmode="lin" valueType="num">
                                      <p:cBhvr>
                                        <p:cTn id="7" dur="1822" tmFilter="0,0; 0.14,0.31; 0.43,0.73; 0.71,0.91; 1.0,1.0">
                                          <p:stCondLst>
                                            <p:cond delay="0"/>
                                          </p:stCondLst>
                                        </p:cTn>
                                        <p:tgtEl>
                                          <p:spTgt spid="14"/>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14"/>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14"/>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14"/>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14"/>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14"/>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14"/>
                                        </p:tgtEl>
                                        <p:attrNameLst>
                                          <p:attrName>ppt_y</p:attrName>
                                        </p:attrNameLst>
                                      </p:cBhvr>
                                      <p:tavLst>
                                        <p:tav tm="0">
                                          <p:val>
                                            <p:strVal val="ppt_y"/>
                                          </p:val>
                                        </p:tav>
                                        <p:tav tm="100000">
                                          <p:val>
                                            <p:strVal val="ppt_y+ppt_h"/>
                                          </p:val>
                                        </p:tav>
                                      </p:tavLst>
                                    </p:anim>
                                    <p:animScale>
                                      <p:cBhvr>
                                        <p:cTn id="14" dur="26">
                                          <p:stCondLst>
                                            <p:cond delay="620"/>
                                          </p:stCondLst>
                                        </p:cTn>
                                        <p:tgtEl>
                                          <p:spTgt spid="14"/>
                                        </p:tgtEl>
                                      </p:cBhvr>
                                      <p:to x="100000" y="60000"/>
                                    </p:animScale>
                                    <p:animScale>
                                      <p:cBhvr>
                                        <p:cTn id="15" dur="166" decel="50000">
                                          <p:stCondLst>
                                            <p:cond delay="646"/>
                                          </p:stCondLst>
                                        </p:cTn>
                                        <p:tgtEl>
                                          <p:spTgt spid="14"/>
                                        </p:tgtEl>
                                      </p:cBhvr>
                                      <p:to x="100000" y="100000"/>
                                    </p:animScale>
                                    <p:animScale>
                                      <p:cBhvr>
                                        <p:cTn id="16" dur="26">
                                          <p:stCondLst>
                                            <p:cond delay="1312"/>
                                          </p:stCondLst>
                                        </p:cTn>
                                        <p:tgtEl>
                                          <p:spTgt spid="14"/>
                                        </p:tgtEl>
                                      </p:cBhvr>
                                      <p:to x="100000" y="80000"/>
                                    </p:animScale>
                                    <p:animScale>
                                      <p:cBhvr>
                                        <p:cTn id="17" dur="166" decel="50000">
                                          <p:stCondLst>
                                            <p:cond delay="1338"/>
                                          </p:stCondLst>
                                        </p:cTn>
                                        <p:tgtEl>
                                          <p:spTgt spid="14"/>
                                        </p:tgtEl>
                                      </p:cBhvr>
                                      <p:to x="100000" y="100000"/>
                                    </p:animScale>
                                    <p:animScale>
                                      <p:cBhvr>
                                        <p:cTn id="18" dur="26">
                                          <p:stCondLst>
                                            <p:cond delay="1642"/>
                                          </p:stCondLst>
                                        </p:cTn>
                                        <p:tgtEl>
                                          <p:spTgt spid="14"/>
                                        </p:tgtEl>
                                      </p:cBhvr>
                                      <p:to x="100000" y="90000"/>
                                    </p:animScale>
                                    <p:animScale>
                                      <p:cBhvr>
                                        <p:cTn id="19" dur="166" decel="50000">
                                          <p:stCondLst>
                                            <p:cond delay="1668"/>
                                          </p:stCondLst>
                                        </p:cTn>
                                        <p:tgtEl>
                                          <p:spTgt spid="14"/>
                                        </p:tgtEl>
                                      </p:cBhvr>
                                      <p:to x="100000" y="100000"/>
                                    </p:animScale>
                                    <p:animScale>
                                      <p:cBhvr>
                                        <p:cTn id="20" dur="26">
                                          <p:stCondLst>
                                            <p:cond delay="1808"/>
                                          </p:stCondLst>
                                        </p:cTn>
                                        <p:tgtEl>
                                          <p:spTgt spid="14"/>
                                        </p:tgtEl>
                                      </p:cBhvr>
                                      <p:to x="100000" y="95000"/>
                                    </p:animScale>
                                    <p:animScale>
                                      <p:cBhvr>
                                        <p:cTn id="21" dur="166" decel="50000">
                                          <p:stCondLst>
                                            <p:cond delay="1834"/>
                                          </p:stCondLst>
                                        </p:cTn>
                                        <p:tgtEl>
                                          <p:spTgt spid="14"/>
                                        </p:tgtEl>
                                      </p:cBhvr>
                                      <p:to x="100000" y="100000"/>
                                    </p:animScale>
                                    <p:set>
                                      <p:cBhvr>
                                        <p:cTn id="22" dur="1" fill="hold">
                                          <p:stCondLst>
                                            <p:cond delay="1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CD9C551-03D9-A3ED-7775-956007E579C3}"/>
              </a:ext>
            </a:extLst>
          </p:cNvPr>
          <p:cNvSpPr>
            <a:spLocks noGrp="1"/>
          </p:cNvSpPr>
          <p:nvPr>
            <p:ph type="title"/>
          </p:nvPr>
        </p:nvSpPr>
        <p:spPr/>
        <p:txBody>
          <a:bodyPr>
            <a:normAutofit fontScale="90000"/>
          </a:bodyPr>
          <a:lstStyle/>
          <a:p>
            <a: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t>Discussion: How would you evaluate balance costs of windpark?</a:t>
            </a:r>
            <a:b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br>
            <a:endParaRPr lang="da-DK" dirty="0"/>
          </a:p>
        </p:txBody>
      </p:sp>
      <p:sp>
        <p:nvSpPr>
          <p:cNvPr id="10" name="Text Placeholder 9">
            <a:extLst>
              <a:ext uri="{FF2B5EF4-FFF2-40B4-BE49-F238E27FC236}">
                <a16:creationId xmlns:a16="http://schemas.microsoft.com/office/drawing/2014/main" id="{F9655CC9-6EA1-6814-3378-172ACDD24D17}"/>
              </a:ext>
            </a:extLst>
          </p:cNvPr>
          <p:cNvSpPr>
            <a:spLocks noGrp="1"/>
          </p:cNvSpPr>
          <p:nvPr>
            <p:ph type="body" sz="half" idx="2"/>
          </p:nvPr>
        </p:nvSpPr>
        <p:spPr/>
        <p:txBody>
          <a:bodyPr/>
          <a:lstStyle/>
          <a:p>
            <a:pPr marL="285750" indent="-285750">
              <a:buClr>
                <a:schemeClr val="accent1">
                  <a:lumMod val="75000"/>
                </a:schemeClr>
              </a:buClr>
              <a:buFont typeface="Wingdings" panose="05000000000000000000" pitchFamily="2" charset="2"/>
              <a:buChar char="§"/>
            </a:pPr>
            <a:r>
              <a:rPr lang="da-DK" dirty="0"/>
              <a:t>What causes balancing costs?</a:t>
            </a:r>
          </a:p>
          <a:p>
            <a:pPr marL="285750" indent="-285750">
              <a:buClr>
                <a:schemeClr val="accent1">
                  <a:lumMod val="75000"/>
                </a:schemeClr>
              </a:buClr>
              <a:buFont typeface="Wingdings" panose="05000000000000000000" pitchFamily="2" charset="2"/>
              <a:buChar char="§"/>
            </a:pPr>
            <a:r>
              <a:rPr lang="da-DK" dirty="0"/>
              <a:t>Can they be reduced?</a:t>
            </a:r>
          </a:p>
          <a:p>
            <a:pPr marL="285750" indent="-285750">
              <a:buClr>
                <a:schemeClr val="accent1">
                  <a:lumMod val="75000"/>
                </a:schemeClr>
              </a:buClr>
              <a:buFont typeface="Wingdings" panose="05000000000000000000" pitchFamily="2" charset="2"/>
              <a:buChar char="§"/>
            </a:pPr>
            <a:r>
              <a:rPr lang="da-DK" dirty="0"/>
              <a:t>Will they change?</a:t>
            </a:r>
          </a:p>
        </p:txBody>
      </p:sp>
    </p:spTree>
    <p:extLst>
      <p:ext uri="{BB962C8B-B14F-4D97-AF65-F5344CB8AC3E}">
        <p14:creationId xmlns:p14="http://schemas.microsoft.com/office/powerpoint/2010/main" val="3602872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FF4C06-3F9D-7B07-32DC-269E16AB5D23}"/>
              </a:ext>
            </a:extLst>
          </p:cNvPr>
          <p:cNvSpPr>
            <a:spLocks noGrp="1"/>
          </p:cNvSpPr>
          <p:nvPr>
            <p:ph type="ctrTitle"/>
          </p:nvPr>
        </p:nvSpPr>
        <p:spPr/>
        <p:txBody>
          <a:bodyPr/>
          <a:lstStyle/>
          <a:p>
            <a:endParaRPr lang="da-DK"/>
          </a:p>
        </p:txBody>
      </p:sp>
      <p:sp>
        <p:nvSpPr>
          <p:cNvPr id="3" name="Content Placeholder 2">
            <a:extLst>
              <a:ext uri="{FF2B5EF4-FFF2-40B4-BE49-F238E27FC236}">
                <a16:creationId xmlns:a16="http://schemas.microsoft.com/office/drawing/2014/main" id="{16B5B748-FE18-751B-5E51-4FB0FD6BF6BE}"/>
              </a:ext>
            </a:extLst>
          </p:cNvPr>
          <p:cNvSpPr>
            <a:spLocks noGrp="1"/>
          </p:cNvSpPr>
          <p:nvPr>
            <p:ph sz="quarter" idx="10"/>
          </p:nvPr>
        </p:nvSpPr>
        <p:spPr/>
        <p:txBody>
          <a:bodyPr/>
          <a:lstStyle/>
          <a:p>
            <a:pPr marL="342900" indent="-342900">
              <a:buClr>
                <a:schemeClr val="accent1">
                  <a:lumMod val="60000"/>
                  <a:lumOff val="40000"/>
                </a:schemeClr>
              </a:buClr>
              <a:buFont typeface="Wingdings" panose="05000000000000000000" pitchFamily="2" charset="2"/>
              <a:buChar char="§"/>
            </a:pPr>
            <a:r>
              <a:rPr lang="da-DK" dirty="0"/>
              <a:t>Forecast errors</a:t>
            </a:r>
          </a:p>
          <a:p>
            <a:pPr marL="342900" indent="-342900">
              <a:buClr>
                <a:schemeClr val="accent1">
                  <a:lumMod val="60000"/>
                  <a:lumOff val="40000"/>
                </a:schemeClr>
              </a:buClr>
              <a:buFont typeface="Wingdings" panose="05000000000000000000" pitchFamily="2" charset="2"/>
              <a:buChar char="§"/>
            </a:pPr>
            <a:r>
              <a:rPr lang="da-DK" dirty="0"/>
              <a:t>Error correlation with system imbalance</a:t>
            </a:r>
          </a:p>
          <a:p>
            <a:pPr marL="342900" indent="-342900">
              <a:buClr>
                <a:schemeClr val="accent1">
                  <a:lumMod val="60000"/>
                  <a:lumOff val="40000"/>
                </a:schemeClr>
              </a:buClr>
              <a:buFont typeface="Wingdings" panose="05000000000000000000" pitchFamily="2" charset="2"/>
              <a:buChar char="§"/>
            </a:pPr>
            <a:r>
              <a:rPr lang="da-DK" dirty="0"/>
              <a:t>Available flex and flex activation costs</a:t>
            </a:r>
          </a:p>
          <a:p>
            <a:pPr marL="342900" indent="-342900">
              <a:buClr>
                <a:schemeClr val="accent1">
                  <a:lumMod val="60000"/>
                  <a:lumOff val="40000"/>
                </a:schemeClr>
              </a:buClr>
              <a:buFont typeface="Wingdings" panose="05000000000000000000" pitchFamily="2" charset="2"/>
              <a:buChar char="§"/>
            </a:pPr>
            <a:r>
              <a:rPr lang="da-DK" dirty="0"/>
              <a:t>Balancing regime</a:t>
            </a:r>
          </a:p>
          <a:p>
            <a:pPr marL="342900" indent="-342900">
              <a:buClr>
                <a:schemeClr val="accent1">
                  <a:lumMod val="60000"/>
                  <a:lumOff val="40000"/>
                </a:schemeClr>
              </a:buClr>
              <a:buFont typeface="Wingdings" panose="05000000000000000000" pitchFamily="2" charset="2"/>
              <a:buChar char="§"/>
            </a:pPr>
            <a:r>
              <a:rPr lang="da-DK" dirty="0"/>
              <a:t>Trading activity</a:t>
            </a:r>
          </a:p>
        </p:txBody>
      </p:sp>
      <p:sp>
        <p:nvSpPr>
          <p:cNvPr id="4" name="Titel 1">
            <a:extLst>
              <a:ext uri="{FF2B5EF4-FFF2-40B4-BE49-F238E27FC236}">
                <a16:creationId xmlns:a16="http://schemas.microsoft.com/office/drawing/2014/main" id="{69320D85-1DBF-D06E-D5B0-00B17F25A506}"/>
              </a:ext>
            </a:extLst>
          </p:cNvPr>
          <p:cNvSpPr txBox="1">
            <a:spLocks/>
          </p:cNvSpPr>
          <p:nvPr/>
        </p:nvSpPr>
        <p:spPr>
          <a:xfrm>
            <a:off x="0" y="388938"/>
            <a:ext cx="12192000" cy="4794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da-DK" b="1" i="0" u="none" strike="noStrike" kern="1200" cap="none" spc="0" normalizeH="0" baseline="0" noProof="0" dirty="0">
                <a:ln>
                  <a:noFill/>
                </a:ln>
                <a:solidFill>
                  <a:srgbClr val="0D3DFB"/>
                </a:solidFill>
                <a:effectLst/>
                <a:uLnTx/>
                <a:uFillTx/>
                <a:latin typeface="Calibri Light" panose="020F0302020204030204"/>
                <a:ea typeface="+mj-ea"/>
                <a:cs typeface="+mj-cs"/>
              </a:rPr>
              <a:t>Balance Costs</a:t>
            </a:r>
          </a:p>
        </p:txBody>
      </p:sp>
    </p:spTree>
    <p:extLst>
      <p:ext uri="{BB962C8B-B14F-4D97-AF65-F5344CB8AC3E}">
        <p14:creationId xmlns:p14="http://schemas.microsoft.com/office/powerpoint/2010/main" val="1159534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610CCD-1B33-4665-8FD5-DFB015809AB2}"/>
              </a:ext>
            </a:extLst>
          </p:cNvPr>
          <p:cNvSpPr>
            <a:spLocks noGrp="1"/>
          </p:cNvSpPr>
          <p:nvPr>
            <p:ph type="title"/>
          </p:nvPr>
        </p:nvSpPr>
        <p:spPr/>
        <p:txBody>
          <a:bodyPr/>
          <a:lstStyle/>
          <a:p>
            <a:r>
              <a:rPr lang="en-US" noProof="0" dirty="0"/>
              <a:t>General Disclaimer</a:t>
            </a:r>
          </a:p>
        </p:txBody>
      </p:sp>
      <p:sp>
        <p:nvSpPr>
          <p:cNvPr id="8" name="Text Placeholder 7">
            <a:extLst>
              <a:ext uri="{FF2B5EF4-FFF2-40B4-BE49-F238E27FC236}">
                <a16:creationId xmlns:a16="http://schemas.microsoft.com/office/drawing/2014/main" id="{E79F6E9D-9752-4ACA-9794-B246ECFC5BAE}"/>
              </a:ext>
            </a:extLst>
          </p:cNvPr>
          <p:cNvSpPr>
            <a:spLocks noGrp="1"/>
          </p:cNvSpPr>
          <p:nvPr>
            <p:ph type="body" sz="half" idx="2"/>
          </p:nvPr>
        </p:nvSpPr>
        <p:spPr/>
        <p:txBody>
          <a:bodyPr/>
          <a:lstStyle/>
          <a:p>
            <a:pPr marL="0" indent="0">
              <a:buNone/>
            </a:pPr>
            <a:r>
              <a:rPr lang="en-US" sz="1000" i="1" noProof="0" dirty="0"/>
              <a:t>By viewing this presentation, the recipient agrees to be bound by the following obligations and limitations.</a:t>
            </a:r>
            <a:endParaRPr lang="en-US" sz="1000" noProof="0" dirty="0"/>
          </a:p>
          <a:p>
            <a:pPr marL="0" indent="0">
              <a:buNone/>
            </a:pPr>
            <a:endParaRPr lang="en-US" sz="1000" i="1" noProof="0" dirty="0"/>
          </a:p>
          <a:p>
            <a:pPr marL="0" indent="0">
              <a:buNone/>
            </a:pPr>
            <a:r>
              <a:rPr lang="en-US" sz="1000" i="1" noProof="0" dirty="0"/>
              <a:t>This presentation has been prepared by Centrica Energy Trading A/S and/or its subsidiaries (together, “Centrica”) for the exclusive use of the party/parties to whom Centrica delivers this presentation (the “Parties”). The information in this presentation has been obtained from contributors to Centrica and publicly available sources and has not been independently verified by Centrica  or any of its directors, officers, employees, agents, representatives or advisers or any other person. No representation, warranty or undertaking, express or implied, is or will be given by Centrica or its directors, officers, employees and/or agents as to or in relation to the accuracy, completeness, reliability or sufficiency of the information contained in this presentation or as to the reasonableness of any assumption contained therein, and to the maximum extent permitted by law and except in the case of fraud, Centrica and each of its directors, officers, employees and agents expressly disclaim any liability which may arise from this presentation and any errors contained therein and/or omissions therefrom or from any use of the contents of this presentation. This presentation should not be regarded by the Parties as a substitute for the exercise of its own judgment and the Parties are expected to rely on their own due diligence if they wish to proceed further.</a:t>
            </a:r>
            <a:endParaRPr lang="en-US" sz="1000" noProof="0" dirty="0"/>
          </a:p>
          <a:p>
            <a:pPr marL="0" indent="0">
              <a:buNone/>
            </a:pPr>
            <a:endParaRPr lang="en-US" sz="1000" i="1" noProof="0" dirty="0"/>
          </a:p>
          <a:p>
            <a:pPr marL="0" indent="0">
              <a:buNone/>
            </a:pPr>
            <a:r>
              <a:rPr lang="en-US" sz="1000" i="1" noProof="0" dirty="0"/>
              <a:t>Any valuations, forecasts, estimates, opinions and projections contained herein involve elements of subjective judgment and analysis. Any opinions expressed in this material are subject to change without notice and may differ or be contrary to opinions expressed by others as a result of using different assumptions and criteria. This presentation may contain forward-looking statements. Centrica gives no undertaking and is under no obligation to update these forward-looking statements for events or circumstances that occur subsequent to the date of this presentation or to update or keep current any of the information contained herein and this presentation is not a representation by Centrica that it will do so. Any estimates or projections as to events that may occur in the future (including projections of revenue, expense and net income are based upon the best judgment of Centrica from the information provided by any contributors and  publicly available information as of the date of this presentation. Any statements, estimates, projections or other pricing are accurate only as at the date of this presentation. There is no guarantee that any of these estimates or projections will be achieved. Actual results will vary from the projections and such variations may be material. </a:t>
            </a:r>
            <a:endParaRPr lang="en-US" sz="1000" noProof="0" dirty="0"/>
          </a:p>
          <a:p>
            <a:pPr marL="0" indent="0">
              <a:buNone/>
            </a:pPr>
            <a:endParaRPr lang="en-US" sz="1000" i="1" noProof="0" dirty="0"/>
          </a:p>
          <a:p>
            <a:pPr marL="0" indent="0">
              <a:buNone/>
            </a:pPr>
            <a:r>
              <a:rPr lang="en-US" sz="1000" i="1" noProof="0" dirty="0"/>
              <a:t>This presentation speaks as at the date hereof and in giving this presentation, no obligation is undertaken and nor is any representation or undertaking given by any person to provide the recipient with additional information or to update, revise or reaffirm the information contained in this presentation or to correct any inaccuracies therein which may become apparent.</a:t>
            </a:r>
            <a:endParaRPr lang="en-US" sz="1000" noProof="0" dirty="0"/>
          </a:p>
          <a:p>
            <a:endParaRPr lang="en-US" noProof="0" dirty="0"/>
          </a:p>
        </p:txBody>
      </p:sp>
    </p:spTree>
    <p:extLst>
      <p:ext uri="{BB962C8B-B14F-4D97-AF65-F5344CB8AC3E}">
        <p14:creationId xmlns:p14="http://schemas.microsoft.com/office/powerpoint/2010/main" val="5731834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Frontpages">
  <a:themeElements>
    <a:clrScheme name="Centrica Energy Colors">
      <a:dk1>
        <a:srgbClr val="000000"/>
      </a:dk1>
      <a:lt1>
        <a:srgbClr val="FFFFFF"/>
      </a:lt1>
      <a:dk2>
        <a:srgbClr val="063A2F"/>
      </a:dk2>
      <a:lt2>
        <a:srgbClr val="00D161"/>
      </a:lt2>
      <a:accent1>
        <a:srgbClr val="0F2067"/>
      </a:accent1>
      <a:accent2>
        <a:srgbClr val="0D3CFB"/>
      </a:accent2>
      <a:accent3>
        <a:srgbClr val="FFD10F"/>
      </a:accent3>
      <a:accent4>
        <a:srgbClr val="FA3C54"/>
      </a:accent4>
      <a:accent5>
        <a:srgbClr val="000000"/>
      </a:accent5>
      <a:accent6>
        <a:srgbClr val="FFFFFF"/>
      </a:accent6>
      <a:hlink>
        <a:srgbClr val="FC3E55"/>
      </a:hlink>
      <a:folHlink>
        <a:srgbClr val="E7EEF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Page xmlns="b9add648-393b-4e4a-9862-d9c1f7720d87">Marketing</Page>
    <vfkv xmlns="b9add648-393b-4e4a-9862-d9c1f7720d87" xsi:nil="true"/>
    <Folder xmlns="b9add648-393b-4e4a-9862-d9c1f7720d8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330AFE0DD6634DBAEB45230ED9E8ED" ma:contentTypeVersion="10" ma:contentTypeDescription="Create a new document." ma:contentTypeScope="" ma:versionID="f26036a9ab6c1f9a64370133aad6a217">
  <xsd:schema xmlns:xsd="http://www.w3.org/2001/XMLSchema" xmlns:xs="http://www.w3.org/2001/XMLSchema" xmlns:p="http://schemas.microsoft.com/office/2006/metadata/properties" xmlns:ns1="http://schemas.microsoft.com/sharepoint/v3" xmlns:ns2="b9add648-393b-4e4a-9862-d9c1f7720d87" targetNamespace="http://schemas.microsoft.com/office/2006/metadata/properties" ma:root="true" ma:fieldsID="dc9a14cdf1ace5aabc66baae9a291e28" ns1:_="" ns2:_="">
    <xsd:import namespace="http://schemas.microsoft.com/sharepoint/v3"/>
    <xsd:import namespace="b9add648-393b-4e4a-9862-d9c1f7720d87"/>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2:Page" minOccurs="0"/>
                <xsd:element ref="ns2:vfkv" minOccurs="0"/>
                <xsd:element ref="ns2:MediaServiceAutoTags" minOccurs="0"/>
                <xsd:element ref="ns2:MediaServiceGenerationTime" minOccurs="0"/>
                <xsd:element ref="ns2:MediaServiceEventHashCode" minOccurs="0"/>
                <xsd:element ref="ns2:MediaServiceOCR" minOccurs="0"/>
                <xsd:element ref="ns2:Fol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9add648-393b-4e4a-9862-d9c1f7720d8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Page" ma:index="12" nillable="true" ma:displayName="Page" ma:format="Dropdown" ma:internalName="Page">
      <xsd:simpleType>
        <xsd:restriction base="dms:Text">
          <xsd:maxLength value="255"/>
        </xsd:restriction>
      </xsd:simpleType>
    </xsd:element>
    <xsd:element name="vfkv" ma:index="13" nillable="true" ma:displayName="Subpage" ma:internalName="vfkv">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Folder" ma:index="18" nillable="true" ma:displayName="Folder" ma:internalName="Folder">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7B8AE8-930D-466F-8FB1-6CFFF0C028C9}">
  <ds:schemaRefs>
    <ds:schemaRef ds:uri="http://schemas.microsoft.com/sharepoint/v3/contenttype/forms"/>
  </ds:schemaRefs>
</ds:datastoreItem>
</file>

<file path=customXml/itemProps2.xml><?xml version="1.0" encoding="utf-8"?>
<ds:datastoreItem xmlns:ds="http://schemas.openxmlformats.org/officeDocument/2006/customXml" ds:itemID="{6637D4F5-72CF-411B-B541-A0BA5692B472}">
  <ds:schemaRefs>
    <ds:schemaRef ds:uri="http://purl.org/dc/elements/1.1/"/>
    <ds:schemaRef ds:uri="http://schemas.microsoft.com/office/2006/metadata/properties"/>
    <ds:schemaRef ds:uri="http://schemas.openxmlformats.org/package/2006/metadata/core-properties"/>
    <ds:schemaRef ds:uri="http://purl.org/dc/dcmitype/"/>
    <ds:schemaRef ds:uri="http://schemas.microsoft.com/sharepoint/v3"/>
    <ds:schemaRef ds:uri="http://schemas.microsoft.com/office/infopath/2007/PartnerControls"/>
    <ds:schemaRef ds:uri="http://schemas.microsoft.com/office/2006/documentManagement/types"/>
    <ds:schemaRef ds:uri="b9add648-393b-4e4a-9862-d9c1f7720d87"/>
    <ds:schemaRef ds:uri="http://www.w3.org/XML/1998/namespace"/>
    <ds:schemaRef ds:uri="http://purl.org/dc/terms/"/>
  </ds:schemaRefs>
</ds:datastoreItem>
</file>

<file path=customXml/itemProps3.xml><?xml version="1.0" encoding="utf-8"?>
<ds:datastoreItem xmlns:ds="http://schemas.openxmlformats.org/officeDocument/2006/customXml" ds:itemID="{D70750A1-82B8-466A-83ED-1D6819CEFD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9add648-393b-4e4a-9862-d9c1f7720d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65f1a46-1149-4b07-97f4-ee5ba49b485b}" enabled="1" method="Standard" siteId="{a603898f-7de2-45ba-b67d-d35fb519b2cf}" removed="0"/>
</clbl:labelList>
</file>

<file path=docProps/app.xml><?xml version="1.0" encoding="utf-8"?>
<Properties xmlns="http://schemas.openxmlformats.org/officeDocument/2006/extended-properties" xmlns:vt="http://schemas.openxmlformats.org/officeDocument/2006/docPropsVTypes">
  <Template>1_Centrica Template</Template>
  <TotalTime>20768</TotalTime>
  <Words>1817</Words>
  <Application>Microsoft Macintosh PowerPoint</Application>
  <PresentationFormat>Widescreen</PresentationFormat>
  <Paragraphs>339</Paragraphs>
  <Slides>27</Slides>
  <Notes>11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41" baseType="lpstr">
      <vt:lpstr>Aptos Narrow</vt:lpstr>
      <vt:lpstr>Arial</vt:lpstr>
      <vt:lpstr>Arial Nova Cond Light</vt:lpstr>
      <vt:lpstr>Avenir Heavy</vt:lpstr>
      <vt:lpstr>Avenir Light</vt:lpstr>
      <vt:lpstr>Calibri</vt:lpstr>
      <vt:lpstr>Calibri Light</vt:lpstr>
      <vt:lpstr>Inter</vt:lpstr>
      <vt:lpstr>Lucida Grande</vt:lpstr>
      <vt:lpstr>Times</vt:lpstr>
      <vt:lpstr>Times New Roman</vt:lpstr>
      <vt:lpstr>Wingdings</vt:lpstr>
      <vt:lpstr>2_Frontpages</vt:lpstr>
      <vt:lpstr>think-cell Slide</vt:lpstr>
      <vt:lpstr>PowerPoint Presentation</vt:lpstr>
      <vt:lpstr>Some names you might know</vt:lpstr>
      <vt:lpstr>PowerPoint Presentation</vt:lpstr>
      <vt:lpstr>PowerPoint Presentation</vt:lpstr>
      <vt:lpstr>The Power System</vt:lpstr>
      <vt:lpstr>The Power System</vt:lpstr>
      <vt:lpstr>Spotmarket / Day-ahead</vt:lpstr>
      <vt:lpstr>Day-ahead market</vt:lpstr>
      <vt:lpstr>PowerPoint Presentation</vt:lpstr>
      <vt:lpstr>Individual Bid and ask joined</vt:lpstr>
      <vt:lpstr>Bid curve and different assets</vt:lpstr>
      <vt:lpstr>Discussion: How do hydro plants owners bid into the market? </vt:lpstr>
      <vt:lpstr>PowerPoint Presentation</vt:lpstr>
      <vt:lpstr>The power system - Intraday</vt:lpstr>
      <vt:lpstr>PowerPoint Presentation</vt:lpstr>
      <vt:lpstr>The Power System</vt:lpstr>
      <vt:lpstr>Balancing Market</vt:lpstr>
      <vt:lpstr>PowerPoint Presentation</vt:lpstr>
      <vt:lpstr>PowerPoint Presentation</vt:lpstr>
      <vt:lpstr>PowerPoint Presentation</vt:lpstr>
      <vt:lpstr>PowerPoint Presentation</vt:lpstr>
      <vt:lpstr>PowerPoint Presentation</vt:lpstr>
      <vt:lpstr>PowerPoint Presentation</vt:lpstr>
      <vt:lpstr>Fingrid Wind DAH forecast, FI Windproduction and market prices on 2024-09-02. Source: fingrid.fi &amp; data.nordpoolgroup.com </vt:lpstr>
      <vt:lpstr>Discussion: How would you evaluate balance costs of windpark? </vt:lpstr>
      <vt:lpstr>PowerPoint Presentation</vt:lpstr>
      <vt:lpstr>General Disclaimer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Michael Ørkilde</dc:creator>
  <cp:lastModifiedBy>Eleanor Greenhalgh</cp:lastModifiedBy>
  <cp:revision>579</cp:revision>
  <cp:lastPrinted>2018-03-12T12:15:15Z</cp:lastPrinted>
  <dcterms:created xsi:type="dcterms:W3CDTF">2019-05-02T10:24:40Z</dcterms:created>
  <dcterms:modified xsi:type="dcterms:W3CDTF">2025-11-24T15:24:07Z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0x01010084330AFE0DD6634DBAEB45230ED9E8ED</vt:lpwstr>
  </property>
</Properties>
</file>